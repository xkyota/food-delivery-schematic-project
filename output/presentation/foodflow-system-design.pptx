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18dc413a28448ab" /><Relationship Type="http://schemas.openxmlformats.org/officeDocument/2006/relationships/extended-properties" Target="/docProps/app.xml" Id="R2c511f8e2f5444d1" /><Relationship Type="http://schemas.openxmlformats.org/officeDocument/2006/relationships/officeDocument" Target="/ppt/presentation.xml" Id="Rd4508bf4efe34ee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9adb241aa904fcf"/>
  </p:sldMasterIdLst>
  <p:notesMasterIdLst>
    <p:notesMasterId xmlns:r="http://schemas.openxmlformats.org/officeDocument/2006/relationships" r:id="Rae5e092e5d5c48f7"/>
  </p:notesMasterIdLst>
  <p:sldIdLst>
    <p:sldId xmlns:r="http://schemas.openxmlformats.org/officeDocument/2006/relationships" id="256" r:id="Rd7fdbaeaa928405d"/>
    <p:sldId xmlns:r="http://schemas.openxmlformats.org/officeDocument/2006/relationships" id="257" r:id="R768f0b3b5f9e41c0"/>
    <p:sldId xmlns:r="http://schemas.openxmlformats.org/officeDocument/2006/relationships" id="258" r:id="Rc72e76941f2946c7"/>
    <p:sldId xmlns:r="http://schemas.openxmlformats.org/officeDocument/2006/relationships" id="259" r:id="R922d7ee6680041cf"/>
    <p:sldId xmlns:r="http://schemas.openxmlformats.org/officeDocument/2006/relationships" id="260" r:id="Rf0dada3319bc4b49"/>
    <p:sldId xmlns:r="http://schemas.openxmlformats.org/officeDocument/2006/relationships" id="261" r:id="Rd3021f6280584e8b"/>
    <p:sldId xmlns:r="http://schemas.openxmlformats.org/officeDocument/2006/relationships" id="262" r:id="R5183d7a71bbd4cf8"/>
    <p:sldId xmlns:r="http://schemas.openxmlformats.org/officeDocument/2006/relationships" id="263" r:id="R2564dda1afa04e77"/>
    <p:sldId xmlns:r="http://schemas.openxmlformats.org/officeDocument/2006/relationships" id="264" r:id="R8981494c80c243a2"/>
    <p:sldId xmlns:r="http://schemas.openxmlformats.org/officeDocument/2006/relationships" id="265" r:id="Rd02f1a0f4d4a4dde"/>
    <p:sldId xmlns:r="http://schemas.openxmlformats.org/officeDocument/2006/relationships" id="266" r:id="Rf9e3fe22b6fc4fcb"/>
    <p:sldId xmlns:r="http://schemas.openxmlformats.org/officeDocument/2006/relationships" id="267" r:id="Rd2aaa5cf949442b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845d5cd3584eb0" /><Relationship Type="http://schemas.openxmlformats.org/officeDocument/2006/relationships/slideMaster" Target="/ppt/slideMasters/slideMaster1.xml" Id="Ra9adb241aa904fcf" /><Relationship Type="http://schemas.openxmlformats.org/officeDocument/2006/relationships/notesMaster" Target="/ppt/notesMasters/notesMaster1.xml" Id="Rae5e092e5d5c48f7" /><Relationship Type="http://schemas.openxmlformats.org/officeDocument/2006/relationships/presProps" Target="/ppt/presProps.xml" Id="Rb866acdb1cd34a29" /><Relationship Type="http://schemas.openxmlformats.org/officeDocument/2006/relationships/tableStyles" Target="/ppt/tableStyles.xml" Id="Rd11e77a4359b44f2" /><Relationship Type="http://schemas.openxmlformats.org/officeDocument/2006/relationships/slide" Target="/ppt/slides/slide1.xml" Id="Rd7fdbaeaa928405d" /><Relationship Type="http://schemas.openxmlformats.org/officeDocument/2006/relationships/slide" Target="/ppt/slides/slide2.xml" Id="R768f0b3b5f9e41c0" /><Relationship Type="http://schemas.openxmlformats.org/officeDocument/2006/relationships/slide" Target="/ppt/slides/slide3.xml" Id="Rc72e76941f2946c7" /><Relationship Type="http://schemas.openxmlformats.org/officeDocument/2006/relationships/slide" Target="/ppt/slides/slide4.xml" Id="R922d7ee6680041cf" /><Relationship Type="http://schemas.openxmlformats.org/officeDocument/2006/relationships/slide" Target="/ppt/slides/slide5.xml" Id="Rf0dada3319bc4b49" /><Relationship Type="http://schemas.openxmlformats.org/officeDocument/2006/relationships/slide" Target="/ppt/slides/slide6.xml" Id="Rd3021f6280584e8b" /><Relationship Type="http://schemas.openxmlformats.org/officeDocument/2006/relationships/slide" Target="/ppt/slides/slide7.xml" Id="R5183d7a71bbd4cf8" /><Relationship Type="http://schemas.openxmlformats.org/officeDocument/2006/relationships/slide" Target="/ppt/slides/slide8.xml" Id="R2564dda1afa04e77" /><Relationship Type="http://schemas.openxmlformats.org/officeDocument/2006/relationships/slide" Target="/ppt/slides/slide9.xml" Id="R8981494c80c243a2" /><Relationship Type="http://schemas.openxmlformats.org/officeDocument/2006/relationships/slide" Target="/ppt/slides/slide10.xml" Id="Rd02f1a0f4d4a4dde" /><Relationship Type="http://schemas.openxmlformats.org/officeDocument/2006/relationships/slide" Target="/ppt/slides/slide11.xml" Id="Rf9e3fe22b6fc4fcb" /><Relationship Type="http://schemas.openxmlformats.org/officeDocument/2006/relationships/slide" Target="/ppt/slides/slide12.xml" Id="Rd2aaa5cf949442b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51bd8ce5be64b8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b5b3214327043ba" /><Relationship Type="http://schemas.openxmlformats.org/officeDocument/2006/relationships/notesMaster" Target="/ppt/notesMasters/notesMaster1.xml" Id="Refd41b56f4a24c4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740fff7cb6042ea" /><Relationship Type="http://schemas.openxmlformats.org/officeDocument/2006/relationships/notesMaster" Target="/ppt/notesMasters/notesMaster1.xml" Id="R446dcf61415a471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eddf1e6871d4673" /><Relationship Type="http://schemas.openxmlformats.org/officeDocument/2006/relationships/notesMaster" Target="/ppt/notesMasters/notesMaster1.xml" Id="Rb4df1df4431c444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1d160164d254759" /><Relationship Type="http://schemas.openxmlformats.org/officeDocument/2006/relationships/notesMaster" Target="/ppt/notesMasters/notesMaster1.xml" Id="R1b00dece064a4a0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1a1ba8a221d411e" /><Relationship Type="http://schemas.openxmlformats.org/officeDocument/2006/relationships/notesMaster" Target="/ppt/notesMasters/notesMaster1.xml" Id="R4aca91010a6c41c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24d718dad3242f6" /><Relationship Type="http://schemas.openxmlformats.org/officeDocument/2006/relationships/notesMaster" Target="/ppt/notesMasters/notesMaster1.xml" Id="Ra214163eefbe459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a2dbb83f49a4153" /><Relationship Type="http://schemas.openxmlformats.org/officeDocument/2006/relationships/notesMaster" Target="/ppt/notesMasters/notesMaster1.xml" Id="Rea8338ccf4af446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e6e676e1e2c40cf" /><Relationship Type="http://schemas.openxmlformats.org/officeDocument/2006/relationships/notesMaster" Target="/ppt/notesMasters/notesMaster1.xml" Id="Rbfe603fc1a3f44d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9c32b78722346a6" /><Relationship Type="http://schemas.openxmlformats.org/officeDocument/2006/relationships/notesMaster" Target="/ppt/notesMasters/notesMaster1.xml" Id="R9556d3a24dbb488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086780a23db4412" /><Relationship Type="http://schemas.openxmlformats.org/officeDocument/2006/relationships/notesMaster" Target="/ppt/notesMasters/notesMaster1.xml" Id="R14222ed249054c5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8459cddbce944d3" /><Relationship Type="http://schemas.openxmlformats.org/officeDocument/2006/relationships/notesMaster" Target="/ppt/notesMasters/notesMaster1.xml" Id="R754d20ff15634c7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50ac4892b7a43f4" /><Relationship Type="http://schemas.openxmlformats.org/officeDocument/2006/relationships/notesMaster" Target="/ppt/notesMasters/notesMaster1.xml" Id="R6a0350b6113e439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coordination problem: three experiences must behave as one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/Users/xkyota/Development/food-delivery/overview.md</a:t>
            </a:r>
          </a:p>
          <a:p xmlns:a="http://schemas.openxmlformats.org/drawingml/2006/main">
            <a:r>
              <a:t>- /Users/xkyota/Development/food-delivery/output/pdf/foodflow-ui-concept.pdf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/Users/xkyota/Development/food-delivery/overview.md</a:t>
            </a:r>
          </a:p>
          <a:p xmlns:a="http://schemas.openxmlformats.org/drawingml/2006/main">
            <a:r>
              <a:t>- /Users/xkyota/Development/food-delivery/applications/customer-app.excalidraw</a:t>
            </a:r>
          </a:p>
          <a:p xmlns:a="http://schemas.openxmlformats.org/drawingml/2006/main">
            <a:r>
              <a:t>- /Users/xkyota/Development/food-delivery/applications/restaurant-portal.excalidraw</a:t>
            </a:r>
          </a:p>
          <a:p xmlns:a="http://schemas.openxmlformats.org/drawingml/2006/main">
            <a:r>
              <a:t>- /Users/xkyota/Development/food-delivery/applications/courier-app.excalidraw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/Users/xkyota/Development/food-delivery/requirements.md</a:t>
            </a:r>
          </a:p>
          <a:p xmlns:a="http://schemas.openxmlformats.org/drawingml/2006/main">
            <a:r>
              <a:t>- /Users/xkyota/Development/food-delivery/service-contracts.md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/Users/xkyota/Development/food-delivery/foodflow-system-architecture.excalidraw</a:t>
            </a:r>
          </a:p>
          <a:p xmlns:a="http://schemas.openxmlformats.org/drawingml/2006/main">
            <a:r>
              <a:t>- /Users/xkyota/Development/food-delivery/tech-stack.md</a:t>
            </a:r>
          </a:p>
          <a:p xmlns:a="http://schemas.openxmlformats.org/drawingml/2006/main">
            <a:r>
              <a:t>- /Users/xkyota/Development/food-delivery/service-contracts.md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/Users/xkyota/Development/food-delivery/service-contracts.md</a:t>
            </a:r>
          </a:p>
          <a:p xmlns:a="http://schemas.openxmlformats.org/drawingml/2006/main">
            <a:r>
              <a:t>- /Users/xkyota/Development/food-delivery/requirements.md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/Users/xkyota/Development/food-delivery/database-model.excalidraw</a:t>
            </a:r>
          </a:p>
          <a:p xmlns:a="http://schemas.openxmlformats.org/drawingml/2006/main">
            <a:r>
              <a:t>- /Users/xkyota/Development/food-delivery/service-contracts.md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/Users/xkyota/Development/food-delivery/operations.md</a:t>
            </a:r>
          </a:p>
          <a:p xmlns:a="http://schemas.openxmlformats.org/drawingml/2006/main">
            <a:r>
              <a:t>- /Users/xkyota/Development/food-delivery/requirements.md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/Users/xkyota/Development/food-delivery/operations.md</a:t>
            </a:r>
          </a:p>
          <a:p xmlns:a="http://schemas.openxmlformats.org/drawingml/2006/main">
            <a:r>
              <a:t>- /Users/xkyota/Development/food-delivery/foodflow-system-architecture.excalidraw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/Users/xkyota/Development/food-delivery/output/pdf/foodflow-ui-concept.pdf</a:t>
            </a:r>
          </a:p>
          <a:p xmlns:a="http://schemas.openxmlformats.org/drawingml/2006/main">
            <a:r>
              <a:t>- /Users/xkyota/Development/food-delivery/applications/customer-app.excalidraw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/Users/xkyota/Development/food-delivery/roadmap.md</a:t>
            </a:r>
          </a:p>
          <a:p xmlns:a="http://schemas.openxmlformats.org/drawingml/2006/main">
            <a:r>
              <a:t>- /Users/xkyota/Development/food-delivery/requirements.md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/Users/xkyota/Development/food-delivery/roadmap.md</a:t>
            </a:r>
          </a:p>
          <a:p xmlns:a="http://schemas.openxmlformats.org/drawingml/2006/main">
            <a:r>
              <a:t>- /Users/xkyota/Development/food-delivery/operations.md</a:t>
            </a:r>
          </a:p>
          <a:p xmlns:a="http://schemas.openxmlformats.org/drawingml/2006/main">
            <a:r>
              <a:t>- /Users/xkyota/Development/food-delivery/requirements.md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the next executable step: a traced vertical slice, not a broad feature build.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/Users/xkyota/Development/food-delivery/README.md</a:t>
            </a:r>
          </a:p>
          <a:p xmlns:a="http://schemas.openxmlformats.org/drawingml/2006/main">
            <a:r>
              <a:t>- /Users/xkyota/Development/food-delivery/roadmap.md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f4c5b627754cf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44781c1a73148dd" /><Relationship Type="http://schemas.openxmlformats.org/officeDocument/2006/relationships/slideLayout" Target="/ppt/slideLayouts/slideLayout1.xml" Id="R4b627c18a975406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627c18a975406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46decee1094346" /><Relationship Type="http://schemas.openxmlformats.org/officeDocument/2006/relationships/image" Target="/ppt/media/image.png" Id="R60a287a20dbc4d92" /><Relationship Type="http://schemas.openxmlformats.org/officeDocument/2006/relationships/notesSlide" Target="/ppt/notesSlides/notesSlide1.xml" Id="R1d2699d56b254f8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afa0de0b174c23" /><Relationship Type="http://schemas.openxmlformats.org/officeDocument/2006/relationships/notesSlide" Target="/ppt/notesSlides/notesSlide2.xml" Id="R889e8b1fb01a434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37e4641dec43d8" /><Relationship Type="http://schemas.openxmlformats.org/officeDocument/2006/relationships/notesSlide" Target="/ppt/notesSlides/notesSlide3.xml" Id="R7fcc4871045b478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67f7e52c1e4df7" /><Relationship Type="http://schemas.openxmlformats.org/officeDocument/2006/relationships/notesSlide" Target="/ppt/notesSlides/notesSlide4.xml" Id="R309b8e250e824db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597e743b684f21" /><Relationship Type="http://schemas.openxmlformats.org/officeDocument/2006/relationships/notesSlide" Target="/ppt/notesSlides/notesSlide5.xml" Id="R6472c8582cc5469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a6283e3a404a3d" /><Relationship Type="http://schemas.openxmlformats.org/officeDocument/2006/relationships/notesSlide" Target="/ppt/notesSlides/notesSlide6.xml" Id="R1b4bcb721ee3414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8643c026494a25" /><Relationship Type="http://schemas.openxmlformats.org/officeDocument/2006/relationships/notesSlide" Target="/ppt/notesSlides/notesSlide7.xml" Id="R5d09b22e646049c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72e7706ef14a78" /><Relationship Type="http://schemas.openxmlformats.org/officeDocument/2006/relationships/notesSlide" Target="/ppt/notesSlides/notesSlide8.xml" Id="Ra426c22998cb42f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a0f8dfe7e24a89" /><Relationship Type="http://schemas.openxmlformats.org/officeDocument/2006/relationships/image" Target="/ppt/media/image2.png" Id="Rc8bd68647ca64ccb" /><Relationship Type="http://schemas.openxmlformats.org/officeDocument/2006/relationships/notesSlide" Target="/ppt/notesSlides/notesSlide9.xml" Id="Rf1ec6586233e4b4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e83baece074799" /><Relationship Type="http://schemas.openxmlformats.org/officeDocument/2006/relationships/notesSlide" Target="/ppt/notesSlides/notesSlide10.xml" Id="R3c18e2d7a73c4b5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fcb75fdbba4d88" /><Relationship Type="http://schemas.openxmlformats.org/officeDocument/2006/relationships/notesSlide" Target="/ppt/notesSlides/notesSlide11.xml" Id="Reb8ef72b271146b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81a359bcc54a98" /><Relationship Type="http://schemas.openxmlformats.org/officeDocument/2006/relationships/notesSlide" Target="/ppt/notesSlides/notesSlide12.xml" Id="R3a6bf593aa6a421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label-SYSTEM DESIGN / 2026">
            <a:extLst xmlns:a="http://schemas.openxmlformats.org/drawingml/2006/main">
              <a:ext uri="{FF2B5EF4-FFF2-40B4-BE49-F238E27FC236}">
                <a16:creationId xmlns:a16="http://schemas.microsoft.com/office/drawing/2014/main" id="{A463A57D-A0A4-433F-A416-6956F9C51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0442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0442F"/>
                </a:solidFill>
                <a:latin typeface="Arial"/>
                <a:ea typeface="Arial"/>
                <a:cs typeface="Arial"/>
              </a:rPr>
              <a:t>SYSTEM DESIGN / 2026</a:t>
            </a:r>
          </a:p>
        </p:txBody>
      </p:sp>
      <p:sp>
        <p:nvSpPr>
          <p:cNvPr id="2" name="deck-title">
            <a:extLst xmlns:a="http://schemas.openxmlformats.org/drawingml/2006/main">
              <a:ext uri="{FF2B5EF4-FFF2-40B4-BE49-F238E27FC236}">
                <a16:creationId xmlns:a16="http://schemas.microsoft.com/office/drawing/2014/main" id="{08808C47-42EC-4D07-98FB-62B0B5B25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495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FoodFlow</a:t>
            </a:r>
          </a:p>
        </p:txBody>
      </p:sp>
      <p:sp>
        <p:nvSpPr>
          <p:cNvPr id="3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ED929FE7-0542-473A-80B3-F62CEF80F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4572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1713"/>
                </a:solidFill>
                <a:latin typeface="Arial"/>
                <a:ea typeface="Arial"/>
                <a:cs typeface="Arial"/>
              </a:rPr>
              <a:t>One order truth.</a:t>
            </a:r>
          </a:p>
          <a:p xmlns:a="http://schemas.openxmlformats.org/drawingml/2006/main">
            <a:pPr algn="l">
              <a:defRPr sz="2325" b="0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1713"/>
                </a:solidFill>
                <a:latin typeface="Arial"/>
                <a:ea typeface="Arial"/>
                <a:cs typeface="Arial"/>
              </a:rPr>
              <a:t>Three coordinated experiences.</a:t>
            </a:r>
          </a:p>
        </p:txBody>
      </p:sp>
      <p:sp>
        <p:nvSpPr>
          <p:cNvPr id="4" name="deck-description">
            <a:extLst xmlns:a="http://schemas.openxmlformats.org/drawingml/2006/main">
              <a:ext uri="{FF2B5EF4-FFF2-40B4-BE49-F238E27FC236}">
                <a16:creationId xmlns:a16="http://schemas.microsoft.com/office/drawing/2014/main" id="{10A036E9-B6A6-44A1-9EBF-6C3728D63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76650"/>
            <a:ext cx="447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A production-oriented design for customers, restaurants, couriers, and the services that keep them in sync.</a:t>
            </a:r>
          </a:p>
        </p:txBody>
      </p:sp>
      <p:sp>
        <p:nvSpPr>
          <p:cNvPr id="5" name="cover-rule">
            <a:extLst xmlns:a="http://schemas.openxmlformats.org/drawingml/2006/main">
              <a:ext uri="{FF2B5EF4-FFF2-40B4-BE49-F238E27FC236}">
                <a16:creationId xmlns:a16="http://schemas.microsoft.com/office/drawing/2014/main" id="{E26F7F7A-906F-4546-A04D-08B72FCDD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428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FA6AB70-B99F-466D-BC64-F8C624ABE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959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CITY-WIDE FOOD DELIVERY PLATFORM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E5ADF80-3A28-4F22-81F6-ACE9687B9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Architecture  •  Contracts  •  Reliability  •  Delivery plan</a:t>
            </a:r>
          </a:p>
        </p:txBody>
      </p:sp>
      <p:sp>
        <p:nvSpPr>
          <p:cNvPr id="8" name="cover-image-backing">
            <a:extLst xmlns:a="http://schemas.openxmlformats.org/drawingml/2006/main">
              <a:ext uri="{FF2B5EF4-FFF2-40B4-BE49-F238E27FC236}">
                <a16:creationId xmlns:a16="http://schemas.microsoft.com/office/drawing/2014/main" id="{64E55106-8B4E-47FC-921E-F4AE207A4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61950"/>
            <a:ext cx="5734050" cy="5924550"/>
          </a:xfrm>
          <a:prstGeom xmlns:a="http://schemas.openxmlformats.org/drawingml/2006/main" prst="roundRect">
            <a:avLst>
              <a:gd name="adj" fmla="val 3322"/>
            </a:avLst>
          </a:prstGeom>
          <a:solidFill xmlns:a="http://schemas.openxmlformats.org/drawingml/2006/main">
            <a:srgbClr val="173F35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a287a20dbc4d92"/>
          <a:srcRect xmlns:a="http://schemas.openxmlformats.org/drawingml/2006/main" l="19802" t="0" r="1980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81700" y="495300"/>
            <a:ext cx="5467350" cy="5657850"/>
          </a:xfrm>
          <a:prstGeom xmlns:a="http://schemas.openxmlformats.org/drawingml/2006/main" prst="roundRect">
            <a:avLst>
              <a:gd name="adj" fmla="val 3484"/>
            </a:avLst>
          </a:prstGeom>
        </p:spPr>
      </p:pic>
      <p:sp>
        <p:nvSpPr>
          <p:cNvPr id="10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1F0D793F-721E-43D4-AAEF-E93807E5F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06E68"/>
                </a:solidFill>
                <a:latin typeface="Arial"/>
                <a:ea typeface="Arial"/>
                <a:cs typeface="Arial"/>
              </a:rPr>
              <a:t>FOODFLOW SYSTEM DESIGN</a:t>
            </a:r>
          </a:p>
        </p:txBody>
      </p:sp>
      <p:sp>
        <p:nvSpPr>
          <p:cNvPr id="11" name="footer-page">
            <a:extLst xmlns:a="http://schemas.openxmlformats.org/drawingml/2006/main">
              <a:ext uri="{FF2B5EF4-FFF2-40B4-BE49-F238E27FC236}">
                <a16:creationId xmlns:a16="http://schemas.microsoft.com/office/drawing/2014/main" id="{1C53E8BA-4C78-4B7E-9B5B-B773CDC31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475730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1761EEE-AD6F-46CC-9715-FE16636A6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Delivery is a synchronized marketplace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FC651E5-A864-4950-931A-CE3989F7C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Each actor moves independently; the order workflow keeps the promise coherent.</a:t>
            </a:r>
          </a:p>
        </p:txBody>
      </p:sp>
      <p:cxnSp>
        <p:nvCxnSpPr>
          <p:cNvPr id="24" name="title-rule"/>
          <p:cNvCxnSpPr/>
          <p:nvPr/>
        </p:nvCxnSpPr>
        <p:spPr>
          <a:xfrm xmlns:a="http://schemas.openxmlformats.org/drawingml/2006/main">
            <a:off x="609600" y="1495425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6C0"/>
            </a:solidFill>
            <a:prstDash val="solid"/>
          </a:ln>
        </p:spPr>
      </p:cxnSp>
      <p:cxnSp>
        <p:nvCxnSpPr>
          <p:cNvPr id="25" name="actor-line"/>
          <p:cNvCxnSpPr/>
          <p:nvPr/>
        </p:nvCxnSpPr>
        <p:spPr>
          <a:xfrm xmlns:a="http://schemas.openxmlformats.org/drawingml/2006/main">
            <a:off x="2019300" y="3286125"/>
            <a:ext cx="8153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8C6C0"/>
            </a:solidFill>
            <a:prstDash val="solid"/>
          </a:ln>
        </p:spPr>
      </p:cxnSp>
      <p:sp>
        <p:nvSpPr>
          <p:cNvPr id="5" name="dot-01">
            <a:extLst xmlns:a="http://schemas.openxmlformats.org/drawingml/2006/main">
              <a:ext uri="{FF2B5EF4-FFF2-40B4-BE49-F238E27FC236}">
                <a16:creationId xmlns:a16="http://schemas.microsoft.com/office/drawing/2014/main" id="{2295240A-4D1B-43FE-8013-11659E54F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457450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44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EAE01CD-C25A-424A-924A-0D7ED31D1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659761"/>
            <a:ext cx="1123950" cy="6968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90DE34B-511C-4A35-8439-B49563336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5717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Customer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41B1A9F-6E97-4267-B8E3-D384037A9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019425"/>
            <a:ext cx="1857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Discover</a:t>
            </a:r>
          </a:p>
          <a:p xmlns:a="http://schemas.openxmlformats.org/drawingml/2006/main">
            <a:pPr algn="l">
              <a:defRPr sz="1275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Pay</a:t>
            </a:r>
          </a:p>
          <a:p xmlns:a="http://schemas.openxmlformats.org/drawingml/2006/main">
            <a:pPr algn="l">
              <a:defRPr sz="1275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Track</a:t>
            </a:r>
          </a:p>
        </p:txBody>
      </p:sp>
      <p:sp>
        <p:nvSpPr>
          <p:cNvPr id="9" name="dot-02">
            <a:extLst xmlns:a="http://schemas.openxmlformats.org/drawingml/2006/main">
              <a:ext uri="{FF2B5EF4-FFF2-40B4-BE49-F238E27FC236}">
                <a16:creationId xmlns:a16="http://schemas.microsoft.com/office/drawing/2014/main" id="{5772A7FE-2EA0-4859-8084-0291521B5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57450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C9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8B6524F-DD13-4A79-A8B8-9FA628083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59761"/>
            <a:ext cx="1123950" cy="6968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29A185B-80CA-4CFE-A5E8-13BA9D29A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5717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Restaurant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B28B60D-CC2C-4EE2-9518-8B6DC40AE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19425"/>
            <a:ext cx="1857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Accept</a:t>
            </a:r>
          </a:p>
          <a:p xmlns:a="http://schemas.openxmlformats.org/drawingml/2006/main">
            <a:pPr algn="l">
              <a:defRPr sz="1275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Prepare</a:t>
            </a:r>
          </a:p>
          <a:p xmlns:a="http://schemas.openxmlformats.org/drawingml/2006/main">
            <a:pPr algn="l">
              <a:defRPr sz="1275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Hand off</a:t>
            </a:r>
          </a:p>
        </p:txBody>
      </p:sp>
      <p:sp>
        <p:nvSpPr>
          <p:cNvPr id="13" name="dot-03">
            <a:extLst xmlns:a="http://schemas.openxmlformats.org/drawingml/2006/main">
              <a:ext uri="{FF2B5EF4-FFF2-40B4-BE49-F238E27FC236}">
                <a16:creationId xmlns:a16="http://schemas.microsoft.com/office/drawing/2014/main" id="{ACE8E410-F460-4508-9D20-2B39262F8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457450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30885078-7154-401D-9373-BD67C4847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659761"/>
            <a:ext cx="1123950" cy="6968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711FD4B-4277-4D94-811C-9B751ABEF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25717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Courier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35A54AB-C4F8-4A95-8685-0B78256F8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3019425"/>
            <a:ext cx="1857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Claim</a:t>
            </a:r>
          </a:p>
          <a:p xmlns:a="http://schemas.openxmlformats.org/drawingml/2006/main">
            <a:pPr algn="l">
              <a:defRPr sz="1275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Navigate</a:t>
            </a:r>
          </a:p>
          <a:p xmlns:a="http://schemas.openxmlformats.org/drawingml/2006/main">
            <a:pPr algn="l">
              <a:defRPr sz="1275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Deliver</a:t>
            </a:r>
          </a:p>
        </p:txBody>
      </p:sp>
      <p:sp>
        <p:nvSpPr>
          <p:cNvPr id="17" name="order-truth-band">
            <a:extLst xmlns:a="http://schemas.openxmlformats.org/drawingml/2006/main">
              <a:ext uri="{FF2B5EF4-FFF2-40B4-BE49-F238E27FC236}">
                <a16:creationId xmlns:a16="http://schemas.microsoft.com/office/drawing/2014/main" id="{66F7F03F-2949-4790-A9DC-B69C3CCAB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48200"/>
            <a:ext cx="5905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D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label-ONE ORDER TRUTH">
            <a:extLst xmlns:a="http://schemas.openxmlformats.org/drawingml/2006/main">
              <a:ext uri="{FF2B5EF4-FFF2-40B4-BE49-F238E27FC236}">
                <a16:creationId xmlns:a16="http://schemas.microsoft.com/office/drawing/2014/main" id="{0C30527F-8DA3-42FF-BE72-BF598C485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8387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0442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0442F"/>
                </a:solidFill>
                <a:latin typeface="Arial"/>
                <a:ea typeface="Arial"/>
                <a:cs typeface="Arial"/>
              </a:rPr>
              <a:t>ONE ORDER TRUTH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CDED52D9-C118-4D9D-AC69-F4EE0F95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105400"/>
            <a:ext cx="523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511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State, money, ownership, and ETA advance together.</a:t>
            </a:r>
          </a:p>
        </p:txBody>
      </p:sp>
      <p:sp>
        <p:nvSpPr>
          <p:cNvPr id="20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F49CDA14-EC25-4EB3-8451-BE3C10462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06E68"/>
                </a:solidFill>
                <a:latin typeface="Arial"/>
                <a:ea typeface="Arial"/>
                <a:cs typeface="Arial"/>
              </a:rPr>
              <a:t>PRODUCT MODEL</a:t>
            </a:r>
          </a:p>
        </p:txBody>
      </p:sp>
      <p:sp>
        <p:nvSpPr>
          <p:cNvPr id="21" name="footer-page">
            <a:extLst xmlns:a="http://schemas.openxmlformats.org/drawingml/2006/main">
              <a:ext uri="{FF2B5EF4-FFF2-40B4-BE49-F238E27FC236}">
                <a16:creationId xmlns:a16="http://schemas.microsoft.com/office/drawing/2014/main" id="{EE728941-B003-415F-97F3-5B1BFF703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515773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D35E244-D9DA-435B-B43D-C85BCF818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One state machine aligns money, food, and movement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7B38F4F-24C8-490D-A47C-F8CEDE5E1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Every transition is authorized, idempotent, versioned, and written to the audit trail.</a:t>
            </a:r>
          </a:p>
        </p:txBody>
      </p:sp>
      <p:cxnSp>
        <p:nvCxnSpPr>
          <p:cNvPr id="42" name="title-rule"/>
          <p:cNvCxnSpPr/>
          <p:nvPr/>
        </p:nvCxnSpPr>
        <p:spPr>
          <a:xfrm xmlns:a="http://schemas.openxmlformats.org/drawingml/2006/main">
            <a:off x="609600" y="1495425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6C0"/>
            </a:solidFill>
            <a:prstDash val="solid"/>
          </a:ln>
        </p:spPr>
      </p:cxnSp>
      <p:cxnSp>
        <p:nvCxnSpPr>
          <p:cNvPr id="43" name="lifecycle-spine"/>
          <p:cNvCxnSpPr/>
          <p:nvPr/>
        </p:nvCxnSpPr>
        <p:spPr>
          <a:xfrm xmlns:a="http://schemas.openxmlformats.org/drawingml/2006/main">
            <a:off x="1000125" y="2933700"/>
            <a:ext cx="10096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3"/>
            </a:solidFill>
            <a:prstDash val="solid"/>
          </a:ln>
        </p:spPr>
      </p:cxnSp>
      <p:sp>
        <p:nvSpPr>
          <p:cNvPr id="5" name="dot-01">
            <a:extLst xmlns:a="http://schemas.openxmlformats.org/drawingml/2006/main">
              <a:ext uri="{FF2B5EF4-FFF2-40B4-BE49-F238E27FC236}">
                <a16:creationId xmlns:a16="http://schemas.microsoft.com/office/drawing/2014/main" id="{9C3CC7B6-17A3-481E-B3CB-E25DC422D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5575"/>
            <a:ext cx="485775" cy="485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44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818E017-B221-479B-9808-6F7BE032D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3015"/>
            <a:ext cx="485775" cy="301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ABEAC35-51DB-4A11-BF33-19C4E283E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362325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Payment</a:t>
            </a:r>
          </a:p>
          <a:p xmlns:a="http://schemas.openxmlformats.org/drawingml/2006/main">
            <a:pPr algn="ctr">
              <a:defRPr sz="120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pending</a:t>
            </a:r>
          </a:p>
        </p:txBody>
      </p:sp>
      <p:sp>
        <p:nvSpPr>
          <p:cNvPr id="8" name="dot-02">
            <a:extLst xmlns:a="http://schemas.openxmlformats.org/drawingml/2006/main">
              <a:ext uri="{FF2B5EF4-FFF2-40B4-BE49-F238E27FC236}">
                <a16:creationId xmlns:a16="http://schemas.microsoft.com/office/drawing/2014/main" id="{E15C821A-9DEE-4575-AD5B-FB014E49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695575"/>
            <a:ext cx="485775" cy="485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44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D8A959A-0A63-4898-BBE9-E2976C5CB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783015"/>
            <a:ext cx="485775" cy="301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7468CF0-C175-42A7-B707-2A2D89152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3362325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Payment</a:t>
            </a:r>
          </a:p>
          <a:p xmlns:a="http://schemas.openxmlformats.org/drawingml/2006/main">
            <a:pPr algn="ctr">
              <a:defRPr sz="120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authorized</a:t>
            </a:r>
          </a:p>
        </p:txBody>
      </p:sp>
      <p:sp>
        <p:nvSpPr>
          <p:cNvPr id="11" name="dot-03">
            <a:extLst xmlns:a="http://schemas.openxmlformats.org/drawingml/2006/main">
              <a:ext uri="{FF2B5EF4-FFF2-40B4-BE49-F238E27FC236}">
                <a16:creationId xmlns:a16="http://schemas.microsoft.com/office/drawing/2014/main" id="{F319DAD6-D2B4-4557-93F2-29FB03E7C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695575"/>
            <a:ext cx="485775" cy="485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44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B39B7C8-E30F-4EB7-A6E0-7D28A9ECE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783015"/>
            <a:ext cx="485775" cy="301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EF15C27-91A0-4D26-8964-C5A28C26D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362325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Restaurant</a:t>
            </a:r>
          </a:p>
          <a:p xmlns:a="http://schemas.openxmlformats.org/drawingml/2006/main">
            <a:pPr algn="ctr">
              <a:defRPr sz="120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confirmed</a:t>
            </a:r>
          </a:p>
        </p:txBody>
      </p:sp>
      <p:sp>
        <p:nvSpPr>
          <p:cNvPr id="14" name="dot-04">
            <a:extLst xmlns:a="http://schemas.openxmlformats.org/drawingml/2006/main">
              <a:ext uri="{FF2B5EF4-FFF2-40B4-BE49-F238E27FC236}">
                <a16:creationId xmlns:a16="http://schemas.microsoft.com/office/drawing/2014/main" id="{B1948F03-B91F-409E-A4AC-4B31D1279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695575"/>
            <a:ext cx="485775" cy="485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C9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6F30D32-79C0-4DDD-9B67-6FC6BBC24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783015"/>
            <a:ext cx="485775" cy="301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B9C2CDE-0F73-46B3-AC10-92723939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362325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Preparing</a:t>
            </a:r>
          </a:p>
        </p:txBody>
      </p:sp>
      <p:sp>
        <p:nvSpPr>
          <p:cNvPr id="17" name="dot-05">
            <a:extLst xmlns:a="http://schemas.openxmlformats.org/drawingml/2006/main">
              <a:ext uri="{FF2B5EF4-FFF2-40B4-BE49-F238E27FC236}">
                <a16:creationId xmlns:a16="http://schemas.microsoft.com/office/drawing/2014/main" id="{2DD866A9-2E69-4327-B7A8-4E4400144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95575"/>
            <a:ext cx="485775" cy="485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C9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1E8D946A-042F-4742-8DC1-3A106C232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83015"/>
            <a:ext cx="485775" cy="301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34C4E817-4B20-4AC1-AE50-798F71D1B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362325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Ready for</a:t>
            </a:r>
          </a:p>
          <a:p xmlns:a="http://schemas.openxmlformats.org/drawingml/2006/main">
            <a:pPr algn="ctr">
              <a:defRPr sz="120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pickup</a:t>
            </a:r>
          </a:p>
        </p:txBody>
      </p:sp>
      <p:sp>
        <p:nvSpPr>
          <p:cNvPr id="20" name="dot-06">
            <a:extLst xmlns:a="http://schemas.openxmlformats.org/drawingml/2006/main">
              <a:ext uri="{FF2B5EF4-FFF2-40B4-BE49-F238E27FC236}">
                <a16:creationId xmlns:a16="http://schemas.microsoft.com/office/drawing/2014/main" id="{22FF977E-E035-4196-A297-FC953319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695575"/>
            <a:ext cx="485775" cy="485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E9DE8589-3380-492E-BEBD-52DFC7AF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783015"/>
            <a:ext cx="485775" cy="301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80508CDB-E113-4F75-AC29-7137AA810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362325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Picked up</a:t>
            </a:r>
          </a:p>
        </p:txBody>
      </p:sp>
      <p:sp>
        <p:nvSpPr>
          <p:cNvPr id="23" name="dot-07">
            <a:extLst xmlns:a="http://schemas.openxmlformats.org/drawingml/2006/main">
              <a:ext uri="{FF2B5EF4-FFF2-40B4-BE49-F238E27FC236}">
                <a16:creationId xmlns:a16="http://schemas.microsoft.com/office/drawing/2014/main" id="{84D27A71-D0DE-42D3-A50D-26F255753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95575"/>
            <a:ext cx="485775" cy="485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C41DEAA2-42C2-4F35-8C8E-720B57331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783015"/>
            <a:ext cx="485775" cy="301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C925A2E4-010F-4A12-A429-8C28BEE11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362325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In transit</a:t>
            </a:r>
          </a:p>
        </p:txBody>
      </p:sp>
      <p:sp>
        <p:nvSpPr>
          <p:cNvPr id="26" name="dot-08">
            <a:extLst xmlns:a="http://schemas.openxmlformats.org/drawingml/2006/main">
              <a:ext uri="{FF2B5EF4-FFF2-40B4-BE49-F238E27FC236}">
                <a16:creationId xmlns:a16="http://schemas.microsoft.com/office/drawing/2014/main" id="{E0F592DE-C532-46E9-8090-428B30AC6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2695575"/>
            <a:ext cx="485775" cy="485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915060B1-E657-480F-A629-6F4079919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2783015"/>
            <a:ext cx="485775" cy="301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7A5A0C83-9D93-4497-A717-F28098774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362325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Delivered</a:t>
            </a:r>
          </a:p>
        </p:txBody>
      </p:sp>
      <p:sp>
        <p:nvSpPr>
          <p:cNvPr id="29" name="label-COMMIT">
            <a:extLst xmlns:a="http://schemas.openxmlformats.org/drawingml/2006/main">
              <a:ext uri="{FF2B5EF4-FFF2-40B4-BE49-F238E27FC236}">
                <a16:creationId xmlns:a16="http://schemas.microsoft.com/office/drawing/2014/main" id="{413CEB31-B008-4E08-ACD1-0F92C8497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0442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0442F"/>
                </a:solidFill>
                <a:latin typeface="Arial"/>
                <a:ea typeface="Arial"/>
                <a:cs typeface="Arial"/>
              </a:rPr>
              <a:t>COMMIT</a:t>
            </a:r>
          </a:p>
        </p:txBody>
      </p:sp>
      <p:sp>
        <p:nvSpPr>
          <p:cNvPr id="30" name="label-FULFILL">
            <a:extLst xmlns:a="http://schemas.openxmlformats.org/drawingml/2006/main">
              <a:ext uri="{FF2B5EF4-FFF2-40B4-BE49-F238E27FC236}">
                <a16:creationId xmlns:a16="http://schemas.microsoft.com/office/drawing/2014/main" id="{4BE41A8A-52DB-46FD-AA74-722CE3A4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0764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07E1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07E14"/>
                </a:solidFill>
                <a:latin typeface="Arial"/>
                <a:ea typeface="Arial"/>
                <a:cs typeface="Arial"/>
              </a:rPr>
              <a:t>FULFILL</a:t>
            </a:r>
          </a:p>
        </p:txBody>
      </p:sp>
      <p:sp>
        <p:nvSpPr>
          <p:cNvPr id="31" name="label-DELIVER">
            <a:extLst xmlns:a="http://schemas.openxmlformats.org/drawingml/2006/main">
              <a:ext uri="{FF2B5EF4-FFF2-40B4-BE49-F238E27FC236}">
                <a16:creationId xmlns:a16="http://schemas.microsoft.com/office/drawing/2014/main" id="{7E96C973-D16D-476E-95D9-44A1995AC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0764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3F35"/>
                </a:solidFill>
                <a:latin typeface="Arial"/>
                <a:ea typeface="Arial"/>
                <a:cs typeface="Arial"/>
              </a:rPr>
              <a:t>DELIVER</a:t>
            </a:r>
          </a:p>
        </p:txBody>
      </p:sp>
      <p:sp>
        <p:nvSpPr>
          <p:cNvPr id="32" name="exception-lane">
            <a:extLst xmlns:a="http://schemas.openxmlformats.org/drawingml/2006/main">
              <a:ext uri="{FF2B5EF4-FFF2-40B4-BE49-F238E27FC236}">
                <a16:creationId xmlns:a16="http://schemas.microsoft.com/office/drawing/2014/main" id="{182C6B16-538B-4978-89E4-7D7A4FBF4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108013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6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AB5C7C56-44AF-4E91-BC39-CDC9865F6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720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0442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0442F"/>
                </a:solidFill>
                <a:latin typeface="Arial"/>
                <a:ea typeface="Arial"/>
                <a:cs typeface="Arial"/>
              </a:rPr>
              <a:t>Exception lane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12DC743F-C251-46DD-910F-68618E3F4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781550"/>
            <a:ext cx="1857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PAYMENT_FAILED</a:t>
            </a:r>
          </a:p>
        </p:txBody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BEDFF1E8-70D3-4C1B-8692-AE90D2219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781550"/>
            <a:ext cx="1381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REJECTED</a:t>
            </a:r>
          </a:p>
        </p:txBody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D2F1DC13-55EA-4EF4-967F-0627307D2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8155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CANCELLED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C34B30C5-AE7B-4705-B5A0-7DBFC8CB9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1625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Refund remains a linked payment workflow, not a replacement for order history.</a:t>
            </a:r>
          </a:p>
        </p:txBody>
      </p:sp>
      <p:sp>
        <p:nvSpPr>
          <p:cNvPr id="38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2BD04288-3039-4E5B-A564-0ADBA0DB6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06E68"/>
                </a:solidFill>
                <a:latin typeface="Arial"/>
                <a:ea typeface="Arial"/>
                <a:cs typeface="Arial"/>
              </a:rPr>
              <a:t>CANONICAL WORKFLOW</a:t>
            </a:r>
          </a:p>
        </p:txBody>
      </p:sp>
      <p:sp>
        <p:nvSpPr>
          <p:cNvPr id="39" name="footer-page">
            <a:extLst xmlns:a="http://schemas.openxmlformats.org/drawingml/2006/main">
              <a:ext uri="{FF2B5EF4-FFF2-40B4-BE49-F238E27FC236}">
                <a16:creationId xmlns:a16="http://schemas.microsoft.com/office/drawing/2014/main" id="{775F6A27-5B19-4E3B-A72B-66D08EA75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765484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A8968A1-DDD4-415A-98F0-AC76DC64E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Boundaries isolate change and preserve traceability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FD9D914-F8BD-404A-A7CA-6FC514A1C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Synchronous commands establish intent; durable events distribute the result.</a:t>
            </a:r>
          </a:p>
        </p:txBody>
      </p:sp>
      <p:cxnSp>
        <p:nvCxnSpPr>
          <p:cNvPr id="52" name="title-rule"/>
          <p:cNvCxnSpPr/>
          <p:nvPr/>
        </p:nvCxnSpPr>
        <p:spPr>
          <a:xfrm xmlns:a="http://schemas.openxmlformats.org/drawingml/2006/main">
            <a:off x="609600" y="1495425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6C0"/>
            </a:solidFill>
            <a:prstDash val="solid"/>
          </a:ln>
        </p:spPr>
      </p:cxnSp>
      <p:sp>
        <p:nvSpPr>
          <p:cNvPr id="4" name="client-0">
            <a:extLst xmlns:a="http://schemas.openxmlformats.org/drawingml/2006/main">
              <a:ext uri="{FF2B5EF4-FFF2-40B4-BE49-F238E27FC236}">
                <a16:creationId xmlns:a16="http://schemas.microsoft.com/office/drawing/2014/main" id="{60B699EC-2F81-4913-BD96-D070EE66D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85950"/>
            <a:ext cx="15716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6C0"/>
            </a:solidFill>
            <a:prstDash val="solid"/>
          </a:ln>
        </p:spPr>
      </p:sp>
      <p:sp>
        <p:nvSpPr>
          <p:cNvPr id="5" name="client-1">
            <a:extLst xmlns:a="http://schemas.openxmlformats.org/drawingml/2006/main">
              <a:ext uri="{FF2B5EF4-FFF2-40B4-BE49-F238E27FC236}">
                <a16:creationId xmlns:a16="http://schemas.microsoft.com/office/drawing/2014/main" id="{6AA46DD6-2084-4914-A08D-105648105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885950"/>
            <a:ext cx="15716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6C0"/>
            </a:solidFill>
            <a:prstDash val="solid"/>
          </a:ln>
        </p:spPr>
      </p:sp>
      <p:sp>
        <p:nvSpPr>
          <p:cNvPr id="6" name="client-2">
            <a:extLst xmlns:a="http://schemas.openxmlformats.org/drawingml/2006/main">
              <a:ext uri="{FF2B5EF4-FFF2-40B4-BE49-F238E27FC236}">
                <a16:creationId xmlns:a16="http://schemas.microsoft.com/office/drawing/2014/main" id="{E332F0AE-A3B4-4341-8910-A94982FC2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885950"/>
            <a:ext cx="15716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6C0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F62B870-DFAA-4911-826E-9AA4F24E9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09775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Customer app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B88F810-F474-4B27-A225-2D23527C7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09775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Restaurant portal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8554F0E-CF00-4668-AA90-022B0DA3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009775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Courier app</a:t>
            </a:r>
          </a:p>
        </p:txBody>
      </p:sp>
      <p:cxnSp>
        <p:nvCxnSpPr>
          <p:cNvPr id="59" name="trust-boundary"/>
          <p:cNvCxnSpPr/>
          <p:nvPr/>
        </p:nvCxnSpPr>
        <p:spPr>
          <a:xfrm xmlns:a="http://schemas.openxmlformats.org/drawingml/2006/main">
            <a:off x="6572250" y="1647825"/>
            <a:ext cx="0" cy="40481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6C0"/>
            </a:solidFill>
            <a:prstDash val="solid"/>
          </a:ln>
        </p:spPr>
      </p:cxnSp>
      <p:sp>
        <p:nvSpPr>
          <p:cNvPr id="11" name="label-PUBLIC">
            <a:extLst xmlns:a="http://schemas.openxmlformats.org/drawingml/2006/main">
              <a:ext uri="{FF2B5EF4-FFF2-40B4-BE49-F238E27FC236}">
                <a16:creationId xmlns:a16="http://schemas.microsoft.com/office/drawing/2014/main" id="{846EAA39-3B8B-4870-854F-1E830BE37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06E68"/>
                </a:solidFill>
                <a:latin typeface="Arial"/>
                <a:ea typeface="Arial"/>
                <a:cs typeface="Arial"/>
              </a:rPr>
              <a:t>PUBLIC</a:t>
            </a:r>
          </a:p>
        </p:txBody>
      </p:sp>
      <p:sp>
        <p:nvSpPr>
          <p:cNvPr id="12" name="label-PRIVATE PLATFORM">
            <a:extLst xmlns:a="http://schemas.openxmlformats.org/drawingml/2006/main">
              <a:ext uri="{FF2B5EF4-FFF2-40B4-BE49-F238E27FC236}">
                <a16:creationId xmlns:a16="http://schemas.microsoft.com/office/drawing/2014/main" id="{5326C84D-1221-40DE-8B5D-E7FC06D9F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573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3F35"/>
                </a:solidFill>
                <a:latin typeface="Arial"/>
                <a:ea typeface="Arial"/>
                <a:cs typeface="Arial"/>
              </a:rPr>
              <a:t>PRIVATE PLATFORM</a:t>
            </a:r>
          </a:p>
        </p:txBody>
      </p:sp>
      <p:cxnSp>
        <p:nvCxnSpPr>
          <p:cNvPr id="62" name="gateway-in"/>
          <p:cNvCxnSpPr/>
          <p:nvPr/>
        </p:nvCxnSpPr>
        <p:spPr>
          <a:xfrm xmlns:a="http://schemas.openxmlformats.org/drawingml/2006/main">
            <a:off x="6477000" y="210502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0442F"/>
            </a:solidFill>
            <a:prstDash val="solid"/>
          </a:ln>
        </p:spPr>
      </p:cxnSp>
      <p:sp>
        <p:nvSpPr>
          <p:cNvPr id="14" name="api-gateway">
            <a:extLst xmlns:a="http://schemas.openxmlformats.org/drawingml/2006/main">
              <a:ext uri="{FF2B5EF4-FFF2-40B4-BE49-F238E27FC236}">
                <a16:creationId xmlns:a16="http://schemas.microsoft.com/office/drawing/2014/main" id="{842EAA16-FFDA-4090-9E5D-5B007C28B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85950"/>
            <a:ext cx="17145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3E2FA0E-02E3-4ECD-A556-CF0EA9660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097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API Gateway / BFF</a:t>
            </a:r>
          </a:p>
        </p:txBody>
      </p:sp>
      <p:sp>
        <p:nvSpPr>
          <p:cNvPr id="16" name="realtime-gateway">
            <a:extLst xmlns:a="http://schemas.openxmlformats.org/drawingml/2006/main">
              <a:ext uri="{FF2B5EF4-FFF2-40B4-BE49-F238E27FC236}">
                <a16:creationId xmlns:a16="http://schemas.microsoft.com/office/drawing/2014/main" id="{4FEB1989-08CE-46DA-986F-9664099F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85950"/>
            <a:ext cx="17145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D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C63CF870-DF3C-4639-AE28-2580A37C6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097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Realtime Gateway</a:t>
            </a:r>
          </a:p>
        </p:txBody>
      </p:sp>
      <p:cxnSp>
        <p:nvCxnSpPr>
          <p:cNvPr id="67" name="edge-down-a"/>
          <p:cNvCxnSpPr/>
          <p:nvPr/>
        </p:nvCxnSpPr>
        <p:spPr>
          <a:xfrm xmlns:a="http://schemas.openxmlformats.org/drawingml/2006/main">
            <a:off x="7715250" y="2333625"/>
            <a:ext cx="0" cy="6477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6C0"/>
            </a:solidFill>
            <a:prstDash val="solid"/>
          </a:ln>
        </p:spPr>
      </p:cxnSp>
      <p:cxnSp>
        <p:nvCxnSpPr>
          <p:cNvPr id="68" name="edge-down-b"/>
          <p:cNvCxnSpPr/>
          <p:nvPr/>
        </p:nvCxnSpPr>
        <p:spPr>
          <a:xfrm xmlns:a="http://schemas.openxmlformats.org/drawingml/2006/main">
            <a:off x="9715500" y="2333625"/>
            <a:ext cx="0" cy="6477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6C0"/>
            </a:solidFill>
            <a:prstDash val="solid"/>
          </a:ln>
        </p:spPr>
      </p:cxnSp>
      <p:cxnSp>
        <p:nvCxnSpPr>
          <p:cNvPr id="69" name="service-bus"/>
          <p:cNvCxnSpPr/>
          <p:nvPr/>
        </p:nvCxnSpPr>
        <p:spPr>
          <a:xfrm xmlns:a="http://schemas.openxmlformats.org/drawingml/2006/main">
            <a:off x="7239000" y="3219450"/>
            <a:ext cx="3905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6C0"/>
            </a:solidFill>
            <a:prstDash val="solid"/>
          </a:ln>
        </p:spPr>
      </p:cxnSp>
      <p:cxnSp>
        <p:nvCxnSpPr>
          <p:cNvPr id="70" name="event-backbone"/>
          <p:cNvCxnSpPr/>
          <p:nvPr/>
        </p:nvCxnSpPr>
        <p:spPr>
          <a:xfrm xmlns:a="http://schemas.openxmlformats.org/drawingml/2006/main">
            <a:off x="8734425" y="2333625"/>
            <a:ext cx="0" cy="30289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6C0"/>
            </a:solidFill>
            <a:prstDash val="solid"/>
          </a:ln>
        </p:spPr>
      </p:cxnSp>
      <p:sp>
        <p:nvSpPr>
          <p:cNvPr id="22" name="service-Catalog">
            <a:extLst xmlns:a="http://schemas.openxmlformats.org/drawingml/2006/main">
              <a:ext uri="{FF2B5EF4-FFF2-40B4-BE49-F238E27FC236}">
                <a16:creationId xmlns:a16="http://schemas.microsoft.com/office/drawing/2014/main" id="{28D58390-581A-4271-A1F9-23D4B1A03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09900"/>
            <a:ext cx="1285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6C0"/>
            </a:solidFill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4A5D1815-3BB5-406C-B30C-48AFA429C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33725"/>
            <a:ext cx="1285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Catalog</a:t>
            </a:r>
          </a:p>
        </p:txBody>
      </p:sp>
      <p:sp>
        <p:nvSpPr>
          <p:cNvPr id="24" name="service-Order">
            <a:extLst xmlns:a="http://schemas.openxmlformats.org/drawingml/2006/main">
              <a:ext uri="{FF2B5EF4-FFF2-40B4-BE49-F238E27FC236}">
                <a16:creationId xmlns:a16="http://schemas.microsoft.com/office/drawing/2014/main" id="{A971ED34-5161-4083-835E-2C243F7F7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09900"/>
            <a:ext cx="1285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6E1"/>
          </a:solidFill>
          <a:ln xmlns:a="http://schemas.openxmlformats.org/drawingml/2006/main" w="9525">
            <a:solidFill>
              <a:srgbClr val="F0442F"/>
            </a:solidFill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A33EB851-99E7-4258-9D05-A0EC4F404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33725"/>
            <a:ext cx="1285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Order</a:t>
            </a:r>
          </a:p>
        </p:txBody>
      </p:sp>
      <p:sp>
        <p:nvSpPr>
          <p:cNvPr id="26" name="service-Payment">
            <a:extLst xmlns:a="http://schemas.openxmlformats.org/drawingml/2006/main">
              <a:ext uri="{FF2B5EF4-FFF2-40B4-BE49-F238E27FC236}">
                <a16:creationId xmlns:a16="http://schemas.microsoft.com/office/drawing/2014/main" id="{29DD0BB7-EA1C-4B07-BB93-0EA0D10B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009900"/>
            <a:ext cx="1285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6C0"/>
            </a:solidFill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4110A153-1855-45A5-AC57-0DFEDDEE9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133725"/>
            <a:ext cx="1285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Payment</a:t>
            </a:r>
          </a:p>
        </p:txBody>
      </p:sp>
      <p:sp>
        <p:nvSpPr>
          <p:cNvPr id="28" name="service-Dispatch">
            <a:extLst xmlns:a="http://schemas.openxmlformats.org/drawingml/2006/main">
              <a:ext uri="{FF2B5EF4-FFF2-40B4-BE49-F238E27FC236}">
                <a16:creationId xmlns:a16="http://schemas.microsoft.com/office/drawing/2014/main" id="{F564FC65-3103-4080-BAC4-B63D8037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19525"/>
            <a:ext cx="1285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6C0"/>
            </a:solidFill>
            <a:prstDash val="solid"/>
          </a:ln>
        </p:spPr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4AAAB015-D65C-44D0-92E3-226E1131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43350"/>
            <a:ext cx="1285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Dispatch</a:t>
            </a:r>
          </a:p>
        </p:txBody>
      </p:sp>
      <p:sp>
        <p:nvSpPr>
          <p:cNvPr id="30" name="service-Tracking">
            <a:extLst xmlns:a="http://schemas.openxmlformats.org/drawingml/2006/main">
              <a:ext uri="{FF2B5EF4-FFF2-40B4-BE49-F238E27FC236}">
                <a16:creationId xmlns:a16="http://schemas.microsoft.com/office/drawing/2014/main" id="{379E12E3-FB1D-471F-99DE-EE247047D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819525"/>
            <a:ext cx="1285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6C0"/>
            </a:solidFill>
            <a:prstDash val="solid"/>
          </a:ln>
        </p:spPr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432776DD-2667-487A-83DC-7DC72FA6A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943350"/>
            <a:ext cx="1285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Tracking</a:t>
            </a:r>
          </a:p>
        </p:txBody>
      </p:sp>
      <p:sp>
        <p:nvSpPr>
          <p:cNvPr id="32" name="service-Notification">
            <a:extLst xmlns:a="http://schemas.openxmlformats.org/drawingml/2006/main">
              <a:ext uri="{FF2B5EF4-FFF2-40B4-BE49-F238E27FC236}">
                <a16:creationId xmlns:a16="http://schemas.microsoft.com/office/drawing/2014/main" id="{BC49D6B6-1C38-4CBA-B92C-8E7DC79FB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819525"/>
            <a:ext cx="1285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6C0"/>
            </a:solidFill>
            <a:prstDash val="solid"/>
          </a:ln>
        </p:spPr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8B75F291-33AB-4D2F-9B2C-EB353C21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943350"/>
            <a:ext cx="1285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Notification</a:t>
            </a:r>
          </a:p>
        </p:txBody>
      </p:sp>
      <p:sp>
        <p:nvSpPr>
          <p:cNvPr id="34" name="architecture-explainer">
            <a:extLst xmlns:a="http://schemas.openxmlformats.org/drawingml/2006/main">
              <a:ext uri="{FF2B5EF4-FFF2-40B4-BE49-F238E27FC236}">
                <a16:creationId xmlns:a16="http://schemas.microsoft.com/office/drawing/2014/main" id="{7DE472B6-6245-4E86-AC23-A174023C6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5286375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D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label-COMMAND PATH">
            <a:extLst xmlns:a="http://schemas.openxmlformats.org/drawingml/2006/main">
              <a:ext uri="{FF2B5EF4-FFF2-40B4-BE49-F238E27FC236}">
                <a16:creationId xmlns:a16="http://schemas.microsoft.com/office/drawing/2014/main" id="{3729CA7E-625B-41A1-A439-79322E7B9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527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0442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0442F"/>
                </a:solidFill>
                <a:latin typeface="Arial"/>
                <a:ea typeface="Arial"/>
                <a:cs typeface="Arial"/>
              </a:rPr>
              <a:t>COMMAND PATH</a:t>
            </a:r>
          </a:p>
        </p:txBody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DB00CC0E-EA08-42A2-942F-D18182106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HTTPS / REST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F063D6E9-9A64-4978-9A18-2B001A09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62400"/>
            <a:ext cx="2333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Validation, authorization, rate limits, and ownership checks at the edge.</a:t>
            </a:r>
          </a:p>
        </p:txBody>
      </p:sp>
      <p:sp>
        <p:nvSpPr>
          <p:cNvPr id="38" name="text">
            <a:extLst xmlns:a="http://schemas.openxmlformats.org/drawingml/2006/main">
              <a:ext uri="{FF2B5EF4-FFF2-40B4-BE49-F238E27FC236}">
                <a16:creationId xmlns:a16="http://schemas.microsoft.com/office/drawing/2014/main" id="{8B255FEC-1143-4330-AF15-FE7285585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527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3F35"/>
                </a:solidFill>
                <a:latin typeface="Arial"/>
                <a:ea typeface="Arial"/>
                <a:cs typeface="Arial"/>
              </a:rPr>
              <a:t>EVENT PATH</a:t>
            </a:r>
          </a:p>
        </p:txBody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18F4F6A6-2E06-421A-808E-A25FB0294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5242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Kafka</a:t>
            </a:r>
          </a:p>
        </p:txBody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0F857292-1E3A-4FFE-9EC7-AF89CB08C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96240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Outbox, replay, consumer inbox, and dead-letter handling.</a:t>
            </a:r>
          </a:p>
        </p:txBody>
      </p:sp>
      <p:sp>
        <p:nvSpPr>
          <p:cNvPr id="41" name="postgres">
            <a:extLst xmlns:a="http://schemas.openxmlformats.org/drawingml/2006/main">
              <a:ext uri="{FF2B5EF4-FFF2-40B4-BE49-F238E27FC236}">
                <a16:creationId xmlns:a16="http://schemas.microsoft.com/office/drawing/2014/main" id="{EACB199A-92AC-4DBA-ABCD-5C4A99C11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43475"/>
            <a:ext cx="128587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B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redis">
            <a:extLst xmlns:a="http://schemas.openxmlformats.org/drawingml/2006/main">
              <a:ext uri="{FF2B5EF4-FFF2-40B4-BE49-F238E27FC236}">
                <a16:creationId xmlns:a16="http://schemas.microsoft.com/office/drawing/2014/main" id="{1DD0400A-CF6B-41BB-BC40-CD79C4B3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943475"/>
            <a:ext cx="128587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B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kafka">
            <a:extLst xmlns:a="http://schemas.openxmlformats.org/drawingml/2006/main">
              <a:ext uri="{FF2B5EF4-FFF2-40B4-BE49-F238E27FC236}">
                <a16:creationId xmlns:a16="http://schemas.microsoft.com/office/drawing/2014/main" id="{B3298F8E-EFA1-4858-9F74-DE3482C1F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943475"/>
            <a:ext cx="128587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B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text">
            <a:extLst xmlns:a="http://schemas.openxmlformats.org/drawingml/2006/main">
              <a:ext uri="{FF2B5EF4-FFF2-40B4-BE49-F238E27FC236}">
                <a16:creationId xmlns:a16="http://schemas.microsoft.com/office/drawing/2014/main" id="{F23B78C5-4095-46AE-8A08-4A50CD54F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67300"/>
            <a:ext cx="1285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3F35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45" name="text">
            <a:extLst xmlns:a="http://schemas.openxmlformats.org/drawingml/2006/main">
              <a:ext uri="{FF2B5EF4-FFF2-40B4-BE49-F238E27FC236}">
                <a16:creationId xmlns:a16="http://schemas.microsoft.com/office/drawing/2014/main" id="{B930F59C-CEBD-4099-B0B9-A79CD344B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067300"/>
            <a:ext cx="1285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3F35"/>
                </a:solidFill>
                <a:latin typeface="Arial"/>
                <a:ea typeface="Arial"/>
                <a:cs typeface="Arial"/>
              </a:rPr>
              <a:t>Redis</a:t>
            </a:r>
          </a:p>
        </p:txBody>
      </p:sp>
      <p:sp>
        <p:nvSpPr>
          <p:cNvPr id="46" name="text">
            <a:extLst xmlns:a="http://schemas.openxmlformats.org/drawingml/2006/main">
              <a:ext uri="{FF2B5EF4-FFF2-40B4-BE49-F238E27FC236}">
                <a16:creationId xmlns:a16="http://schemas.microsoft.com/office/drawing/2014/main" id="{F5931945-A34A-40BD-A2D1-AABC0043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067300"/>
            <a:ext cx="1285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3F35"/>
                </a:solidFill>
                <a:latin typeface="Arial"/>
                <a:ea typeface="Arial"/>
                <a:cs typeface="Arial"/>
              </a:rPr>
              <a:t>Kafka</a:t>
            </a:r>
          </a:p>
        </p:txBody>
      </p:sp>
      <p:sp>
        <p:nvSpPr>
          <p:cNvPr id="47" name="text">
            <a:extLst xmlns:a="http://schemas.openxmlformats.org/drawingml/2006/main">
              <a:ext uri="{FF2B5EF4-FFF2-40B4-BE49-F238E27FC236}">
                <a16:creationId xmlns:a16="http://schemas.microsoft.com/office/drawing/2014/main" id="{47C50265-75E0-420C-83F4-A2F2F9798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715000"/>
            <a:ext cx="4219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Providers: payment  •  maps  •  push / SMS / email</a:t>
            </a:r>
          </a:p>
        </p:txBody>
      </p:sp>
      <p:sp>
        <p:nvSpPr>
          <p:cNvPr id="48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EF7A5FAD-3A48-407A-8274-27A4073B2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06E68"/>
                </a:solidFill>
                <a:latin typeface="Arial"/>
                <a:ea typeface="Arial"/>
                <a:cs typeface="Arial"/>
              </a:rPr>
              <a:t>LOGICAL ARCHITECTURE</a:t>
            </a:r>
          </a:p>
        </p:txBody>
      </p:sp>
      <p:sp>
        <p:nvSpPr>
          <p:cNvPr id="49" name="footer-page">
            <a:extLst xmlns:a="http://schemas.openxmlformats.org/drawingml/2006/main">
              <a:ext uri="{FF2B5EF4-FFF2-40B4-BE49-F238E27FC236}">
                <a16:creationId xmlns:a16="http://schemas.microsoft.com/office/drawing/2014/main" id="{044B59E9-4E8F-4C46-A805-269E248D2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091342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22F6B7E-E667-4E4C-AD51-8B8805ACE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Replay-safe contracts turn retries into normal behavior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7C55ABC-0095-45A6-B3F9-9513129FB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The same command or provider callback can arrive more than once without repeating the effect.</a:t>
            </a:r>
          </a:p>
        </p:txBody>
      </p:sp>
      <p:cxnSp>
        <p:nvCxnSpPr>
          <p:cNvPr id="41" name="title-rule"/>
          <p:cNvCxnSpPr/>
          <p:nvPr/>
        </p:nvCxnSpPr>
        <p:spPr>
          <a:xfrm xmlns:a="http://schemas.openxmlformats.org/drawingml/2006/main">
            <a:off x="609600" y="1495425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6C0"/>
            </a:solidFill>
            <a:prstDash val="solid"/>
          </a:ln>
        </p:spPr>
      </p:cxnSp>
      <p:sp>
        <p:nvSpPr>
          <p:cNvPr id="4" name="label-COMMAND">
            <a:extLst xmlns:a="http://schemas.openxmlformats.org/drawingml/2006/main">
              <a:ext uri="{FF2B5EF4-FFF2-40B4-BE49-F238E27FC236}">
                <a16:creationId xmlns:a16="http://schemas.microsoft.com/office/drawing/2014/main" id="{53ADC483-CC11-47B6-BE1C-E75597ABE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0442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0442F"/>
                </a:solidFill>
                <a:latin typeface="Arial"/>
                <a:ea typeface="Arial"/>
                <a:cs typeface="Arial"/>
              </a:rPr>
              <a:t>COMMAND</a:t>
            </a:r>
          </a:p>
        </p:txBody>
      </p:sp>
      <p:cxnSp>
        <p:nvCxnSpPr>
          <p:cNvPr id="43" name="command-line"/>
          <p:cNvCxnSpPr/>
          <p:nvPr/>
        </p:nvCxnSpPr>
        <p:spPr>
          <a:xfrm xmlns:a="http://schemas.openxmlformats.org/drawingml/2006/main">
            <a:off x="1104900" y="2647950"/>
            <a:ext cx="417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8C6C0"/>
            </a:solidFill>
            <a:prstDash val="solid"/>
          </a:ln>
        </p:spPr>
      </p:cxnSp>
      <p:sp>
        <p:nvSpPr>
          <p:cNvPr id="6" name="dot-1">
            <a:extLst xmlns:a="http://schemas.openxmlformats.org/drawingml/2006/main">
              <a:ext uri="{FF2B5EF4-FFF2-40B4-BE49-F238E27FC236}">
                <a16:creationId xmlns:a16="http://schemas.microsoft.com/office/drawing/2014/main" id="{089D7B8B-6036-4049-8B57-29F205160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98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7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6F641B1-5569-49FB-AA47-AB32C85B7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476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BEBAFB5-5312-4FE9-A26A-970E5D8FE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14675"/>
            <a:ext cx="904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Client request</a:t>
            </a:r>
          </a:p>
        </p:txBody>
      </p:sp>
      <p:sp>
        <p:nvSpPr>
          <p:cNvPr id="9" name="dot-2">
            <a:extLst xmlns:a="http://schemas.openxmlformats.org/drawingml/2006/main">
              <a:ext uri="{FF2B5EF4-FFF2-40B4-BE49-F238E27FC236}">
                <a16:creationId xmlns:a16="http://schemas.microsoft.com/office/drawing/2014/main" id="{FE43B7FC-76FE-4080-86EF-CAA9E643C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4098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7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DF77AFB-6F80-42FE-AE9C-D20B6F969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495550"/>
            <a:ext cx="476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ABDBF36-D233-4733-B88D-9B8DCBE37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3114675"/>
            <a:ext cx="904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BFF validates</a:t>
            </a:r>
          </a:p>
        </p:txBody>
      </p:sp>
      <p:sp>
        <p:nvSpPr>
          <p:cNvPr id="12" name="dot-3">
            <a:extLst xmlns:a="http://schemas.openxmlformats.org/drawingml/2006/main">
              <a:ext uri="{FF2B5EF4-FFF2-40B4-BE49-F238E27FC236}">
                <a16:creationId xmlns:a16="http://schemas.microsoft.com/office/drawing/2014/main" id="{FCE0DCCA-0025-4420-945C-CD5180124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098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44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15FB41B-5C70-4DA7-A17A-7CCA83034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95550"/>
            <a:ext cx="476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ED1DF992-83D3-4DC1-9F31-4EDEC816C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114675"/>
            <a:ext cx="904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Owner commits</a:t>
            </a:r>
          </a:p>
        </p:txBody>
      </p:sp>
      <p:sp>
        <p:nvSpPr>
          <p:cNvPr id="15" name="dot-4">
            <a:extLst xmlns:a="http://schemas.openxmlformats.org/drawingml/2006/main">
              <a:ext uri="{FF2B5EF4-FFF2-40B4-BE49-F238E27FC236}">
                <a16:creationId xmlns:a16="http://schemas.microsoft.com/office/drawing/2014/main" id="{6636ED64-1746-4BB3-934B-D342E7096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4098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7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30A0AE9B-B187-424E-9F8A-90B1FCBFE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495550"/>
            <a:ext cx="476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BC8B084B-5F12-4682-92C6-4A3A9D94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114675"/>
            <a:ext cx="904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Outbox publishes</a:t>
            </a:r>
          </a:p>
        </p:txBody>
      </p:sp>
      <p:sp>
        <p:nvSpPr>
          <p:cNvPr id="18" name="idempotency-block">
            <a:extLst xmlns:a="http://schemas.openxmlformats.org/drawingml/2006/main">
              <a:ext uri="{FF2B5EF4-FFF2-40B4-BE49-F238E27FC236}">
                <a16:creationId xmlns:a16="http://schemas.microsoft.com/office/drawing/2014/main" id="{905F7A30-9563-444B-B08C-AAB70D96A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57650"/>
            <a:ext cx="4857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D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42FBD6AE-86E6-4193-AC90-2F8ED5D95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2767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Idempotency-Key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4837BDA9-88C6-4CC2-94E3-0C16085E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67677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Stable business key -&gt; one order, one authorization, one capture.</a:t>
            </a:r>
          </a:p>
        </p:txBody>
      </p:sp>
      <p:cxnSp>
        <p:nvCxnSpPr>
          <p:cNvPr id="59" name="contract-divider"/>
          <p:cNvCxnSpPr/>
          <p:nvPr/>
        </p:nvCxnSpPr>
        <p:spPr>
          <a:xfrm xmlns:a="http://schemas.openxmlformats.org/drawingml/2006/main">
            <a:off x="6019800" y="1809750"/>
            <a:ext cx="0" cy="37338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6C0"/>
            </a:solidFill>
            <a:prstDash val="solid"/>
          </a:ln>
        </p:spPr>
      </p:cxnSp>
      <p:sp>
        <p:nvSpPr>
          <p:cNvPr id="22" name="label-EVENT ENVELOPE">
            <a:extLst xmlns:a="http://schemas.openxmlformats.org/drawingml/2006/main">
              <a:ext uri="{FF2B5EF4-FFF2-40B4-BE49-F238E27FC236}">
                <a16:creationId xmlns:a16="http://schemas.microsoft.com/office/drawing/2014/main" id="{FA54FCD6-C761-459D-8506-0E262AB1E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478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3F35"/>
                </a:solidFill>
                <a:latin typeface="Arial"/>
                <a:ea typeface="Arial"/>
                <a:cs typeface="Arial"/>
              </a:rPr>
              <a:t>EVENT ENVELOPE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65EFB519-B0B0-49F7-9356-FEEB89EB1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33625"/>
            <a:ext cx="1285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Identity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A99D3958-CCB4-47F0-BA03-8D65F9DFD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33625"/>
            <a:ext cx="3429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event_id  •  aggregate_id  •  version</a:t>
            </a:r>
          </a:p>
        </p:txBody>
      </p:sp>
      <p:cxnSp>
        <p:nvCxnSpPr>
          <p:cNvPr id="63" name="field-rule-0"/>
          <p:cNvCxnSpPr/>
          <p:nvPr/>
        </p:nvCxnSpPr>
        <p:spPr>
          <a:xfrm xmlns:a="http://schemas.openxmlformats.org/drawingml/2006/main">
            <a:off x="6477000" y="2790825"/>
            <a:ext cx="4857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6C0"/>
            </a:solidFill>
            <a:prstDash val="solid"/>
          </a:ln>
        </p:spPr>
      </p:cxn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74DA57D9-5013-4044-A772-E085A4304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19425"/>
            <a:ext cx="1285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Causality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2BF09EC3-8C5B-4D3C-A70C-0CF066327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19425"/>
            <a:ext cx="3429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correlation_id  •  causation_id</a:t>
            </a:r>
          </a:p>
        </p:txBody>
      </p:sp>
      <p:cxnSp>
        <p:nvCxnSpPr>
          <p:cNvPr id="66" name="field-rule-1"/>
          <p:cNvCxnSpPr/>
          <p:nvPr/>
        </p:nvCxnSpPr>
        <p:spPr>
          <a:xfrm xmlns:a="http://schemas.openxmlformats.org/drawingml/2006/main">
            <a:off x="6477000" y="3476625"/>
            <a:ext cx="4857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6C0"/>
            </a:solidFill>
            <a:prstDash val="solid"/>
          </a:ln>
        </p:spPr>
      </p:cxn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ED2CBC84-5D3E-409B-BC5D-8BACBE068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05225"/>
            <a:ext cx="1285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Time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ABEAF2BA-E30B-4C31-8050-5973B1459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05225"/>
            <a:ext cx="3429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occurred_at  •  schema_version</a:t>
            </a:r>
          </a:p>
        </p:txBody>
      </p:sp>
      <p:cxnSp>
        <p:nvCxnSpPr>
          <p:cNvPr id="69" name="field-rule-2"/>
          <p:cNvCxnSpPr/>
          <p:nvPr/>
        </p:nvCxnSpPr>
        <p:spPr>
          <a:xfrm xmlns:a="http://schemas.openxmlformats.org/drawingml/2006/main">
            <a:off x="6477000" y="4162425"/>
            <a:ext cx="4857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6C0"/>
            </a:solidFill>
            <a:prstDash val="solid"/>
          </a:ln>
        </p:spPr>
      </p:cxn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A11DA233-82F8-4FD5-B173-F6090E1BA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91025"/>
            <a:ext cx="1285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Payload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2077FA92-5D99-4124-8D8A-C6B0A1927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91025"/>
            <a:ext cx="3429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typed domain facts, never commands</a:t>
            </a:r>
          </a:p>
        </p:txBody>
      </p:sp>
      <p:cxnSp>
        <p:nvCxnSpPr>
          <p:cNvPr id="72" name="field-rule-3"/>
          <p:cNvCxnSpPr/>
          <p:nvPr/>
        </p:nvCxnSpPr>
        <p:spPr>
          <a:xfrm xmlns:a="http://schemas.openxmlformats.org/drawingml/2006/main">
            <a:off x="6477000" y="4848225"/>
            <a:ext cx="4857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6C0"/>
            </a:solidFill>
            <a:prstDash val="solid"/>
          </a:ln>
        </p:spPr>
      </p:cxnSp>
      <p:sp>
        <p:nvSpPr>
          <p:cNvPr id="35" name="contract-result">
            <a:extLst xmlns:a="http://schemas.openxmlformats.org/drawingml/2006/main">
              <a:ext uri="{FF2B5EF4-FFF2-40B4-BE49-F238E27FC236}">
                <a16:creationId xmlns:a16="http://schemas.microsoft.com/office/drawing/2014/main" id="{FD608D36-CC1E-40A9-A9FD-6818AC184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267325"/>
            <a:ext cx="4857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B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D0569680-3EF6-400F-B508-75F383BF2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5476875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262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F35"/>
                </a:solidFill>
                <a:latin typeface="Arial"/>
                <a:ea typeface="Arial"/>
                <a:cs typeface="Arial"/>
              </a:rPr>
              <a:t>At-least-once delivery + inbox deduplication = one business effect</a:t>
            </a:r>
          </a:p>
        </p:txBody>
      </p:sp>
      <p:sp>
        <p:nvSpPr>
          <p:cNvPr id="37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D8931CD1-155D-4C90-A209-2E36FB43C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06E68"/>
                </a:solidFill>
                <a:latin typeface="Arial"/>
                <a:ea typeface="Arial"/>
                <a:cs typeface="Arial"/>
              </a:rPr>
              <a:t>INTEGRATION CONTRACTS</a:t>
            </a:r>
          </a:p>
        </p:txBody>
      </p:sp>
      <p:sp>
        <p:nvSpPr>
          <p:cNvPr id="3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2E2251B6-E3E4-408A-A059-FFBF1270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953611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E5566CA-016A-46CE-8290-766D8F247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Data ownership protects the invariants that matter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0E97622-3464-4C7F-862C-FA9A8F1E4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A shared cluster can start the MVP; direct cross-service writes cannot.</a:t>
            </a:r>
          </a:p>
        </p:txBody>
      </p:sp>
      <p:cxnSp>
        <p:nvCxnSpPr>
          <p:cNvPr id="39" name="title-rule"/>
          <p:cNvCxnSpPr/>
          <p:nvPr/>
        </p:nvCxnSpPr>
        <p:spPr>
          <a:xfrm xmlns:a="http://schemas.openxmlformats.org/drawingml/2006/main">
            <a:off x="609600" y="1495425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6C0"/>
            </a:solidFill>
            <a:prstDash val="solid"/>
          </a:ln>
        </p:spPr>
      </p:cxnSp>
      <p:cxnSp>
        <p:nvCxnSpPr>
          <p:cNvPr id="40" name="user-order"/>
          <p:cNvCxnSpPr/>
          <p:nvPr/>
        </p:nvCxnSpPr>
        <p:spPr>
          <a:xfrm xmlns:a="http://schemas.openxmlformats.org/drawingml/2006/main">
            <a:off x="3000375" y="3371850"/>
            <a:ext cx="1619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8C6C0"/>
            </a:solidFill>
            <a:prstDash val="solid"/>
          </a:ln>
        </p:spPr>
      </p:cxnSp>
      <p:cxnSp>
        <p:nvCxnSpPr>
          <p:cNvPr id="41" name="restaurant-order"/>
          <p:cNvCxnSpPr/>
          <p:nvPr/>
        </p:nvCxnSpPr>
        <p:spPr>
          <a:xfrm xmlns:a="http://schemas.openxmlformats.org/drawingml/2006/main">
            <a:off x="3000375" y="3705225"/>
            <a:ext cx="1619250" cy="1190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8C6C0"/>
            </a:solidFill>
            <a:prstDash val="solid"/>
          </a:ln>
        </p:spPr>
      </p:cxnSp>
      <p:cxnSp>
        <p:nvCxnSpPr>
          <p:cNvPr id="42" name="payment-order"/>
          <p:cNvCxnSpPr/>
          <p:nvPr/>
        </p:nvCxnSpPr>
        <p:spPr>
          <a:xfrm xmlns:a="http://schemas.openxmlformats.org/drawingml/2006/main">
            <a:off x="6210300" y="2181225"/>
            <a:ext cx="1600200" cy="1190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8C6C0"/>
            </a:solidFill>
            <a:prstDash val="solid"/>
          </a:ln>
        </p:spPr>
      </p:cxnSp>
      <p:cxnSp>
        <p:nvCxnSpPr>
          <p:cNvPr id="43" name="delivery-order"/>
          <p:cNvCxnSpPr/>
          <p:nvPr/>
        </p:nvCxnSpPr>
        <p:spPr>
          <a:xfrm xmlns:a="http://schemas.openxmlformats.org/drawingml/2006/main">
            <a:off x="6210300" y="3371850"/>
            <a:ext cx="1600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8C6C0"/>
            </a:solidFill>
            <a:prstDash val="solid"/>
          </a:ln>
        </p:spPr>
      </p:cxnSp>
      <p:cxnSp>
        <p:nvCxnSpPr>
          <p:cNvPr id="44" name="courier-order"/>
          <p:cNvCxnSpPr/>
          <p:nvPr/>
        </p:nvCxnSpPr>
        <p:spPr>
          <a:xfrm xmlns:a="http://schemas.openxmlformats.org/drawingml/2006/main">
            <a:off x="6210300" y="3705225"/>
            <a:ext cx="1600200" cy="1190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8C6C0"/>
            </a:solidFill>
            <a:prstDash val="solid"/>
          </a:ln>
        </p:spPr>
      </p:cxnSp>
      <p:sp>
        <p:nvSpPr>
          <p:cNvPr id="9" name="order-aggregate">
            <a:extLst xmlns:a="http://schemas.openxmlformats.org/drawingml/2006/main">
              <a:ext uri="{FF2B5EF4-FFF2-40B4-BE49-F238E27FC236}">
                <a16:creationId xmlns:a16="http://schemas.microsoft.com/office/drawing/2014/main" id="{FDD89139-6C61-4670-9630-D738A25A2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676525"/>
            <a:ext cx="159067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4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abel-AGGREGATE">
            <a:extLst xmlns:a="http://schemas.openxmlformats.org/drawingml/2006/main">
              <a:ext uri="{FF2B5EF4-FFF2-40B4-BE49-F238E27FC236}">
                <a16:creationId xmlns:a16="http://schemas.microsoft.com/office/drawing/2014/main" id="{600813B8-E49A-4D89-93FF-00439CE8E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85750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AGGREGATE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F87090E-8537-429B-9F8B-0CF6305B1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257550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ORDER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A94FBFC-A26A-41DF-BAA7-018E38B74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629025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items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status + version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address + totals</a:t>
            </a:r>
          </a:p>
        </p:txBody>
      </p:sp>
      <p:sp>
        <p:nvSpPr>
          <p:cNvPr id="13" name="entity-USER">
            <a:extLst xmlns:a="http://schemas.openxmlformats.org/drawingml/2006/main">
              <a:ext uri="{FF2B5EF4-FFF2-40B4-BE49-F238E27FC236}">
                <a16:creationId xmlns:a16="http://schemas.microsoft.com/office/drawing/2014/main" id="{5FCF0D15-DF5D-4DBA-8FD3-038605BCA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28950"/>
            <a:ext cx="2000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D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43895133-10D0-4307-A768-26E33BA71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162300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USER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4391E80-D00D-415B-A0B3-11C591A16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4385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Owner: Identity</a:t>
            </a:r>
          </a:p>
        </p:txBody>
      </p:sp>
      <p:sp>
        <p:nvSpPr>
          <p:cNvPr id="16" name="entity-RESTAURANT">
            <a:extLst xmlns:a="http://schemas.openxmlformats.org/drawingml/2006/main">
              <a:ext uri="{FF2B5EF4-FFF2-40B4-BE49-F238E27FC236}">
                <a16:creationId xmlns:a16="http://schemas.microsoft.com/office/drawing/2014/main" id="{848364FE-BF6D-42A5-97CB-074A55EAE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72000"/>
            <a:ext cx="2000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D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3EF32BCB-5F78-4962-BB30-C301A0D2B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705350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RESTAURANT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AD8DA59-75BB-46C3-BE14-82620DD62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98157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Owner: Catalog</a:t>
            </a:r>
          </a:p>
        </p:txBody>
      </p:sp>
      <p:sp>
        <p:nvSpPr>
          <p:cNvPr id="19" name="entity-PAYMENT / REFUND">
            <a:extLst xmlns:a="http://schemas.openxmlformats.org/drawingml/2006/main">
              <a:ext uri="{FF2B5EF4-FFF2-40B4-BE49-F238E27FC236}">
                <a16:creationId xmlns:a16="http://schemas.microsoft.com/office/drawing/2014/main" id="{DDC69E55-9629-449F-B5AE-638FAA038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85950"/>
            <a:ext cx="2000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D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670B08BA-D543-4456-B67E-DD80160E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19300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PAYMENT / REFUND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8D303AEC-414A-4DB6-9946-47DA958D2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955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Owner: Payment</a:t>
            </a:r>
          </a:p>
        </p:txBody>
      </p:sp>
      <p:sp>
        <p:nvSpPr>
          <p:cNvPr id="22" name="entity-DELIVERY">
            <a:extLst xmlns:a="http://schemas.openxmlformats.org/drawingml/2006/main">
              <a:ext uri="{FF2B5EF4-FFF2-40B4-BE49-F238E27FC236}">
                <a16:creationId xmlns:a16="http://schemas.microsoft.com/office/drawing/2014/main" id="{B90C973B-628D-4EB4-9A69-73AD4FDCF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28950"/>
            <a:ext cx="2000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D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E51CF552-3317-4415-AE4F-ED3279373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162300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DELIVERY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68C46381-00B0-44BB-8517-DB757978A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385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Owner: Dispatch</a:t>
            </a:r>
          </a:p>
        </p:txBody>
      </p:sp>
      <p:sp>
        <p:nvSpPr>
          <p:cNvPr id="25" name="entity-COURIER / PAYOUT">
            <a:extLst xmlns:a="http://schemas.openxmlformats.org/drawingml/2006/main">
              <a:ext uri="{FF2B5EF4-FFF2-40B4-BE49-F238E27FC236}">
                <a16:creationId xmlns:a16="http://schemas.microsoft.com/office/drawing/2014/main" id="{872EF060-3308-48D0-B238-3E0D7271C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72000"/>
            <a:ext cx="2000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D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CBB84FC1-8CDD-4A2A-BBB5-41B7A7BFA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705350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COURIER / PAYOUT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0FBC7950-1666-4F0E-8DAC-E9EA1D763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98157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Owner: Dispatch</a:t>
            </a:r>
          </a:p>
        </p:txBody>
      </p:sp>
      <p:sp>
        <p:nvSpPr>
          <p:cNvPr id="28" name="data-rules">
            <a:extLst xmlns:a="http://schemas.openxmlformats.org/drawingml/2006/main">
              <a:ext uri="{FF2B5EF4-FFF2-40B4-BE49-F238E27FC236}">
                <a16:creationId xmlns:a16="http://schemas.microsoft.com/office/drawing/2014/main" id="{43AA585A-4FFD-4DCD-A6DD-5615DD959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885950"/>
            <a:ext cx="1571625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label-RULES">
            <a:extLst xmlns:a="http://schemas.openxmlformats.org/drawingml/2006/main">
              <a:ext uri="{FF2B5EF4-FFF2-40B4-BE49-F238E27FC236}">
                <a16:creationId xmlns:a16="http://schemas.microsoft.com/office/drawing/2014/main" id="{F1DE3728-F8D7-4AAB-8EDF-E8772A303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1145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3C94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3C94B"/>
                </a:solidFill>
                <a:latin typeface="Arial"/>
                <a:ea typeface="Arial"/>
                <a:cs typeface="Arial"/>
              </a:rPr>
              <a:t>RULES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B3E62F6D-6E97-4C05-88E6-546069B1F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552700"/>
            <a:ext cx="1123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Snapshot</a:t>
            </a:r>
          </a:p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prices + address</a:t>
            </a:r>
          </a:p>
        </p:txBody>
      </p:sp>
      <p:cxnSp>
        <p:nvCxnSpPr>
          <p:cNvPr id="67" name="data-rule-1"/>
          <p:cNvCxnSpPr/>
          <p:nvPr/>
        </p:nvCxnSpPr>
        <p:spPr>
          <a:xfrm xmlns:a="http://schemas.openxmlformats.org/drawingml/2006/main">
            <a:off x="10210800" y="3343275"/>
            <a:ext cx="11239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B8C83"/>
            </a:solidFill>
            <a:prstDash val="solid"/>
          </a:ln>
        </p:spPr>
      </p:cxn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9D2E62FE-B14C-40B4-B6C2-DD08462DE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543300"/>
            <a:ext cx="1123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Version</a:t>
            </a:r>
          </a:p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every transition</a:t>
            </a:r>
          </a:p>
        </p:txBody>
      </p:sp>
      <p:cxnSp>
        <p:nvCxnSpPr>
          <p:cNvPr id="69" name="data-rule-2"/>
          <p:cNvCxnSpPr/>
          <p:nvPr/>
        </p:nvCxnSpPr>
        <p:spPr>
          <a:xfrm xmlns:a="http://schemas.openxmlformats.org/drawingml/2006/main">
            <a:off x="10210800" y="4333875"/>
            <a:ext cx="11239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B8C83"/>
            </a:solidFill>
            <a:prstDash val="solid"/>
          </a:ln>
        </p:spPr>
      </p:cxn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65A9D715-7168-4EE1-97CB-987B5915F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533900"/>
            <a:ext cx="1123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Audit</a:t>
            </a:r>
          </a:p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actor + reason</a:t>
            </a:r>
          </a:p>
        </p:txBody>
      </p:sp>
      <p:sp>
        <p:nvSpPr>
          <p:cNvPr id="35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24DDD312-B69A-4E65-BC3C-F20482703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06E68"/>
                </a:solidFill>
                <a:latin typeface="Arial"/>
                <a:ea typeface="Arial"/>
                <a:cs typeface="Arial"/>
              </a:rPr>
              <a:t>DATA MODEL</a:t>
            </a:r>
          </a:p>
        </p:txBody>
      </p:sp>
      <p:sp>
        <p:nvSpPr>
          <p:cNvPr id="3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7BEDBF14-33A1-491F-BD31-93D992E35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416884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1572912-5848-48C7-8404-B07F89572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Failures degrade capability, not integrity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D9EA25F-6AC7-493F-9430-0520D777A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The order remains explainable even when a provider or projection is temporarily unavailable.</a:t>
            </a:r>
          </a:p>
        </p:txBody>
      </p:sp>
      <p:cxnSp>
        <p:nvCxnSpPr>
          <p:cNvPr id="11" name="title-rule"/>
          <p:cNvCxnSpPr/>
          <p:nvPr/>
        </p:nvCxnSpPr>
        <p:spPr>
          <a:xfrm xmlns:a="http://schemas.openxmlformats.org/drawingml/2006/main">
            <a:off x="609600" y="1495425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6C0"/>
            </a:solidFill>
            <a:prstDash val="solid"/>
          </a:ln>
        </p:spPr>
      </p:cxnSp>
      <p:graphicFrame>
        <p:nvGraphicFramePr>
          <p:cNvPr id="12" name=""/>
          <p:cNvGraphicFramePr/>
          <p:nvPr/>
        </p:nvGraphicFramePr>
        <p:xfrm>
          <a:off xmlns:a="http://schemas.openxmlformats.org/drawingml/2006/main" x="666750" y="1885950"/>
          <a:ext xmlns:a="http://schemas.openxmlformats.org/drawingml/2006/main" cx="108585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3333750"/>
                <a:gridCol w="5238750"/>
              </a:tblGrid>
              <a:tr h="557893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Failure</a:t>
                      </a:r>
                    </a:p>
                  </a:txBody>
                  <a:tcPr marL="91440" marR="91440" marT="45720" marB="45720">
                    <a:solidFill>
                      <a:srgbClr val="1717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Customer experience</a:t>
                      </a:r>
                    </a:p>
                  </a:txBody>
                  <a:tcPr marL="91440" marR="91440" marT="45720" marB="45720">
                    <a:solidFill>
                      <a:srgbClr val="1717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171713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1713"/>
                          </a:solidFill>
                          <a:latin typeface="Arial"/>
                          <a:ea typeface="Arial"/>
                          <a:cs typeface="Arial"/>
                        </a:rPr>
                        <a:t>Payment timeout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1713"/>
                          </a:solidFill>
                          <a:latin typeface="Arial"/>
                          <a:ea typeface="Arial"/>
                          <a:cs typeface="Arial"/>
                        </a:rPr>
                        <a:t>Checkout stays pending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1713"/>
                          </a:solidFill>
                          <a:latin typeface="Arial"/>
                          <a:ea typeface="Arial"/>
                          <a:cs typeface="Arial"/>
                        </a:rPr>
                        <a:t>Query by idempotency key; retry deterministically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1713"/>
                          </a:solidFill>
                          <a:latin typeface="Arial"/>
                          <a:ea typeface="Arial"/>
                          <a:cs typeface="Arial"/>
                        </a:rPr>
                        <a:t>Restaurant timeout</a:t>
                      </a:r>
                    </a:p>
                  </a:txBody>
                  <a:tcPr marL="91440" marR="91440" marT="45720" marB="45720">
                    <a:solidFill>
                      <a:srgbClr val="EFED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1713"/>
                          </a:solidFill>
                          <a:latin typeface="Arial"/>
                          <a:ea typeface="Arial"/>
                          <a:cs typeface="Arial"/>
                        </a:rPr>
                        <a:t>Order expires clearly</a:t>
                      </a:r>
                    </a:p>
                  </a:txBody>
                  <a:tcPr marL="91440" marR="91440" marT="45720" marB="45720">
                    <a:solidFill>
                      <a:srgbClr val="EFED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1713"/>
                          </a:solidFill>
                          <a:latin typeface="Arial"/>
                          <a:ea typeface="Arial"/>
                          <a:cs typeface="Arial"/>
                        </a:rPr>
                        <a:t>Void authorization; audit reason</a:t>
                      </a:r>
                    </a:p>
                  </a:txBody>
                  <a:tcPr marL="91440" marR="91440" marT="45720" marB="45720">
                    <a:solidFill>
                      <a:srgbClr val="EFEDE8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1713"/>
                          </a:solidFill>
                          <a:latin typeface="Arial"/>
                          <a:ea typeface="Arial"/>
                          <a:cs typeface="Arial"/>
                        </a:rPr>
                        <a:t>No courier accepts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1713"/>
                          </a:solidFill>
                          <a:latin typeface="Arial"/>
                          <a:ea typeface="Arial"/>
                          <a:cs typeface="Arial"/>
                        </a:rPr>
                        <a:t>ETA is revised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1713"/>
                          </a:solidFill>
                          <a:latin typeface="Arial"/>
                          <a:ea typeface="Arial"/>
                          <a:cs typeface="Arial"/>
                        </a:rPr>
                        <a:t>Expand search in bounded waves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1713"/>
                          </a:solidFill>
                          <a:latin typeface="Arial"/>
                          <a:ea typeface="Arial"/>
                          <a:cs typeface="Arial"/>
                        </a:rPr>
                        <a:t>Maps unavailable</a:t>
                      </a:r>
                    </a:p>
                  </a:txBody>
                  <a:tcPr marL="91440" marR="91440" marT="45720" marB="45720">
                    <a:solidFill>
                      <a:srgbClr val="EFED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1713"/>
                          </a:solidFill>
                          <a:latin typeface="Arial"/>
                          <a:ea typeface="Arial"/>
                          <a:cs typeface="Arial"/>
                        </a:rPr>
                        <a:t>Last known ETA is shown</a:t>
                      </a:r>
                    </a:p>
                  </a:txBody>
                  <a:tcPr marL="91440" marR="91440" marT="45720" marB="45720">
                    <a:solidFill>
                      <a:srgbClr val="EFED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1713"/>
                          </a:solidFill>
                          <a:latin typeface="Arial"/>
                          <a:ea typeface="Arial"/>
                          <a:cs typeface="Arial"/>
                        </a:rPr>
                        <a:t>Cached results + circuit breaker</a:t>
                      </a:r>
                    </a:p>
                  </a:txBody>
                  <a:tcPr marL="91440" marR="91440" marT="45720" marB="45720">
                    <a:solidFill>
                      <a:srgbClr val="EFEDE8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1713"/>
                          </a:solidFill>
                          <a:latin typeface="Arial"/>
                          <a:ea typeface="Arial"/>
                          <a:cs typeface="Arial"/>
                        </a:rPr>
                        <a:t>Notification outage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1713"/>
                          </a:solidFill>
                          <a:latin typeface="Arial"/>
                          <a:ea typeface="Arial"/>
                          <a:cs typeface="Arial"/>
                        </a:rPr>
                        <a:t>In-app status stays authoritative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1713"/>
                          </a:solidFill>
                          <a:latin typeface="Arial"/>
                          <a:ea typeface="Arial"/>
                          <a:cs typeface="Arial"/>
                        </a:rPr>
                        <a:t>Queue retry; channel fallback; DLQ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1713"/>
                          </a:solidFill>
                          <a:latin typeface="Arial"/>
                          <a:ea typeface="Arial"/>
                          <a:cs typeface="Arial"/>
                        </a:rPr>
                        <a:t>Consumer restart</a:t>
                      </a:r>
                    </a:p>
                  </a:txBody>
                  <a:tcPr marL="91440" marR="91440" marT="45720" marB="45720">
                    <a:solidFill>
                      <a:srgbClr val="EFED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1713"/>
                          </a:solidFill>
                          <a:latin typeface="Arial"/>
                          <a:ea typeface="Arial"/>
                          <a:cs typeface="Arial"/>
                        </a:rPr>
                        <a:t>Projection may briefly lag</a:t>
                      </a:r>
                    </a:p>
                  </a:txBody>
                  <a:tcPr marL="91440" marR="91440" marT="45720" marB="45720">
                    <a:solidFill>
                      <a:srgbClr val="EFED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1713"/>
                          </a:solidFill>
                          <a:latin typeface="Arial"/>
                          <a:ea typeface="Arial"/>
                          <a:cs typeface="Arial"/>
                        </a:rPr>
                        <a:t>Resume offset; inbox deduplication</a:t>
                      </a:r>
                    </a:p>
                  </a:txBody>
                  <a:tcPr marL="91440" marR="91440" marT="45720" marB="45720">
                    <a:solidFill>
                      <a:srgbClr val="EFEDE8"/>
                    </a:solidFill>
                  </a:tcPr>
                </a:tc>
              </a:tr>
            </a:tbl>
          </a:graphicData>
        </a:graphic>
      </p:graphicFrame>
      <p:sp>
        <p:nvSpPr>
          <p:cNvPr id="5" name="failure-accent">
            <a:extLst xmlns:a="http://schemas.openxmlformats.org/drawingml/2006/main">
              <a:ext uri="{FF2B5EF4-FFF2-40B4-BE49-F238E27FC236}">
                <a16:creationId xmlns:a16="http://schemas.microsoft.com/office/drawing/2014/main" id="{08C93989-681A-4F2A-9FE4-7F3830938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81700"/>
            <a:ext cx="857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4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10AD53D-E9AC-458B-A85A-F6658B59B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81700"/>
            <a:ext cx="733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Money and canonical order state always reconcile after recovery.</a:t>
            </a:r>
          </a:p>
        </p:txBody>
      </p:sp>
      <p:sp>
        <p:nvSpPr>
          <p:cNvPr id="7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247533D1-85A2-4DA5-A01E-9A74A53DB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06E68"/>
                </a:solidFill>
                <a:latin typeface="Arial"/>
                <a:ea typeface="Arial"/>
                <a:cs typeface="Arial"/>
              </a:rPr>
              <a:t>RESILIENCE</a:t>
            </a:r>
          </a:p>
        </p:txBody>
      </p:sp>
      <p:sp>
        <p:nvSpPr>
          <p:cNvPr id="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1E71CCFB-2E3C-4CB3-A995-426B1E8BF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418373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30079A1-45AC-46C2-A6DE-47EAC68CF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Security and operability are part of the order path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5AF4A3F-63E2-4519-900F-251F7594E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Controls follow the same four layers as the request, data, and evidence.</a:t>
            </a:r>
          </a:p>
        </p:txBody>
      </p:sp>
      <p:cxnSp>
        <p:nvCxnSpPr>
          <p:cNvPr id="34" name="title-rule"/>
          <p:cNvCxnSpPr/>
          <p:nvPr/>
        </p:nvCxnSpPr>
        <p:spPr>
          <a:xfrm xmlns:a="http://schemas.openxmlformats.org/drawingml/2006/main">
            <a:off x="609600" y="1495425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6C0"/>
            </a:solidFill>
            <a:prstDash val="solid"/>
          </a:ln>
        </p:spPr>
      </p:cxnSp>
      <p:sp>
        <p:nvSpPr>
          <p:cNvPr id="4" name="dot-01">
            <a:extLst xmlns:a="http://schemas.openxmlformats.org/drawingml/2006/main">
              <a:ext uri="{FF2B5EF4-FFF2-40B4-BE49-F238E27FC236}">
                <a16:creationId xmlns:a16="http://schemas.microsoft.com/office/drawing/2014/main" id="{838F24A6-3441-435C-A4C8-555921F0A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847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44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E3DC670-249A-43E0-B59E-FA8F45C8A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37004"/>
            <a:ext cx="495300" cy="307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9E6A219-B686-4DBC-9BBD-3D894F3E7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8573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Identity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25D557B-6ED9-415D-BE26-AA9EB3BAA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954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442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0442F"/>
                </a:solidFill>
                <a:latin typeface="Arial"/>
                <a:ea typeface="Arial"/>
                <a:cs typeface="Arial"/>
              </a:rPr>
              <a:t>OIDC + PKCE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C4E3015-0985-40D0-9265-A9D6795A1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876425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Short-lived tokens, refresh rotation, RBAC + ownership</a:t>
            </a:r>
          </a:p>
        </p:txBody>
      </p:sp>
      <p:cxnSp>
        <p:nvCxnSpPr>
          <p:cNvPr id="40" name="security-rule-0"/>
          <p:cNvCxnSpPr/>
          <p:nvPr/>
        </p:nvCxnSpPr>
        <p:spPr>
          <a:xfrm xmlns:a="http://schemas.openxmlformats.org/drawingml/2006/main">
            <a:off x="1409700" y="2514600"/>
            <a:ext cx="98774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6C0"/>
            </a:solidFill>
            <a:prstDash val="solid"/>
          </a:ln>
        </p:spPr>
      </p:cxnSp>
      <p:sp>
        <p:nvSpPr>
          <p:cNvPr id="10" name="dot-02">
            <a:extLst xmlns:a="http://schemas.openxmlformats.org/drawingml/2006/main">
              <a:ext uri="{FF2B5EF4-FFF2-40B4-BE49-F238E27FC236}">
                <a16:creationId xmlns:a16="http://schemas.microsoft.com/office/drawing/2014/main" id="{647A545E-90E8-49AD-AF21-1CA57EB5B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8384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7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DF6CE2C-A5B2-4ECB-9C95-75BB7747B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927604"/>
            <a:ext cx="495300" cy="307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8B1D67A-8982-4F00-92E4-855644310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Boundary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254DA38-FAB7-4CE9-AEE7-1448655E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860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442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0442F"/>
                </a:solidFill>
                <a:latin typeface="Arial"/>
                <a:ea typeface="Arial"/>
                <a:cs typeface="Arial"/>
              </a:rPr>
              <a:t>TLS + validation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5981C578-3068-49A1-A44F-2B7703836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867025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Rate limits, payload limits, signed webhooks, replay protection</a:t>
            </a:r>
          </a:p>
        </p:txBody>
      </p:sp>
      <p:cxnSp>
        <p:nvCxnSpPr>
          <p:cNvPr id="46" name="security-rule-1"/>
          <p:cNvCxnSpPr/>
          <p:nvPr/>
        </p:nvCxnSpPr>
        <p:spPr>
          <a:xfrm xmlns:a="http://schemas.openxmlformats.org/drawingml/2006/main">
            <a:off x="1409700" y="3505200"/>
            <a:ext cx="98774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6C0"/>
            </a:solidFill>
            <a:prstDash val="solid"/>
          </a:ln>
        </p:spPr>
      </p:cxnSp>
      <p:sp>
        <p:nvSpPr>
          <p:cNvPr id="16" name="dot-03">
            <a:extLst xmlns:a="http://schemas.openxmlformats.org/drawingml/2006/main">
              <a:ext uri="{FF2B5EF4-FFF2-40B4-BE49-F238E27FC236}">
                <a16:creationId xmlns:a16="http://schemas.microsoft.com/office/drawing/2014/main" id="{468063EC-7B3B-4421-9DAD-DA160CC8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8290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7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397A1A4F-733B-49A1-AF1F-DAC2F28CE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918204"/>
            <a:ext cx="495300" cy="307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7A96AC3-496E-46AA-9B60-B0E6F7F43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385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11A41DF3-F64F-4C1C-A109-E5EF578F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766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F35"/>
                </a:solidFill>
                <a:latin typeface="Arial"/>
                <a:ea typeface="Arial"/>
                <a:cs typeface="Arial"/>
              </a:rPr>
              <a:t>Minimize + encrypt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DE1795E8-79B7-4B39-BFE8-E6E8741A4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857625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Provider-held card data, protected PII, scoped courier visibility</a:t>
            </a:r>
          </a:p>
        </p:txBody>
      </p:sp>
      <p:cxnSp>
        <p:nvCxnSpPr>
          <p:cNvPr id="52" name="security-rule-2"/>
          <p:cNvCxnSpPr/>
          <p:nvPr/>
        </p:nvCxnSpPr>
        <p:spPr>
          <a:xfrm xmlns:a="http://schemas.openxmlformats.org/drawingml/2006/main">
            <a:off x="1409700" y="4495800"/>
            <a:ext cx="98774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6C0"/>
            </a:solidFill>
            <a:prstDash val="solid"/>
          </a:ln>
        </p:spPr>
      </p:cxnSp>
      <p:sp>
        <p:nvSpPr>
          <p:cNvPr id="22" name="dot-04">
            <a:extLst xmlns:a="http://schemas.openxmlformats.org/drawingml/2006/main">
              <a:ext uri="{FF2B5EF4-FFF2-40B4-BE49-F238E27FC236}">
                <a16:creationId xmlns:a16="http://schemas.microsoft.com/office/drawing/2014/main" id="{3D1BDACF-CFCE-40E5-AE8C-8CC330090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8196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7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7ADF9FC0-5A8D-4AFD-BA57-215673E8D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908804"/>
            <a:ext cx="495300" cy="307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DDB17E75-CCBB-4A15-ADD6-845B02555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8291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15AD8829-FB01-4B97-AD41-4CB0D133A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8672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442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0442F"/>
                </a:solidFill>
                <a:latin typeface="Arial"/>
                <a:ea typeface="Arial"/>
                <a:cs typeface="Arial"/>
              </a:rPr>
              <a:t>Trace + audit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04EDDB15-D530-4313-B62E-68248C24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848225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Correlation IDs, immutable transitions, privileged-action logs</a:t>
            </a:r>
          </a:p>
        </p:txBody>
      </p:sp>
      <p:cxnSp>
        <p:nvCxnSpPr>
          <p:cNvPr id="58" name="security-rule-3"/>
          <p:cNvCxnSpPr/>
          <p:nvPr/>
        </p:nvCxnSpPr>
        <p:spPr>
          <a:xfrm xmlns:a="http://schemas.openxmlformats.org/drawingml/2006/main">
            <a:off x="1409700" y="5486400"/>
            <a:ext cx="98774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6C0"/>
            </a:solidFill>
            <a:prstDash val="solid"/>
          </a:ln>
        </p:spPr>
      </p:cxnSp>
      <p:sp>
        <p:nvSpPr>
          <p:cNvPr id="28" name="security-bottom">
            <a:extLst xmlns:a="http://schemas.openxmlformats.org/drawingml/2006/main">
              <a:ext uri="{FF2B5EF4-FFF2-40B4-BE49-F238E27FC236}">
                <a16:creationId xmlns:a16="http://schemas.microsoft.com/office/drawing/2014/main" id="{830C6A47-F828-4BC2-877D-249D7B41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810250"/>
            <a:ext cx="10591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B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24CCD8C2-C198-4783-9A79-83A031E8F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05500"/>
            <a:ext cx="1019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F35"/>
                </a:solidFill>
                <a:latin typeface="Arial"/>
                <a:ea typeface="Arial"/>
                <a:cs typeface="Arial"/>
              </a:rPr>
              <a:t>Business invariants become alerts: stuck orders, unmatched captures, excess refunds, conflicting courier assignments.</a:t>
            </a:r>
          </a:p>
        </p:txBody>
      </p:sp>
      <p:sp>
        <p:nvSpPr>
          <p:cNvPr id="30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E6B1F0BB-1EAC-4B0D-B101-596649D5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06E68"/>
                </a:solidFill>
                <a:latin typeface="Arial"/>
                <a:ea typeface="Arial"/>
                <a:cs typeface="Arial"/>
              </a:rPr>
              <a:t>SECURITY + OPERATIONS</a:t>
            </a:r>
          </a:p>
        </p:txBody>
      </p:sp>
      <p:sp>
        <p:nvSpPr>
          <p:cNvPr id="31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0960B60-AB45-4882-99C7-52203E585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0480987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label-CUSTOMER EXPERIENCE">
            <a:extLst xmlns:a="http://schemas.openxmlformats.org/drawingml/2006/main">
              <a:ext uri="{FF2B5EF4-FFF2-40B4-BE49-F238E27FC236}">
                <a16:creationId xmlns:a16="http://schemas.microsoft.com/office/drawing/2014/main" id="{D4CBE6AF-FEB6-40B8-8AEB-D9B604A94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0442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0442F"/>
                </a:solidFill>
                <a:latin typeface="Arial"/>
                <a:ea typeface="Arial"/>
                <a:cs typeface="Arial"/>
              </a:rPr>
              <a:t>CUSTOMER EXPERIENCE</a:t>
            </a:r>
          </a:p>
        </p:txBody>
      </p:sp>
      <p:sp>
        <p:nvSpPr>
          <p:cNvPr id="2" name="experience-title">
            <a:extLst xmlns:a="http://schemas.openxmlformats.org/drawingml/2006/main">
              <a:ext uri="{FF2B5EF4-FFF2-40B4-BE49-F238E27FC236}">
                <a16:creationId xmlns:a16="http://schemas.microsoft.com/office/drawing/2014/main" id="{312CD3CE-EE65-4E26-B352-CA5904DDD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47148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532"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Operational complexity</a:t>
            </a:r>
          </a:p>
          <a:p xmlns:a="http://schemas.openxmlformats.org/drawingml/2006/main">
            <a:pPr algn="l">
              <a:defRPr sz="3375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stays behind the glass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86FB6795-A65B-4EED-9EF3-EB27C0E06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86050"/>
            <a:ext cx="4381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The customer sees clear choices, current delivery context, and one obvious next action - while retries and reconciliation happen underneath.</a:t>
            </a:r>
          </a:p>
        </p:txBody>
      </p:sp>
      <p:sp>
        <p:nvSpPr>
          <p:cNvPr id="4" name="dot-1">
            <a:extLst xmlns:a="http://schemas.openxmlformats.org/drawingml/2006/main">
              <a:ext uri="{FF2B5EF4-FFF2-40B4-BE49-F238E27FC236}">
                <a16:creationId xmlns:a16="http://schemas.microsoft.com/office/drawing/2014/main" id="{CA34FCE6-1E3A-4C4E-8530-15664E3B4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386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44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CE6BF95-772F-4FF0-90CE-03259FB16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79773"/>
            <a:ext cx="228600" cy="1417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82CDEDE-2D57-4ADA-8B0A-3E6A81494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481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Editorial discovery</a:t>
            </a:r>
          </a:p>
        </p:txBody>
      </p:sp>
      <p:sp>
        <p:nvSpPr>
          <p:cNvPr id="7" name="dot-2">
            <a:extLst xmlns:a="http://schemas.openxmlformats.org/drawingml/2006/main">
              <a:ext uri="{FF2B5EF4-FFF2-40B4-BE49-F238E27FC236}">
                <a16:creationId xmlns:a16="http://schemas.microsoft.com/office/drawing/2014/main" id="{6538C956-B45C-42F8-A397-52A43C918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148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ED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1F30B49-6966-4C01-9B61-6F1975132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56023"/>
            <a:ext cx="228600" cy="1417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770920B-35A9-4F80-B881-7E08B9A44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244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Live order context</a:t>
            </a:r>
          </a:p>
        </p:txBody>
      </p:sp>
      <p:sp>
        <p:nvSpPr>
          <p:cNvPr id="10" name="dot-3">
            <a:extLst xmlns:a="http://schemas.openxmlformats.org/drawingml/2006/main">
              <a:ext uri="{FF2B5EF4-FFF2-40B4-BE49-F238E27FC236}">
                <a16:creationId xmlns:a16="http://schemas.microsoft.com/office/drawing/2014/main" id="{51606A5C-349B-43BE-8ECB-6FCE9C42D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911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ED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EC0EC66-231C-4813-BDE0-879F38AFC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32273"/>
            <a:ext cx="228600" cy="1417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33AB167-9172-46B9-8071-240695D01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2006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Focused checkout</a:t>
            </a:r>
          </a:p>
        </p:txBody>
      </p:sp>
      <p:sp>
        <p:nvSpPr>
          <p:cNvPr id="13" name="experience-image-backing">
            <a:extLst xmlns:a="http://schemas.openxmlformats.org/drawingml/2006/main">
              <a:ext uri="{FF2B5EF4-FFF2-40B4-BE49-F238E27FC236}">
                <a16:creationId xmlns:a16="http://schemas.microsoft.com/office/drawing/2014/main" id="{806A8F68-E9B1-47D1-A5E9-70540D945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81000"/>
            <a:ext cx="5924550" cy="5905500"/>
          </a:xfrm>
          <a:prstGeom xmlns:a="http://schemas.openxmlformats.org/drawingml/2006/main" prst="roundRect">
            <a:avLst>
              <a:gd name="adj" fmla="val 2903"/>
            </a:avLst>
          </a:prstGeom>
          <a:solidFill xmlns:a="http://schemas.openxmlformats.org/drawingml/2006/main">
            <a:srgbClr val="173F35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bd68647ca64ccb"/>
          <a:srcRect xmlns:a="http://schemas.openxmlformats.org/drawingml/2006/main" l="18644" t="0" r="1864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91200" y="514350"/>
            <a:ext cx="5657850" cy="5638800"/>
          </a:xfrm>
          <a:prstGeom xmlns:a="http://schemas.openxmlformats.org/drawingml/2006/main" prst="roundRect">
            <a:avLst>
              <a:gd name="adj" fmla="val 2365"/>
            </a:avLst>
          </a:prstGeom>
        </p:spPr>
      </p:pic>
      <p:sp>
        <p:nvSpPr>
          <p:cNvPr id="15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87B797DC-6527-41E8-A8CE-24446C5D8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06E68"/>
                </a:solidFill>
                <a:latin typeface="Arial"/>
                <a:ea typeface="Arial"/>
                <a:cs typeface="Arial"/>
              </a:rPr>
              <a:t>EXPERIENCE DESIGN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058248AA-BCDD-4747-BD51-D22B3AE16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9554863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1BC7FBC-83CC-4D3B-AB3C-032AC696F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Release value in safe vertical slices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A3EA699-8F08-4ED3-959A-8D625A56B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Each phase ends with evidence, not just feature completion.</a:t>
            </a:r>
          </a:p>
        </p:txBody>
      </p:sp>
      <p:cxnSp>
        <p:nvCxnSpPr>
          <p:cNvPr id="37" name="title-rule"/>
          <p:cNvCxnSpPr/>
          <p:nvPr/>
        </p:nvCxnSpPr>
        <p:spPr>
          <a:xfrm xmlns:a="http://schemas.openxmlformats.org/drawingml/2006/main">
            <a:off x="609600" y="1495425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6C0"/>
            </a:solidFill>
            <a:prstDash val="solid"/>
          </a:ln>
        </p:spPr>
      </p:cxnSp>
      <p:cxnSp>
        <p:nvCxnSpPr>
          <p:cNvPr id="38" name="roadmap-line"/>
          <p:cNvCxnSpPr/>
          <p:nvPr/>
        </p:nvCxnSpPr>
        <p:spPr>
          <a:xfrm xmlns:a="http://schemas.openxmlformats.org/drawingml/2006/main">
            <a:off x="1000125" y="3009900"/>
            <a:ext cx="10096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3"/>
            </a:solidFill>
            <a:prstDash val="solid"/>
          </a:ln>
        </p:spPr>
      </p:cxnSp>
      <p:sp>
        <p:nvSpPr>
          <p:cNvPr id="5" name="dot-0">
            <a:extLst xmlns:a="http://schemas.openxmlformats.org/drawingml/2006/main">
              <a:ext uri="{FF2B5EF4-FFF2-40B4-BE49-F238E27FC236}">
                <a16:creationId xmlns:a16="http://schemas.microsoft.com/office/drawing/2014/main" id="{9CB91581-4521-4500-BB12-1DD076490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336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44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3197060-CDDB-42A5-9381-55036CB3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33116"/>
            <a:ext cx="552450" cy="342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" name="label-PHASE 0">
            <a:extLst xmlns:a="http://schemas.openxmlformats.org/drawingml/2006/main">
              <a:ext uri="{FF2B5EF4-FFF2-40B4-BE49-F238E27FC236}">
                <a16:creationId xmlns:a16="http://schemas.microsoft.com/office/drawing/2014/main" id="{BA0FFE0B-830F-490A-8AFD-682A3276D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0442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0442F"/>
                </a:solidFill>
                <a:latin typeface="Arial"/>
                <a:ea typeface="Arial"/>
                <a:cs typeface="Arial"/>
              </a:rPr>
              <a:t>PHASE 0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FF26E98-B4C2-4291-9EAC-1D41F2F06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9092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Foundations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32B626A-C8F7-47F4-ADDE-DE941100B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48125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Auth, CI, environments, tracing</a:t>
            </a:r>
          </a:p>
        </p:txBody>
      </p:sp>
      <p:cxnSp>
        <p:nvCxnSpPr>
          <p:cNvPr id="44" name="phase-rule-0"/>
          <p:cNvCxnSpPr/>
          <p:nvPr/>
        </p:nvCxnSpPr>
        <p:spPr>
          <a:xfrm xmlns:a="http://schemas.openxmlformats.org/drawingml/2006/main">
            <a:off x="666750" y="4743450"/>
            <a:ext cx="23336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6C0"/>
            </a:solidFill>
            <a:prstDash val="solid"/>
          </a:ln>
        </p:spPr>
      </p:cxn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9F7FF07-8C93-48CB-A2AA-F26E10210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2333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EXIT GATE</a:t>
            </a:r>
          </a:p>
          <a:p xmlns:a="http://schemas.openxmlformats.org/drawingml/2006/main">
            <a:pPr algn="l">
              <a:defRPr sz="1125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Traced command reaches DB + Kafka</a:t>
            </a:r>
          </a:p>
        </p:txBody>
      </p:sp>
      <p:sp>
        <p:nvSpPr>
          <p:cNvPr id="12" name="dot-1">
            <a:extLst xmlns:a="http://schemas.openxmlformats.org/drawingml/2006/main">
              <a:ext uri="{FF2B5EF4-FFF2-40B4-BE49-F238E27FC236}">
                <a16:creationId xmlns:a16="http://schemas.microsoft.com/office/drawing/2014/main" id="{231BFAAF-3B4E-4092-8A21-BAF7D381E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336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7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4CE349C-48C7-4956-B8E1-740682D6B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33116"/>
            <a:ext cx="552450" cy="342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4" name="label-PHASE 1">
            <a:extLst xmlns:a="http://schemas.openxmlformats.org/drawingml/2006/main">
              <a:ext uri="{FF2B5EF4-FFF2-40B4-BE49-F238E27FC236}">
                <a16:creationId xmlns:a16="http://schemas.microsoft.com/office/drawing/2014/main" id="{F0238978-72DD-43DF-8AD9-2C624684F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764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0442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0442F"/>
                </a:solidFill>
                <a:latin typeface="Arial"/>
                <a:ea typeface="Arial"/>
                <a:cs typeface="Arial"/>
              </a:rPr>
              <a:t>PHASE 1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ADBB1F8-00EF-43AB-857F-FA526CBEE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9092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Order core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3A965226-2222-4DC0-B152-996796E49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48125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Catalog, checkout, restaurant, payment</a:t>
            </a:r>
          </a:p>
        </p:txBody>
      </p:sp>
      <p:cxnSp>
        <p:nvCxnSpPr>
          <p:cNvPr id="51" name="phase-rule-1"/>
          <p:cNvCxnSpPr/>
          <p:nvPr/>
        </p:nvCxnSpPr>
        <p:spPr>
          <a:xfrm xmlns:a="http://schemas.openxmlformats.org/drawingml/2006/main">
            <a:off x="3524250" y="4743450"/>
            <a:ext cx="23336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6C0"/>
            </a:solidFill>
            <a:prstDash val="solid"/>
          </a:ln>
        </p:spPr>
      </p:cxn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FAAC6C90-07AA-4762-B628-DA1872014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914900"/>
            <a:ext cx="2333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EXIT GATE</a:t>
            </a:r>
          </a:p>
          <a:p xmlns:a="http://schemas.openxmlformats.org/drawingml/2006/main">
            <a:pPr algn="l">
              <a:defRPr sz="1125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Payment compensations pass</a:t>
            </a:r>
          </a:p>
        </p:txBody>
      </p:sp>
      <p:sp>
        <p:nvSpPr>
          <p:cNvPr id="19" name="dot-2">
            <a:extLst xmlns:a="http://schemas.openxmlformats.org/drawingml/2006/main">
              <a:ext uri="{FF2B5EF4-FFF2-40B4-BE49-F238E27FC236}">
                <a16:creationId xmlns:a16="http://schemas.microsoft.com/office/drawing/2014/main" id="{63B8E8EA-6CDA-495D-8D14-FE60259C0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336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7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1FDFDB9A-97CA-45ED-9871-F3FBEEF28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33116"/>
            <a:ext cx="552450" cy="342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1" name="label-PHASE 2">
            <a:extLst xmlns:a="http://schemas.openxmlformats.org/drawingml/2006/main">
              <a:ext uri="{FF2B5EF4-FFF2-40B4-BE49-F238E27FC236}">
                <a16:creationId xmlns:a16="http://schemas.microsoft.com/office/drawing/2014/main" id="{531A7336-EF7A-4904-AA6F-B96C97808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764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0442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0442F"/>
                </a:solidFill>
                <a:latin typeface="Arial"/>
                <a:ea typeface="Arial"/>
                <a:cs typeface="Arial"/>
              </a:rPr>
              <a:t>PHASE 2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319A9D1B-2862-4B8D-A054-B6589FC6E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9092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Delivery + live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C3474B7E-DFB9-4A7A-94EB-7A9BA294F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48125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Dispatch, courier, GPS, WebSocket</a:t>
            </a:r>
          </a:p>
        </p:txBody>
      </p:sp>
      <p:cxnSp>
        <p:nvCxnSpPr>
          <p:cNvPr id="58" name="phase-rule-2"/>
          <p:cNvCxnSpPr/>
          <p:nvPr/>
        </p:nvCxnSpPr>
        <p:spPr>
          <a:xfrm xmlns:a="http://schemas.openxmlformats.org/drawingml/2006/main">
            <a:off x="6381750" y="4743450"/>
            <a:ext cx="23336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6C0"/>
            </a:solidFill>
            <a:prstDash val="solid"/>
          </a:ln>
        </p:spPr>
      </p:cxn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1E734B92-A11B-41C7-A8DA-8AC0C26C7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914900"/>
            <a:ext cx="2333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EXIT GATE</a:t>
            </a:r>
          </a:p>
          <a:p xmlns:a="http://schemas.openxmlformats.org/drawingml/2006/main">
            <a:pPr algn="l">
              <a:defRPr sz="1125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End-to-end retry path passes</a:t>
            </a:r>
          </a:p>
        </p:txBody>
      </p:sp>
      <p:sp>
        <p:nvSpPr>
          <p:cNvPr id="26" name="dot-3">
            <a:extLst xmlns:a="http://schemas.openxmlformats.org/drawingml/2006/main">
              <a:ext uri="{FF2B5EF4-FFF2-40B4-BE49-F238E27FC236}">
                <a16:creationId xmlns:a16="http://schemas.microsoft.com/office/drawing/2014/main" id="{851DD48A-CA09-4090-9DCD-E6256664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336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284CD2CA-2AB6-425C-AE8C-D633D2D17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33116"/>
            <a:ext cx="552450" cy="342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8" name="label-PHASE 3">
            <a:extLst xmlns:a="http://schemas.openxmlformats.org/drawingml/2006/main">
              <a:ext uri="{FF2B5EF4-FFF2-40B4-BE49-F238E27FC236}">
                <a16:creationId xmlns:a16="http://schemas.microsoft.com/office/drawing/2014/main" id="{CAB925F5-5832-490D-A5BC-1E13A70E2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764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3F35"/>
                </a:solidFill>
                <a:latin typeface="Arial"/>
                <a:ea typeface="Arial"/>
                <a:cs typeface="Arial"/>
              </a:rPr>
              <a:t>PHASE 3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01E5FF27-45F5-43B5-A982-B33540E1C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59092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Hardening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12BB57F5-E69D-490B-9604-9DAD4F3A9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048125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Load, chaos, restore, security</a:t>
            </a:r>
          </a:p>
        </p:txBody>
      </p:sp>
      <p:cxnSp>
        <p:nvCxnSpPr>
          <p:cNvPr id="65" name="phase-rule-3"/>
          <p:cNvCxnSpPr/>
          <p:nvPr/>
        </p:nvCxnSpPr>
        <p:spPr>
          <a:xfrm xmlns:a="http://schemas.openxmlformats.org/drawingml/2006/main">
            <a:off x="9239250" y="4743450"/>
            <a:ext cx="23336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6C0"/>
            </a:solidFill>
            <a:prstDash val="solid"/>
          </a:ln>
        </p:spPr>
      </p:cxn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BA18242C-161E-4551-906C-6B54AB4E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914900"/>
            <a:ext cx="2333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EXIT GATE</a:t>
            </a:r>
          </a:p>
          <a:p xmlns:a="http://schemas.openxmlformats.org/drawingml/2006/main">
            <a:pPr algn="l">
              <a:defRPr sz="1125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Owners approve launch + rollback</a:t>
            </a:r>
          </a:p>
        </p:txBody>
      </p:sp>
      <p:sp>
        <p:nvSpPr>
          <p:cNvPr id="33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7F97AE21-8A40-4B2A-A3E1-47E7FBCFD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06E68"/>
                </a:solidFill>
                <a:latin typeface="Arial"/>
                <a:ea typeface="Arial"/>
                <a:cs typeface="Arial"/>
              </a:rPr>
              <a:t>IMPLEMENTATION PLAN</a:t>
            </a:r>
          </a:p>
        </p:txBody>
      </p:sp>
      <p:sp>
        <p:nvSpPr>
          <p:cNvPr id="3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7FDACEC8-AC4B-4C5B-98D2-036734661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920747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D3DEA7F-C2C0-4B19-81F7-FAE407C7E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Recovery evidence is the production gate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7B85B15-8373-4E59-A93A-030CEDA6A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Feature completeness is necessary; operational evidence is the launch criterion.</a:t>
            </a:r>
          </a:p>
        </p:txBody>
      </p:sp>
      <p:cxnSp>
        <p:nvCxnSpPr>
          <p:cNvPr id="35" name="title-rule"/>
          <p:cNvCxnSpPr/>
          <p:nvPr/>
        </p:nvCxnSpPr>
        <p:spPr>
          <a:xfrm xmlns:a="http://schemas.openxmlformats.org/drawingml/2006/main">
            <a:off x="609600" y="1495425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6C0"/>
            </a:solidFill>
            <a:prstDash val="solid"/>
          </a:ln>
        </p:spPr>
      </p:cxn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E973DDE-5BF2-4812-A34D-FB36C6DD7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442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0442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5AE99F8-11DD-4B4A-A0ED-F6C13AC2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7907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End-to-end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F65A183-5E94-47A5-ACC7-AD9D2E186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62175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Happy path and duplicate requests pass across all three apps.</a:t>
            </a:r>
          </a:p>
        </p:txBody>
      </p:sp>
      <p:cxnSp>
        <p:nvCxnSpPr>
          <p:cNvPr id="39" name="gate-rule-0"/>
          <p:cNvCxnSpPr/>
          <p:nvPr/>
        </p:nvCxnSpPr>
        <p:spPr>
          <a:xfrm xmlns:a="http://schemas.openxmlformats.org/drawingml/2006/main">
            <a:off x="666750" y="2771775"/>
            <a:ext cx="4953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6C0"/>
            </a:solidFill>
            <a:prstDash val="solid"/>
          </a:ln>
        </p:spPr>
      </p:cxn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38D7965-3D96-4165-B727-C5CB5AC67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8097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442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0442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AEAC28C-5EE4-477A-9798-720292277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17907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Financial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FA9E523-9A15-4F3D-B9E2-CD3B1B44B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162175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Authorize, capture, void, refund, and reconciliation agree.</a:t>
            </a:r>
          </a:p>
        </p:txBody>
      </p:sp>
      <p:cxnSp>
        <p:nvCxnSpPr>
          <p:cNvPr id="43" name="gate-rule-1"/>
          <p:cNvCxnSpPr/>
          <p:nvPr/>
        </p:nvCxnSpPr>
        <p:spPr>
          <a:xfrm xmlns:a="http://schemas.openxmlformats.org/drawingml/2006/main">
            <a:off x="6143625" y="2771775"/>
            <a:ext cx="4953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6C0"/>
            </a:solidFill>
            <a:prstDash val="solid"/>
          </a:ln>
        </p:spPr>
      </p:cxn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CE0507B-5D62-4672-91C4-E4129EA7B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67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442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0442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A69FD79-3054-4AF8-AB2F-11B41AB71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0480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Resilience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7D2233C4-A5AB-4F2D-A2FD-F0C9FFABD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19475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Failover, replay, DLQ repair, and provider outage are rehearsed.</a:t>
            </a:r>
          </a:p>
        </p:txBody>
      </p:sp>
      <p:cxnSp>
        <p:nvCxnSpPr>
          <p:cNvPr id="47" name="gate-rule-2"/>
          <p:cNvCxnSpPr/>
          <p:nvPr/>
        </p:nvCxnSpPr>
        <p:spPr>
          <a:xfrm xmlns:a="http://schemas.openxmlformats.org/drawingml/2006/main">
            <a:off x="666750" y="4029075"/>
            <a:ext cx="4953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6C0"/>
            </a:solidFill>
            <a:prstDash val="solid"/>
          </a:ln>
        </p:spPr>
      </p:cxn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25E6D858-D378-4EBE-B318-4A6567EF8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67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442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0442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1B93C85F-784E-4885-8762-B9D3381EF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30480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Security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14A35EF0-4A11-4AD2-93DC-9833D2F01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3419475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Role boundaries, webhook replay, rate limits, and PII controls pass.</a:t>
            </a:r>
          </a:p>
        </p:txBody>
      </p:sp>
      <p:cxnSp>
        <p:nvCxnSpPr>
          <p:cNvPr id="51" name="gate-rule-3"/>
          <p:cNvCxnSpPr/>
          <p:nvPr/>
        </p:nvCxnSpPr>
        <p:spPr>
          <a:xfrm xmlns:a="http://schemas.openxmlformats.org/drawingml/2006/main">
            <a:off x="6143625" y="4029075"/>
            <a:ext cx="4953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6C0"/>
            </a:solidFill>
            <a:prstDash val="solid"/>
          </a:ln>
        </p:spPr>
      </p:cxn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56538AF1-BB1F-44A8-9447-0A8184B54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243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442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0442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48A528EC-717A-4004-905C-CA61A3E10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053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Performance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F2A2BCD6-76F9-4A35-A27C-658D8B66F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76775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Order, catalog, tracking, GPS, and consumer-lag targets hold.</a:t>
            </a:r>
          </a:p>
        </p:txBody>
      </p:sp>
      <p:cxnSp>
        <p:nvCxnSpPr>
          <p:cNvPr id="55" name="gate-rule-4"/>
          <p:cNvCxnSpPr/>
          <p:nvPr/>
        </p:nvCxnSpPr>
        <p:spPr>
          <a:xfrm xmlns:a="http://schemas.openxmlformats.org/drawingml/2006/main">
            <a:off x="666750" y="5286375"/>
            <a:ext cx="4953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6C0"/>
            </a:solidFill>
            <a:prstDash val="solid"/>
          </a:ln>
        </p:spPr>
      </p:cxn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29D2BAB1-315D-4D02-950E-A171ECE61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3243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442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0442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EBECDEF1-9BDA-41B3-A07D-BFD9EA6A1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43053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Ownership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146FA49F-C9D8-4AF5-937A-6C881536E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4676775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Dashboards, alerts, runbooks, rollback, and on-call owners exist.</a:t>
            </a:r>
          </a:p>
        </p:txBody>
      </p:sp>
      <p:cxnSp>
        <p:nvCxnSpPr>
          <p:cNvPr id="59" name="gate-rule-5"/>
          <p:cNvCxnSpPr/>
          <p:nvPr/>
        </p:nvCxnSpPr>
        <p:spPr>
          <a:xfrm xmlns:a="http://schemas.openxmlformats.org/drawingml/2006/main">
            <a:off x="6143625" y="5286375"/>
            <a:ext cx="4953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6C0"/>
            </a:solidFill>
            <a:prstDash val="solid"/>
          </a:ln>
        </p:spPr>
      </p:cxnSp>
      <p:sp>
        <p:nvSpPr>
          <p:cNvPr id="28" name="launch-decision">
            <a:extLst xmlns:a="http://schemas.openxmlformats.org/drawingml/2006/main">
              <a:ext uri="{FF2B5EF4-FFF2-40B4-BE49-F238E27FC236}">
                <a16:creationId xmlns:a16="http://schemas.microsoft.com/office/drawing/2014/main" id="{9500B2F7-FC17-4527-BB0F-54A5DB32E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57850"/>
            <a:ext cx="10429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4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EEA7B873-ACDB-417E-BF56-4A7824DA6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293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DECISION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C4740C8B-3EB3-4D45-8F06-071BA27D8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791200"/>
            <a:ext cx="833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Approve a staged city pilot only when all six evidence gates are green.</a:t>
            </a:r>
          </a:p>
        </p:txBody>
      </p:sp>
      <p:sp>
        <p:nvSpPr>
          <p:cNvPr id="31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C31E657B-16AC-4A64-B29B-F045AF1BA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06E68"/>
                </a:solidFill>
                <a:latin typeface="Arial"/>
                <a:ea typeface="Arial"/>
                <a:cs typeface="Arial"/>
              </a:rPr>
              <a:t>LAUNCH READINESS</a:t>
            </a:r>
          </a:p>
        </p:txBody>
      </p:sp>
      <p:sp>
        <p:nvSpPr>
          <p:cNvPr id="32" name="footer-page">
            <a:extLst xmlns:a="http://schemas.openxmlformats.org/drawingml/2006/main">
              <a:ext uri="{FF2B5EF4-FFF2-40B4-BE49-F238E27FC236}">
                <a16:creationId xmlns:a16="http://schemas.microsoft.com/office/drawing/2014/main" id="{2B338624-302C-48CE-9F6C-D6E5C048C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01113740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73F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label-FOODFLOW / NEXT MOVE">
            <a:extLst xmlns:a="http://schemas.openxmlformats.org/drawingml/2006/main">
              <a:ext uri="{FF2B5EF4-FFF2-40B4-BE49-F238E27FC236}">
                <a16:creationId xmlns:a16="http://schemas.microsoft.com/office/drawing/2014/main" id="{AD4B6E89-1C78-4478-9CE9-AA68BAC09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3C94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3C94B"/>
                </a:solidFill>
                <a:latin typeface="Arial"/>
                <a:ea typeface="Arial"/>
                <a:cs typeface="Arial"/>
              </a:rPr>
              <a:t>FOODFLOW / NEXT MOVE</a:t>
            </a:r>
          </a:p>
        </p:txBody>
      </p:sp>
      <p:sp>
        <p:nvSpPr>
          <p:cNvPr id="2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D03DD19D-4965-4178-8F84-4973364F3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7429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Ready for staged</a:t>
            </a:r>
          </a:p>
          <a:p xmlns:a="http://schemas.openxmlformats.org/drawingml/2006/main">
            <a:pPr algn="l">
              <a:defRPr sz="4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implementation.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B2426F7D-3AB7-4C14-81A7-2F59EFFB3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238500"/>
            <a:ext cx="609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5D5D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5D5D0"/>
                </a:solidFill>
                <a:latin typeface="Arial"/>
                <a:ea typeface="Arial"/>
                <a:cs typeface="Arial"/>
              </a:rPr>
              <a:t>The core design now connects experience, state, contracts, data, failure handling, and launch gates.</a:t>
            </a:r>
          </a:p>
        </p:txBody>
      </p:sp>
      <p:cxnSp>
        <p:nvCxnSpPr>
          <p:cNvPr id="16" name="closing-rule"/>
          <p:cNvCxnSpPr/>
          <p:nvPr/>
        </p:nvCxnSpPr>
        <p:spPr>
          <a:xfrm xmlns:a="http://schemas.openxmlformats.org/drawingml/2006/main">
            <a:off x="628650" y="4505325"/>
            <a:ext cx="10191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6877E"/>
            </a:solidFill>
            <a:prstDash val="solid"/>
          </a:ln>
        </p:spPr>
      </p:cxn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8EE4FB2-96C1-4DE1-B39A-7148738C0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053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3C94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3C94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F4C7115-D74E-4DB9-B9F1-8F3812DA2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7680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Confirm capacity inputs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7205100-9D08-4033-B4B6-B30272A2A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9053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3C94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3C94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4266216-9068-42BC-86E1-CF0F3DB8B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87680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Resolve policy decisions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B222C10-45F4-430F-ADAB-0F9C06BCB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9053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3C94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3C94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90AE2AB-7811-4540-A32A-46F2F6CF6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87680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Build the traced vertical slice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376F6F0-A3A4-43CA-B1E4-8871F9D9F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436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9A39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9A39C"/>
                </a:solidFill>
                <a:latin typeface="Arial"/>
                <a:ea typeface="Arial"/>
                <a:cs typeface="Arial"/>
              </a:rPr>
              <a:t>FoodFlow system design  •  2026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F7E4019-D4D2-423A-9EAE-4F85D4920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246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9A39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9A39C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6561359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2026-09-02T10:31:14.3740000Z</dcterms:created>
  <dcterms:modified xsi:type="dcterms:W3CDTF">2026-09-02T10:31:14.3740000Z</dcterms:modified>
</coreProperties>
</file>