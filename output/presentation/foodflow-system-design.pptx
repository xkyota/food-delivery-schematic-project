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68" r:id="rId3"/>
    <p:sldId id="269" r:id="rId4"/>
    <p:sldId id="257" r:id="rId5"/>
    <p:sldId id="258" r:id="rId6"/>
    <p:sldId id="259" r:id="rId7"/>
    <p:sldId id="260" r:id="rId8"/>
    <p:sldId id="261" r:id="rId9"/>
    <p:sldId id="262" r:id="rId10"/>
    <p:sldId id="264" r:id="rId11"/>
    <p:sldId id="265" r:id="rId12"/>
    <p:sldId id="266" r:id="rId13"/>
    <p:sldId id="267" r:id="rId14"/>
    <p:sldId id="270" r:id="rId15"/>
  </p:sldIdLst>
  <p:sldSz cx="12192000" cy="6858000"/>
  <p:notesSz cx="6858000" cy="9144000"/>
  <p:defaultTextStyle>
    <a:defPPr>
      <a:defRPr lang="en-LV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7"/>
    <p:restoredTop sz="94631"/>
  </p:normalViewPr>
  <p:slideViewPr>
    <p:cSldViewPr snapToGrid="0">
      <p:cViewPr>
        <p:scale>
          <a:sx n="99" d="100"/>
          <a:sy n="99" d="100"/>
        </p:scale>
        <p:origin x="1080" y="6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 with the coordination problem: three experiences must behave as one system.</a:t>
            </a:r>
          </a:p>
          <a:p>
            <a:endParaRPr/>
          </a:p>
          <a:p>
            <a:r>
              <a:t>[Sources]</a:t>
            </a:r>
          </a:p>
          <a:p>
            <a:r>
              <a:t>- /Users/xkyota/Development/food-delivery/overview.md</a:t>
            </a:r>
          </a:p>
          <a:p>
            <a:r>
              <a:t>- /Users/xkyota/Development/food-delivery/output/pdf/foodflow-ui-concept.pdf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119D4-88AF-38FE-3224-890DD2A90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B676F2-620B-3C5F-3583-ED3F8A32BE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F29A21-E699-F58C-0227-7FE04D3363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 with the coordination problem: three experiences must behave as one system.</a:t>
            </a:r>
          </a:p>
          <a:p>
            <a:endParaRPr/>
          </a:p>
          <a:p>
            <a:r>
              <a:t>[Sources]</a:t>
            </a:r>
          </a:p>
          <a:p>
            <a:r>
              <a:t>- /Users/xkyota/Development/food-delivery/overview.md</a:t>
            </a:r>
          </a:p>
          <a:p>
            <a:r>
              <a:t>- /Users/xkyota/Development/food-delivery/output/pdf/foodflow-ui-concept.pdf</a:t>
            </a:r>
          </a:p>
          <a:p>
            <a:r>
              <a:t>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74CC3B-D048-69FC-AB74-5F16333A0D27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793377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B70D8-0B71-BA8D-D552-CFF002627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CCDB9D-24A9-6EBC-8BB3-602AD639C5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3843B0-90A0-0E57-0011-C8E2A91802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 with the coordination problem: three experiences must behave as one system.</a:t>
            </a:r>
          </a:p>
          <a:p>
            <a:endParaRPr/>
          </a:p>
          <a:p>
            <a:r>
              <a:t>[Sources]</a:t>
            </a:r>
          </a:p>
          <a:p>
            <a:r>
              <a:t>- /Users/xkyota/Development/food-delivery/overview.md</a:t>
            </a:r>
          </a:p>
          <a:p>
            <a:r>
              <a:t>- /Users/xkyota/Development/food-delivery/output/pdf/foodflow-ui-concept.pdf</a:t>
            </a:r>
          </a:p>
          <a:p>
            <a:r>
              <a:t>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8F11B6-05E2-D250-4BD2-485A2A4D71E7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292218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/Users/xkyota/Development/food-delivery/overview.md</a:t>
            </a:r>
          </a:p>
          <a:p>
            <a:r>
              <a:t>- /Users/xkyota/Development/food-delivery/applications/customer-app.excalidraw</a:t>
            </a:r>
          </a:p>
          <a:p>
            <a:r>
              <a:t>- /Users/xkyota/Development/food-delivery/applications/restaurant-portal.excalidraw</a:t>
            </a:r>
          </a:p>
          <a:p>
            <a:r>
              <a:t>- /Users/xkyota/Development/food-delivery/applications/courier-app.excalidraw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/Users/xkyota/Development/food-delivery/requirements.md</a:t>
            </a:r>
          </a:p>
          <a:p>
            <a:r>
              <a:t>- /Users/xkyota/Development/food-delivery/service-contracts.md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/Users/xkyota/Development/food-delivery/foodflow-system-architecture.excalidraw</a:t>
            </a:r>
          </a:p>
          <a:p>
            <a:r>
              <a:t>- /Users/xkyota/Development/food-delivery/tech-stack.md</a:t>
            </a:r>
          </a:p>
          <a:p>
            <a:r>
              <a:t>- /Users/xkyota/Development/food-delivery/service-contracts.md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/Users/xkyota/Development/food-delivery/service-contracts.md</a:t>
            </a:r>
          </a:p>
          <a:p>
            <a:r>
              <a:t>- /Users/xkyota/Development/food-delivery/requirements.md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/Users/xkyota/Development/food-delivery/database-model.excalidraw</a:t>
            </a:r>
          </a:p>
          <a:p>
            <a:r>
              <a:t>- /Users/xkyota/Development/food-delivery/service-contracts.md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/Users/xkyota/Development/food-delivery/operations.md</a:t>
            </a:r>
          </a:p>
          <a:p>
            <a:r>
              <a:t>- /Users/xkyota/Development/food-delivery/requirements.md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/Users/xkyota/Development/food-delivery/output/pdf/foodflow-ui-concept.pdf</a:t>
            </a:r>
          </a:p>
          <a:p>
            <a:r>
              <a:t>- /Users/xkyota/Development/food-delivery/applications/customer-app.excalidraw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/Users/xkyota/Development/food-delivery/roadmap.md</a:t>
            </a:r>
          </a:p>
          <a:p>
            <a:r>
              <a:t>- /Users/xkyota/Development/food-delivery/requirements.md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/Users/xkyota/Development/food-delivery/roadmap.md</a:t>
            </a:r>
          </a:p>
          <a:p>
            <a:r>
              <a:t>- /Users/xkyota/Development/food-delivery/operations.md</a:t>
            </a:r>
          </a:p>
          <a:p>
            <a:r>
              <a:t>- /Users/xkyota/Development/food-delivery/requirements.md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Close on the next executable step: a traced vertical slice, not a broad feature build.</a:t>
            </a:r>
          </a:p>
          <a:p>
            <a:endParaRPr/>
          </a:p>
          <a:p>
            <a:r>
              <a:t>[Sources]</a:t>
            </a:r>
          </a:p>
          <a:p>
            <a:r>
              <a:t>- /Users/xkyota/Development/food-delivery/README.md</a:t>
            </a:r>
          </a:p>
          <a:p>
            <a:r>
              <a:t>- /Users/xkyota/Development/food-delivery/roadmap.md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E6E2DD-6CEC-D5ED-641A-399CF58D4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10BECB-64DB-6D4C-420F-9BD6DA2223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63969D-143F-0828-0DBE-BB26C65CC9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Close on the next executable step: a traced vertical slice, not a broad feature build.</a:t>
            </a:r>
          </a:p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- /Users/</a:t>
            </a:r>
            <a:r>
              <a:rPr dirty="0" err="1"/>
              <a:t>xkyota</a:t>
            </a:r>
            <a:r>
              <a:rPr dirty="0"/>
              <a:t>/Development/food-delivery/</a:t>
            </a:r>
            <a:r>
              <a:rPr dirty="0" err="1"/>
              <a:t>README.md</a:t>
            </a:r>
            <a:endParaRPr dirty="0"/>
          </a:p>
          <a:p>
            <a:r>
              <a:rPr dirty="0"/>
              <a:t>- /Users/</a:t>
            </a:r>
            <a:r>
              <a:rPr dirty="0" err="1"/>
              <a:t>xkyota</a:t>
            </a:r>
            <a:r>
              <a:rPr dirty="0"/>
              <a:t>/Development/food-delivery/</a:t>
            </a:r>
            <a:r>
              <a:rPr dirty="0" err="1"/>
              <a:t>roadmap.md</a:t>
            </a:r>
            <a:endParaRPr dirty="0"/>
          </a:p>
          <a:p>
            <a:r>
              <a:rPr dirty="0"/>
              <a:t>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0919B6-90F8-4C79-0071-C9FF8C08B4D3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319733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label-SYSTEM DESIGN / 2026">
            <a:extLst>
              <a:ext uri="{FF2B5EF4-FFF2-40B4-BE49-F238E27FC236}">
                <a16:creationId xmlns:a16="http://schemas.microsoft.com/office/drawing/2014/main" id="{A463A57D-A0A4-433F-A416-6956F9C51D88}"/>
              </a:ext>
            </a:extLst>
          </p:cNvPr>
          <p:cNvSpPr>
            <a:spLocks noGrp="1"/>
          </p:cNvSpPr>
          <p:nvPr/>
        </p:nvSpPr>
        <p:spPr>
          <a:xfrm>
            <a:off x="609600" y="533400"/>
            <a:ext cx="2857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1">
                <a:solidFill>
                  <a:srgbClr val="F0442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442F"/>
                </a:solidFill>
                <a:latin typeface="Arial"/>
                <a:ea typeface="Arial"/>
                <a:cs typeface="Arial"/>
              </a:rPr>
              <a:t>SYSTEM DESIGN / 2026</a:t>
            </a:r>
          </a:p>
        </p:txBody>
      </p:sp>
      <p:sp>
        <p:nvSpPr>
          <p:cNvPr id="2" name="deck-title">
            <a:extLst>
              <a:ext uri="{FF2B5EF4-FFF2-40B4-BE49-F238E27FC236}">
                <a16:creationId xmlns:a16="http://schemas.microsoft.com/office/drawing/2014/main" id="{08808C47-42EC-4D07-98FB-62B0B5B2554D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49530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540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FoodFlow</a:t>
            </a:r>
          </a:p>
        </p:txBody>
      </p:sp>
      <p:sp>
        <p:nvSpPr>
          <p:cNvPr id="3" name="deck-subtitle">
            <a:extLst>
              <a:ext uri="{FF2B5EF4-FFF2-40B4-BE49-F238E27FC236}">
                <a16:creationId xmlns:a16="http://schemas.microsoft.com/office/drawing/2014/main" id="{ED929FE7-0542-473A-80B3-F62CEF80FC0F}"/>
              </a:ext>
            </a:extLst>
          </p:cNvPr>
          <p:cNvSpPr>
            <a:spLocks noGrp="1"/>
          </p:cNvSpPr>
          <p:nvPr/>
        </p:nvSpPr>
        <p:spPr>
          <a:xfrm>
            <a:off x="628650" y="2143125"/>
            <a:ext cx="4572000" cy="1190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325" b="0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1713"/>
                </a:solidFill>
                <a:latin typeface="Arial"/>
                <a:ea typeface="Arial"/>
                <a:cs typeface="Arial"/>
              </a:rPr>
              <a:t>One order truth.</a:t>
            </a:r>
          </a:p>
          <a:p>
            <a:pPr algn="l">
              <a:defRPr sz="2325" b="0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1713"/>
                </a:solidFill>
                <a:latin typeface="Arial"/>
                <a:ea typeface="Arial"/>
                <a:cs typeface="Arial"/>
              </a:rPr>
              <a:t>Three coordinated experiences.</a:t>
            </a:r>
          </a:p>
        </p:txBody>
      </p:sp>
      <p:sp>
        <p:nvSpPr>
          <p:cNvPr id="4" name="deck-description">
            <a:extLst>
              <a:ext uri="{FF2B5EF4-FFF2-40B4-BE49-F238E27FC236}">
                <a16:creationId xmlns:a16="http://schemas.microsoft.com/office/drawing/2014/main" id="{10A036E9-B6A6-44A1-9EBF-6C3728D63F4A}"/>
              </a:ext>
            </a:extLst>
          </p:cNvPr>
          <p:cNvSpPr>
            <a:spLocks noGrp="1"/>
          </p:cNvSpPr>
          <p:nvPr/>
        </p:nvSpPr>
        <p:spPr>
          <a:xfrm>
            <a:off x="628650" y="3676650"/>
            <a:ext cx="44767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A production-oriented design for customers, restaurants, couriers, and the services that keep them in sync.</a:t>
            </a:r>
          </a:p>
        </p:txBody>
      </p:sp>
      <p:sp>
        <p:nvSpPr>
          <p:cNvPr id="5" name="cover-rule">
            <a:extLst>
              <a:ext uri="{FF2B5EF4-FFF2-40B4-BE49-F238E27FC236}">
                <a16:creationId xmlns:a16="http://schemas.microsoft.com/office/drawing/2014/main" id="{E26F7F7A-906F-4546-A04D-08B72FCDD15F}"/>
              </a:ext>
            </a:extLst>
          </p:cNvPr>
          <p:cNvSpPr>
            <a:spLocks noGrp="1"/>
          </p:cNvSpPr>
          <p:nvPr/>
        </p:nvSpPr>
        <p:spPr>
          <a:xfrm>
            <a:off x="609600" y="5286375"/>
            <a:ext cx="4286250" cy="19050"/>
          </a:xfrm>
          <a:prstGeom prst="rect">
            <a:avLst/>
          </a:prstGeom>
          <a:solidFill>
            <a:srgbClr val="171713"/>
          </a:solidFill>
          <a:ln w="0">
            <a:noFill/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CFA6AB70-B99F-466D-BC64-F8C624ABE933}"/>
              </a:ext>
            </a:extLst>
          </p:cNvPr>
          <p:cNvSpPr>
            <a:spLocks noGrp="1"/>
          </p:cNvSpPr>
          <p:nvPr/>
        </p:nvSpPr>
        <p:spPr>
          <a:xfrm>
            <a:off x="609600" y="5495925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75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CITY-WIDE FOOD DELIVERY PLATFORM</a:t>
            </a: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BE5ADF80-3A28-4F22-81F6-ACE9687B9440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4476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Architecture  •  Contracts  •  Reliability  •  Delivery plan</a:t>
            </a:r>
          </a:p>
        </p:txBody>
      </p:sp>
      <p:sp>
        <p:nvSpPr>
          <p:cNvPr id="8" name="cover-image-backing">
            <a:extLst>
              <a:ext uri="{FF2B5EF4-FFF2-40B4-BE49-F238E27FC236}">
                <a16:creationId xmlns:a16="http://schemas.microsoft.com/office/drawing/2014/main" id="{64E55106-8B4E-47FC-921E-F4AE207A4821}"/>
              </a:ext>
            </a:extLst>
          </p:cNvPr>
          <p:cNvSpPr>
            <a:spLocks noGrp="1"/>
          </p:cNvSpPr>
          <p:nvPr/>
        </p:nvSpPr>
        <p:spPr>
          <a:xfrm>
            <a:off x="5848350" y="361950"/>
            <a:ext cx="5734050" cy="5924550"/>
          </a:xfrm>
          <a:prstGeom prst="roundRect">
            <a:avLst>
              <a:gd name="adj" fmla="val 3322"/>
            </a:avLst>
          </a:prstGeom>
          <a:solidFill>
            <a:srgbClr val="173F35"/>
          </a:solidFill>
          <a:ln w="0">
            <a:noFill/>
            <a:prstDash val="solid"/>
          </a:ln>
        </p:spPr>
        <p:txBody>
          <a:bodyPr/>
          <a:lstStyle/>
          <a:p>
            <a:endParaRPr lang="en-LV"/>
          </a:p>
        </p:txBody>
      </p:sp>
      <p:pic>
        <p:nvPicPr>
          <p:cNvPr id="20" name="Picture 19"/>
          <p:cNvPicPr>
            <a:picLocks noChangeAspect="1"/>
          </p:cNvPicPr>
          <p:nvPr/>
        </p:nvPicPr>
        <p:blipFill>
          <a:blip r:embed="rId3"/>
          <a:srcRect l="19802" r="19802"/>
          <a:stretch>
            <a:fillRect/>
          </a:stretch>
        </p:blipFill>
        <p:spPr>
          <a:xfrm>
            <a:off x="5981700" y="495300"/>
            <a:ext cx="5467350" cy="5657850"/>
          </a:xfrm>
          <a:prstGeom prst="roundRect">
            <a:avLst>
              <a:gd name="adj" fmla="val 3484"/>
            </a:avLst>
          </a:prstGeom>
        </p:spPr>
      </p:pic>
      <p:sp>
        <p:nvSpPr>
          <p:cNvPr id="10" name="footer-section">
            <a:extLst>
              <a:ext uri="{FF2B5EF4-FFF2-40B4-BE49-F238E27FC236}">
                <a16:creationId xmlns:a16="http://schemas.microsoft.com/office/drawing/2014/main" id="{1F0D793F-721E-43D4-AAEF-E93807E5F63C}"/>
              </a:ext>
            </a:extLst>
          </p:cNvPr>
          <p:cNvSpPr>
            <a:spLocks noGrp="1"/>
          </p:cNvSpPr>
          <p:nvPr/>
        </p:nvSpPr>
        <p:spPr>
          <a:xfrm>
            <a:off x="609600" y="6515100"/>
            <a:ext cx="31432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750" b="1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06E68"/>
                </a:solidFill>
                <a:latin typeface="Arial"/>
                <a:ea typeface="Arial"/>
                <a:cs typeface="Arial"/>
              </a:rPr>
              <a:t>FOODFLOW SYSTEM DESIGN</a:t>
            </a:r>
          </a:p>
        </p:txBody>
      </p:sp>
      <p:sp>
        <p:nvSpPr>
          <p:cNvPr id="11" name="footer-page">
            <a:extLst>
              <a:ext uri="{FF2B5EF4-FFF2-40B4-BE49-F238E27FC236}">
                <a16:creationId xmlns:a16="http://schemas.microsoft.com/office/drawing/2014/main" id="{1C53E8BA-4C78-4B7E-9B5B-B773CDC31BA1}"/>
              </a:ext>
            </a:extLst>
          </p:cNvPr>
          <p:cNvSpPr>
            <a:spLocks noGrp="1"/>
          </p:cNvSpPr>
          <p:nvPr/>
        </p:nvSpPr>
        <p:spPr>
          <a:xfrm>
            <a:off x="11096625" y="6496050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825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0475730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4FD87A-055D-AA61-BDF8-B96B195FD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D64485C-D76D-5944-33FB-32803D95FA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927" y="194515"/>
            <a:ext cx="11644146" cy="6468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88191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BEB236-31FD-8782-C7CD-4449210AB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91A763F-EFAC-6DAA-35E7-7425914086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6318" y="828809"/>
            <a:ext cx="8884063" cy="5389751"/>
          </a:xfrm>
          <a:prstGeom prst="rect">
            <a:avLst/>
          </a:prstGeom>
        </p:spPr>
      </p:pic>
      <p:sp>
        <p:nvSpPr>
          <p:cNvPr id="3" name="slide-title">
            <a:extLst>
              <a:ext uri="{FF2B5EF4-FFF2-40B4-BE49-F238E27FC236}">
                <a16:creationId xmlns:a16="http://schemas.microsoft.com/office/drawing/2014/main" id="{F64A0525-0ABD-D6C4-E975-227DD47532E6}"/>
              </a:ext>
            </a:extLst>
          </p:cNvPr>
          <p:cNvSpPr>
            <a:spLocks noGrp="1"/>
          </p:cNvSpPr>
          <p:nvPr/>
        </p:nvSpPr>
        <p:spPr>
          <a:xfrm>
            <a:off x="308182" y="238259"/>
            <a:ext cx="10477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315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lang="en-US" sz="3150" b="1" dirty="0">
                <a:solidFill>
                  <a:srgbClr val="171713"/>
                </a:solidFill>
                <a:latin typeface="Arial"/>
                <a:ea typeface="Arial"/>
                <a:cs typeface="Arial"/>
              </a:rPr>
              <a:t>Database model</a:t>
            </a:r>
            <a:endParaRPr sz="3150" b="1" dirty="0">
              <a:solidFill>
                <a:srgbClr val="17171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574375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lide-title">
            <a:extLst>
              <a:ext uri="{FF2B5EF4-FFF2-40B4-BE49-F238E27FC236}">
                <a16:creationId xmlns:a16="http://schemas.microsoft.com/office/drawing/2014/main" id="{41761EEE-AD6F-46CC-9715-FE16636A676B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477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315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3150" b="1" dirty="0">
                <a:solidFill>
                  <a:srgbClr val="171713"/>
                </a:solidFill>
                <a:latin typeface="Arial"/>
                <a:ea typeface="Arial"/>
                <a:cs typeface="Arial"/>
              </a:rPr>
              <a:t>Delivery is a synchronized marketplace</a:t>
            </a:r>
          </a:p>
        </p:txBody>
      </p:sp>
      <p:sp>
        <p:nvSpPr>
          <p:cNvPr id="2" name="slide-subtitle">
            <a:extLst>
              <a:ext uri="{FF2B5EF4-FFF2-40B4-BE49-F238E27FC236}">
                <a16:creationId xmlns:a16="http://schemas.microsoft.com/office/drawing/2014/main" id="{AFC651E5-A864-4950-931A-CE3989F7CC21}"/>
              </a:ext>
            </a:extLst>
          </p:cNvPr>
          <p:cNvSpPr>
            <a:spLocks noGrp="1"/>
          </p:cNvSpPr>
          <p:nvPr/>
        </p:nvSpPr>
        <p:spPr>
          <a:xfrm>
            <a:off x="628650" y="1104900"/>
            <a:ext cx="971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Each actor moves independently; the order workflow keeps the promise coherent.</a:t>
            </a:r>
          </a:p>
        </p:txBody>
      </p:sp>
      <p:cxnSp>
        <p:nvCxnSpPr>
          <p:cNvPr id="24" name="title-rule"/>
          <p:cNvCxnSpPr/>
          <p:nvPr/>
        </p:nvCxnSpPr>
        <p:spPr>
          <a:xfrm>
            <a:off x="609600" y="1495425"/>
            <a:ext cx="10972800" cy="0"/>
          </a:xfrm>
          <a:prstGeom prst="straightConnector1">
            <a:avLst/>
          </a:prstGeom>
          <a:ln w="9525">
            <a:solidFill>
              <a:srgbClr val="C8C6C0"/>
            </a:solidFill>
            <a:prstDash val="solid"/>
          </a:ln>
        </p:spPr>
      </p:cxnSp>
      <p:cxnSp>
        <p:nvCxnSpPr>
          <p:cNvPr id="25" name="actor-line"/>
          <p:cNvCxnSpPr/>
          <p:nvPr/>
        </p:nvCxnSpPr>
        <p:spPr>
          <a:xfrm>
            <a:off x="2019300" y="3286125"/>
            <a:ext cx="8153400" cy="0"/>
          </a:xfrm>
          <a:prstGeom prst="straightConnector1">
            <a:avLst/>
          </a:prstGeom>
          <a:ln w="19050">
            <a:solidFill>
              <a:srgbClr val="C8C6C0"/>
            </a:solidFill>
            <a:prstDash val="solid"/>
          </a:ln>
        </p:spPr>
      </p:cxnSp>
      <p:sp>
        <p:nvSpPr>
          <p:cNvPr id="5" name="dot-01">
            <a:extLst>
              <a:ext uri="{FF2B5EF4-FFF2-40B4-BE49-F238E27FC236}">
                <a16:creationId xmlns:a16="http://schemas.microsoft.com/office/drawing/2014/main" id="{2295240A-4D1B-43FE-8013-11659E54FF20}"/>
              </a:ext>
            </a:extLst>
          </p:cNvPr>
          <p:cNvSpPr>
            <a:spLocks noGrp="1"/>
          </p:cNvSpPr>
          <p:nvPr/>
        </p:nvSpPr>
        <p:spPr>
          <a:xfrm>
            <a:off x="1095375" y="2457450"/>
            <a:ext cx="1123950" cy="1123950"/>
          </a:xfrm>
          <a:prstGeom prst="ellipse">
            <a:avLst/>
          </a:prstGeom>
          <a:solidFill>
            <a:srgbClr val="F0442F"/>
          </a:solidFill>
          <a:ln w="0">
            <a:noFill/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CEAE01CD-C25A-424A-924A-0D7ED31D154B}"/>
              </a:ext>
            </a:extLst>
          </p:cNvPr>
          <p:cNvSpPr>
            <a:spLocks noGrp="1"/>
          </p:cNvSpPr>
          <p:nvPr/>
        </p:nvSpPr>
        <p:spPr>
          <a:xfrm>
            <a:off x="1095375" y="2659761"/>
            <a:ext cx="1123950" cy="6968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F90DE34B-511C-4A35-8439-B49563336C1C}"/>
              </a:ext>
            </a:extLst>
          </p:cNvPr>
          <p:cNvSpPr>
            <a:spLocks noGrp="1"/>
          </p:cNvSpPr>
          <p:nvPr/>
        </p:nvSpPr>
        <p:spPr>
          <a:xfrm>
            <a:off x="2409825" y="2571750"/>
            <a:ext cx="2000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Customer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441B1A9F-6E97-4267-B8E3-D384037A9F6F}"/>
              </a:ext>
            </a:extLst>
          </p:cNvPr>
          <p:cNvSpPr>
            <a:spLocks noGrp="1"/>
          </p:cNvSpPr>
          <p:nvPr/>
        </p:nvSpPr>
        <p:spPr>
          <a:xfrm>
            <a:off x="2409825" y="3019425"/>
            <a:ext cx="1857375" cy="904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Discover</a:t>
            </a:r>
          </a:p>
          <a:p>
            <a:pPr algn="l">
              <a:defRPr sz="1275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Pay</a:t>
            </a:r>
          </a:p>
          <a:p>
            <a:pPr algn="l">
              <a:defRPr sz="1275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Track</a:t>
            </a:r>
          </a:p>
        </p:txBody>
      </p:sp>
      <p:sp>
        <p:nvSpPr>
          <p:cNvPr id="9" name="dot-02">
            <a:extLst>
              <a:ext uri="{FF2B5EF4-FFF2-40B4-BE49-F238E27FC236}">
                <a16:creationId xmlns:a16="http://schemas.microsoft.com/office/drawing/2014/main" id="{5772A7FE-2EA0-4859-8084-0291521B5DB9}"/>
              </a:ext>
            </a:extLst>
          </p:cNvPr>
          <p:cNvSpPr>
            <a:spLocks noGrp="1"/>
          </p:cNvSpPr>
          <p:nvPr/>
        </p:nvSpPr>
        <p:spPr>
          <a:xfrm>
            <a:off x="4762500" y="2457450"/>
            <a:ext cx="1123950" cy="1123950"/>
          </a:xfrm>
          <a:prstGeom prst="ellipse">
            <a:avLst/>
          </a:prstGeom>
          <a:solidFill>
            <a:srgbClr val="F3C94B"/>
          </a:solidFill>
          <a:ln w="0">
            <a:noFill/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A8B6524F-DD13-4A79-A8B8-9FA6280832B0}"/>
              </a:ext>
            </a:extLst>
          </p:cNvPr>
          <p:cNvSpPr>
            <a:spLocks noGrp="1"/>
          </p:cNvSpPr>
          <p:nvPr/>
        </p:nvSpPr>
        <p:spPr>
          <a:xfrm>
            <a:off x="4762500" y="2659761"/>
            <a:ext cx="1123950" cy="6968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80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929A185B-80CA-4CFE-A5E8-13BA9D29A014}"/>
              </a:ext>
            </a:extLst>
          </p:cNvPr>
          <p:cNvSpPr>
            <a:spLocks noGrp="1"/>
          </p:cNvSpPr>
          <p:nvPr/>
        </p:nvSpPr>
        <p:spPr>
          <a:xfrm>
            <a:off x="6076950" y="2571750"/>
            <a:ext cx="2000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Restaurant</a:t>
            </a: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8B28B60D-CC2C-4EE2-9518-8B6DC40AE449}"/>
              </a:ext>
            </a:extLst>
          </p:cNvPr>
          <p:cNvSpPr>
            <a:spLocks noGrp="1"/>
          </p:cNvSpPr>
          <p:nvPr/>
        </p:nvSpPr>
        <p:spPr>
          <a:xfrm>
            <a:off x="6076950" y="3019425"/>
            <a:ext cx="1857375" cy="904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Accept</a:t>
            </a:r>
          </a:p>
          <a:p>
            <a:pPr algn="l">
              <a:defRPr sz="1275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Prepare</a:t>
            </a:r>
          </a:p>
          <a:p>
            <a:pPr algn="l">
              <a:defRPr sz="1275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Hand off</a:t>
            </a:r>
          </a:p>
        </p:txBody>
      </p:sp>
      <p:sp>
        <p:nvSpPr>
          <p:cNvPr id="13" name="dot-03">
            <a:extLst>
              <a:ext uri="{FF2B5EF4-FFF2-40B4-BE49-F238E27FC236}">
                <a16:creationId xmlns:a16="http://schemas.microsoft.com/office/drawing/2014/main" id="{ACE8E410-F460-4508-9D20-2B39262F8756}"/>
              </a:ext>
            </a:extLst>
          </p:cNvPr>
          <p:cNvSpPr>
            <a:spLocks noGrp="1"/>
          </p:cNvSpPr>
          <p:nvPr/>
        </p:nvSpPr>
        <p:spPr>
          <a:xfrm>
            <a:off x="8429625" y="2457450"/>
            <a:ext cx="1123950" cy="1123950"/>
          </a:xfrm>
          <a:prstGeom prst="ellipse">
            <a:avLst/>
          </a:prstGeom>
          <a:solidFill>
            <a:srgbClr val="173F35"/>
          </a:solidFill>
          <a:ln w="0">
            <a:noFill/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30885078-7154-401D-9373-BD67C484788C}"/>
              </a:ext>
            </a:extLst>
          </p:cNvPr>
          <p:cNvSpPr>
            <a:spLocks noGrp="1"/>
          </p:cNvSpPr>
          <p:nvPr/>
        </p:nvSpPr>
        <p:spPr>
          <a:xfrm>
            <a:off x="8429625" y="2659761"/>
            <a:ext cx="1123950" cy="6968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5711FD4B-4277-4D94-811C-9B751ABEFDA6}"/>
              </a:ext>
            </a:extLst>
          </p:cNvPr>
          <p:cNvSpPr>
            <a:spLocks noGrp="1"/>
          </p:cNvSpPr>
          <p:nvPr/>
        </p:nvSpPr>
        <p:spPr>
          <a:xfrm>
            <a:off x="9744075" y="2571750"/>
            <a:ext cx="2000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Courier</a:t>
            </a:r>
          </a:p>
        </p:txBody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935A54AB-C4F8-4A95-8685-0B78256F842E}"/>
              </a:ext>
            </a:extLst>
          </p:cNvPr>
          <p:cNvSpPr>
            <a:spLocks noGrp="1"/>
          </p:cNvSpPr>
          <p:nvPr/>
        </p:nvSpPr>
        <p:spPr>
          <a:xfrm>
            <a:off x="9744075" y="3019425"/>
            <a:ext cx="1857375" cy="904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Claim</a:t>
            </a:r>
          </a:p>
          <a:p>
            <a:pPr algn="l">
              <a:defRPr sz="1275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Navigate</a:t>
            </a:r>
          </a:p>
          <a:p>
            <a:pPr algn="l">
              <a:defRPr sz="1275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Deliver</a:t>
            </a:r>
          </a:p>
        </p:txBody>
      </p:sp>
      <p:sp>
        <p:nvSpPr>
          <p:cNvPr id="17" name="order-truth-band">
            <a:extLst>
              <a:ext uri="{FF2B5EF4-FFF2-40B4-BE49-F238E27FC236}">
                <a16:creationId xmlns:a16="http://schemas.microsoft.com/office/drawing/2014/main" id="{66F7F03F-2949-4790-A9DC-B69C3CCABFCA}"/>
              </a:ext>
            </a:extLst>
          </p:cNvPr>
          <p:cNvSpPr>
            <a:spLocks noGrp="1"/>
          </p:cNvSpPr>
          <p:nvPr/>
        </p:nvSpPr>
        <p:spPr>
          <a:xfrm>
            <a:off x="3143250" y="4648200"/>
            <a:ext cx="5905500" cy="933450"/>
          </a:xfrm>
          <a:prstGeom prst="rect">
            <a:avLst/>
          </a:prstGeom>
          <a:solidFill>
            <a:srgbClr val="EFEDE8"/>
          </a:solidFill>
          <a:ln w="0">
            <a:noFill/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18" name="label-ONE ORDER TRUTH">
            <a:extLst>
              <a:ext uri="{FF2B5EF4-FFF2-40B4-BE49-F238E27FC236}">
                <a16:creationId xmlns:a16="http://schemas.microsoft.com/office/drawing/2014/main" id="{0C30527F-8DA3-42FF-BE72-BF598C485B57}"/>
              </a:ext>
            </a:extLst>
          </p:cNvPr>
          <p:cNvSpPr>
            <a:spLocks noGrp="1"/>
          </p:cNvSpPr>
          <p:nvPr/>
        </p:nvSpPr>
        <p:spPr>
          <a:xfrm>
            <a:off x="3409950" y="4838700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1">
                <a:solidFill>
                  <a:srgbClr val="F0442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442F"/>
                </a:solidFill>
                <a:latin typeface="Arial"/>
                <a:ea typeface="Arial"/>
                <a:cs typeface="Arial"/>
              </a:rPr>
              <a:t>ONE ORDER TRUTH</a:t>
            </a:r>
          </a:p>
        </p:txBody>
      </p:sp>
      <p:sp>
        <p:nvSpPr>
          <p:cNvPr id="19" name="text">
            <a:extLst>
              <a:ext uri="{FF2B5EF4-FFF2-40B4-BE49-F238E27FC236}">
                <a16:creationId xmlns:a16="http://schemas.microsoft.com/office/drawing/2014/main" id="{CDED52D9-C118-4D9D-AC69-F4EE0F957042}"/>
              </a:ext>
            </a:extLst>
          </p:cNvPr>
          <p:cNvSpPr>
            <a:spLocks noGrp="1"/>
          </p:cNvSpPr>
          <p:nvPr/>
        </p:nvSpPr>
        <p:spPr>
          <a:xfrm>
            <a:off x="3409950" y="5105400"/>
            <a:ext cx="523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511"/>
          </a:bodyPr>
          <a:lstStyle/>
          <a:p>
            <a:pPr algn="l">
              <a:defRPr sz="1725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State, money, ownership, and ETA advance together.</a:t>
            </a:r>
          </a:p>
        </p:txBody>
      </p:sp>
      <p:sp>
        <p:nvSpPr>
          <p:cNvPr id="20" name="footer-section">
            <a:extLst>
              <a:ext uri="{FF2B5EF4-FFF2-40B4-BE49-F238E27FC236}">
                <a16:creationId xmlns:a16="http://schemas.microsoft.com/office/drawing/2014/main" id="{F49CDA14-EC25-4EB3-8451-BE3C1046266D}"/>
              </a:ext>
            </a:extLst>
          </p:cNvPr>
          <p:cNvSpPr>
            <a:spLocks noGrp="1"/>
          </p:cNvSpPr>
          <p:nvPr/>
        </p:nvSpPr>
        <p:spPr>
          <a:xfrm>
            <a:off x="609600" y="6515100"/>
            <a:ext cx="31432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750" b="1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06E68"/>
                </a:solidFill>
                <a:latin typeface="Arial"/>
                <a:ea typeface="Arial"/>
                <a:cs typeface="Arial"/>
              </a:rPr>
              <a:t>PRODUCT MODEL</a:t>
            </a:r>
          </a:p>
        </p:txBody>
      </p:sp>
      <p:sp>
        <p:nvSpPr>
          <p:cNvPr id="21" name="footer-page">
            <a:extLst>
              <a:ext uri="{FF2B5EF4-FFF2-40B4-BE49-F238E27FC236}">
                <a16:creationId xmlns:a16="http://schemas.microsoft.com/office/drawing/2014/main" id="{EE728941-B003-415F-97F3-5B1BFF703EF7}"/>
              </a:ext>
            </a:extLst>
          </p:cNvPr>
          <p:cNvSpPr>
            <a:spLocks noGrp="1"/>
          </p:cNvSpPr>
          <p:nvPr/>
        </p:nvSpPr>
        <p:spPr>
          <a:xfrm>
            <a:off x="11096625" y="6496050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825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515773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lide-title">
            <a:extLst>
              <a:ext uri="{FF2B5EF4-FFF2-40B4-BE49-F238E27FC236}">
                <a16:creationId xmlns:a16="http://schemas.microsoft.com/office/drawing/2014/main" id="{BD35E244-D9DA-435B-B43D-C85BCF818F3B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477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315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One state machine aligns money, food, and movement</a:t>
            </a:r>
          </a:p>
        </p:txBody>
      </p:sp>
      <p:sp>
        <p:nvSpPr>
          <p:cNvPr id="2" name="slide-subtitle">
            <a:extLst>
              <a:ext uri="{FF2B5EF4-FFF2-40B4-BE49-F238E27FC236}">
                <a16:creationId xmlns:a16="http://schemas.microsoft.com/office/drawing/2014/main" id="{E7B38F4F-24C8-490D-A47C-F8CEDE5E17AB}"/>
              </a:ext>
            </a:extLst>
          </p:cNvPr>
          <p:cNvSpPr>
            <a:spLocks noGrp="1"/>
          </p:cNvSpPr>
          <p:nvPr/>
        </p:nvSpPr>
        <p:spPr>
          <a:xfrm>
            <a:off x="628650" y="1104900"/>
            <a:ext cx="971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Every transition is authorized, idempotent, versioned, and written to the audit trail.</a:t>
            </a:r>
          </a:p>
        </p:txBody>
      </p:sp>
      <p:cxnSp>
        <p:nvCxnSpPr>
          <p:cNvPr id="42" name="title-rule"/>
          <p:cNvCxnSpPr/>
          <p:nvPr/>
        </p:nvCxnSpPr>
        <p:spPr>
          <a:xfrm>
            <a:off x="609600" y="1495425"/>
            <a:ext cx="10972800" cy="0"/>
          </a:xfrm>
          <a:prstGeom prst="straightConnector1">
            <a:avLst/>
          </a:prstGeom>
          <a:ln w="9525">
            <a:solidFill>
              <a:srgbClr val="C8C6C0"/>
            </a:solidFill>
            <a:prstDash val="solid"/>
          </a:ln>
        </p:spPr>
      </p:cxnSp>
      <p:cxnSp>
        <p:nvCxnSpPr>
          <p:cNvPr id="43" name="lifecycle-spine"/>
          <p:cNvCxnSpPr/>
          <p:nvPr/>
        </p:nvCxnSpPr>
        <p:spPr>
          <a:xfrm>
            <a:off x="1000125" y="2933700"/>
            <a:ext cx="10096500" cy="0"/>
          </a:xfrm>
          <a:prstGeom prst="straightConnector1">
            <a:avLst/>
          </a:prstGeom>
          <a:ln w="19050">
            <a:solidFill>
              <a:srgbClr val="171713"/>
            </a:solidFill>
            <a:prstDash val="solid"/>
          </a:ln>
        </p:spPr>
      </p:cxnSp>
      <p:sp>
        <p:nvSpPr>
          <p:cNvPr id="5" name="dot-01">
            <a:extLst>
              <a:ext uri="{FF2B5EF4-FFF2-40B4-BE49-F238E27FC236}">
                <a16:creationId xmlns:a16="http://schemas.microsoft.com/office/drawing/2014/main" id="{9C3CC7B6-17A3-481E-B3CB-E25DC422DA2B}"/>
              </a:ext>
            </a:extLst>
          </p:cNvPr>
          <p:cNvSpPr>
            <a:spLocks noGrp="1"/>
          </p:cNvSpPr>
          <p:nvPr/>
        </p:nvSpPr>
        <p:spPr>
          <a:xfrm>
            <a:off x="685800" y="2695575"/>
            <a:ext cx="485775" cy="485775"/>
          </a:xfrm>
          <a:prstGeom prst="ellipse">
            <a:avLst/>
          </a:prstGeom>
          <a:solidFill>
            <a:srgbClr val="F0442F"/>
          </a:solidFill>
          <a:ln w="0">
            <a:noFill/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3818E017-B221-479B-9808-6F7BE032D714}"/>
              </a:ext>
            </a:extLst>
          </p:cNvPr>
          <p:cNvSpPr>
            <a:spLocks noGrp="1"/>
          </p:cNvSpPr>
          <p:nvPr/>
        </p:nvSpPr>
        <p:spPr>
          <a:xfrm>
            <a:off x="685800" y="2783015"/>
            <a:ext cx="485775" cy="30118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4ABEAC35-51DB-4A11-BF33-19C4E283E07E}"/>
              </a:ext>
            </a:extLst>
          </p:cNvPr>
          <p:cNvSpPr>
            <a:spLocks noGrp="1"/>
          </p:cNvSpPr>
          <p:nvPr/>
        </p:nvSpPr>
        <p:spPr>
          <a:xfrm>
            <a:off x="361950" y="3362325"/>
            <a:ext cx="1143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20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Payment</a:t>
            </a:r>
          </a:p>
          <a:p>
            <a:pPr algn="ctr">
              <a:defRPr sz="120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pending</a:t>
            </a:r>
          </a:p>
        </p:txBody>
      </p:sp>
      <p:sp>
        <p:nvSpPr>
          <p:cNvPr id="8" name="dot-02">
            <a:extLst>
              <a:ext uri="{FF2B5EF4-FFF2-40B4-BE49-F238E27FC236}">
                <a16:creationId xmlns:a16="http://schemas.microsoft.com/office/drawing/2014/main" id="{E15C821A-9DEE-4575-AD5B-FB014E494732}"/>
              </a:ext>
            </a:extLst>
          </p:cNvPr>
          <p:cNvSpPr>
            <a:spLocks noGrp="1"/>
          </p:cNvSpPr>
          <p:nvPr/>
        </p:nvSpPr>
        <p:spPr>
          <a:xfrm>
            <a:off x="2066925" y="2695575"/>
            <a:ext cx="485775" cy="485775"/>
          </a:xfrm>
          <a:prstGeom prst="ellipse">
            <a:avLst/>
          </a:prstGeom>
          <a:solidFill>
            <a:srgbClr val="F0442F"/>
          </a:solidFill>
          <a:ln w="0">
            <a:noFill/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7D8A959A-0A63-4898-BBE9-E2976C5CB00D}"/>
              </a:ext>
            </a:extLst>
          </p:cNvPr>
          <p:cNvSpPr>
            <a:spLocks noGrp="1"/>
          </p:cNvSpPr>
          <p:nvPr/>
        </p:nvSpPr>
        <p:spPr>
          <a:xfrm>
            <a:off x="2066925" y="2783015"/>
            <a:ext cx="485775" cy="30118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D7468CF0-C175-42A7-B707-2A2D8915253E}"/>
              </a:ext>
            </a:extLst>
          </p:cNvPr>
          <p:cNvSpPr>
            <a:spLocks noGrp="1"/>
          </p:cNvSpPr>
          <p:nvPr/>
        </p:nvSpPr>
        <p:spPr>
          <a:xfrm>
            <a:off x="1743075" y="3362325"/>
            <a:ext cx="1143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20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Payment</a:t>
            </a:r>
          </a:p>
          <a:p>
            <a:pPr algn="ctr">
              <a:defRPr sz="120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authorized</a:t>
            </a:r>
          </a:p>
        </p:txBody>
      </p:sp>
      <p:sp>
        <p:nvSpPr>
          <p:cNvPr id="11" name="dot-03">
            <a:extLst>
              <a:ext uri="{FF2B5EF4-FFF2-40B4-BE49-F238E27FC236}">
                <a16:creationId xmlns:a16="http://schemas.microsoft.com/office/drawing/2014/main" id="{F319DAD6-D2B4-4557-93F2-29FB03E7C23D}"/>
              </a:ext>
            </a:extLst>
          </p:cNvPr>
          <p:cNvSpPr>
            <a:spLocks noGrp="1"/>
          </p:cNvSpPr>
          <p:nvPr/>
        </p:nvSpPr>
        <p:spPr>
          <a:xfrm>
            <a:off x="3448050" y="2695575"/>
            <a:ext cx="485775" cy="485775"/>
          </a:xfrm>
          <a:prstGeom prst="ellipse">
            <a:avLst/>
          </a:prstGeom>
          <a:solidFill>
            <a:srgbClr val="F0442F"/>
          </a:solidFill>
          <a:ln w="0">
            <a:noFill/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1B39B7C8-E30F-4EB7-A6E0-7D28A9ECE4B4}"/>
              </a:ext>
            </a:extLst>
          </p:cNvPr>
          <p:cNvSpPr>
            <a:spLocks noGrp="1"/>
          </p:cNvSpPr>
          <p:nvPr/>
        </p:nvSpPr>
        <p:spPr>
          <a:xfrm>
            <a:off x="3448050" y="2783015"/>
            <a:ext cx="485775" cy="30118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1EF15C27-91A0-4D26-8964-C5A28C26D887}"/>
              </a:ext>
            </a:extLst>
          </p:cNvPr>
          <p:cNvSpPr>
            <a:spLocks noGrp="1"/>
          </p:cNvSpPr>
          <p:nvPr/>
        </p:nvSpPr>
        <p:spPr>
          <a:xfrm>
            <a:off x="3124200" y="3362325"/>
            <a:ext cx="1143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20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Restaurant</a:t>
            </a:r>
          </a:p>
          <a:p>
            <a:pPr algn="ctr">
              <a:defRPr sz="120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confirmed</a:t>
            </a:r>
          </a:p>
        </p:txBody>
      </p:sp>
      <p:sp>
        <p:nvSpPr>
          <p:cNvPr id="14" name="dot-04">
            <a:extLst>
              <a:ext uri="{FF2B5EF4-FFF2-40B4-BE49-F238E27FC236}">
                <a16:creationId xmlns:a16="http://schemas.microsoft.com/office/drawing/2014/main" id="{B1948F03-B91F-409E-A4AC-4B31D12795FF}"/>
              </a:ext>
            </a:extLst>
          </p:cNvPr>
          <p:cNvSpPr>
            <a:spLocks noGrp="1"/>
          </p:cNvSpPr>
          <p:nvPr/>
        </p:nvSpPr>
        <p:spPr>
          <a:xfrm>
            <a:off x="4829175" y="2695575"/>
            <a:ext cx="485775" cy="485775"/>
          </a:xfrm>
          <a:prstGeom prst="ellipse">
            <a:avLst/>
          </a:prstGeom>
          <a:solidFill>
            <a:srgbClr val="F3C94B"/>
          </a:solidFill>
          <a:ln w="0">
            <a:noFill/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06F30D32-79C0-4DDD-9B67-6FC6BBC241DB}"/>
              </a:ext>
            </a:extLst>
          </p:cNvPr>
          <p:cNvSpPr>
            <a:spLocks noGrp="1"/>
          </p:cNvSpPr>
          <p:nvPr/>
        </p:nvSpPr>
        <p:spPr>
          <a:xfrm>
            <a:off x="4829175" y="2783015"/>
            <a:ext cx="485775" cy="30118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125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AB9C2CDE-0F73-46B3-AC10-92723939DCC7}"/>
              </a:ext>
            </a:extLst>
          </p:cNvPr>
          <p:cNvSpPr>
            <a:spLocks noGrp="1"/>
          </p:cNvSpPr>
          <p:nvPr/>
        </p:nvSpPr>
        <p:spPr>
          <a:xfrm>
            <a:off x="4505325" y="3362325"/>
            <a:ext cx="1143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20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Preparing</a:t>
            </a:r>
          </a:p>
        </p:txBody>
      </p:sp>
      <p:sp>
        <p:nvSpPr>
          <p:cNvPr id="17" name="dot-05">
            <a:extLst>
              <a:ext uri="{FF2B5EF4-FFF2-40B4-BE49-F238E27FC236}">
                <a16:creationId xmlns:a16="http://schemas.microsoft.com/office/drawing/2014/main" id="{2DD866A9-2E69-4327-B7A8-4E440014474A}"/>
              </a:ext>
            </a:extLst>
          </p:cNvPr>
          <p:cNvSpPr>
            <a:spLocks noGrp="1"/>
          </p:cNvSpPr>
          <p:nvPr/>
        </p:nvSpPr>
        <p:spPr>
          <a:xfrm>
            <a:off x="6210300" y="2695575"/>
            <a:ext cx="485775" cy="485775"/>
          </a:xfrm>
          <a:prstGeom prst="ellipse">
            <a:avLst/>
          </a:prstGeom>
          <a:solidFill>
            <a:srgbClr val="F3C94B"/>
          </a:solidFill>
          <a:ln w="0">
            <a:noFill/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18" name="text">
            <a:extLst>
              <a:ext uri="{FF2B5EF4-FFF2-40B4-BE49-F238E27FC236}">
                <a16:creationId xmlns:a16="http://schemas.microsoft.com/office/drawing/2014/main" id="{1E8D946A-042F-4742-8DC1-3A106C23247A}"/>
              </a:ext>
            </a:extLst>
          </p:cNvPr>
          <p:cNvSpPr>
            <a:spLocks noGrp="1"/>
          </p:cNvSpPr>
          <p:nvPr/>
        </p:nvSpPr>
        <p:spPr>
          <a:xfrm>
            <a:off x="6210300" y="2783015"/>
            <a:ext cx="485775" cy="30118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125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9" name="text">
            <a:extLst>
              <a:ext uri="{FF2B5EF4-FFF2-40B4-BE49-F238E27FC236}">
                <a16:creationId xmlns:a16="http://schemas.microsoft.com/office/drawing/2014/main" id="{34C4E817-4B20-4AC1-AE50-798F71D1B88A}"/>
              </a:ext>
            </a:extLst>
          </p:cNvPr>
          <p:cNvSpPr>
            <a:spLocks noGrp="1"/>
          </p:cNvSpPr>
          <p:nvPr/>
        </p:nvSpPr>
        <p:spPr>
          <a:xfrm>
            <a:off x="5886450" y="3362325"/>
            <a:ext cx="1143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20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Ready for</a:t>
            </a:r>
          </a:p>
          <a:p>
            <a:pPr algn="ctr">
              <a:defRPr sz="120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pickup</a:t>
            </a:r>
          </a:p>
        </p:txBody>
      </p:sp>
      <p:sp>
        <p:nvSpPr>
          <p:cNvPr id="20" name="dot-06">
            <a:extLst>
              <a:ext uri="{FF2B5EF4-FFF2-40B4-BE49-F238E27FC236}">
                <a16:creationId xmlns:a16="http://schemas.microsoft.com/office/drawing/2014/main" id="{22FF977E-E035-4196-A297-FC953319CF4D}"/>
              </a:ext>
            </a:extLst>
          </p:cNvPr>
          <p:cNvSpPr>
            <a:spLocks noGrp="1"/>
          </p:cNvSpPr>
          <p:nvPr/>
        </p:nvSpPr>
        <p:spPr>
          <a:xfrm>
            <a:off x="7591425" y="2695575"/>
            <a:ext cx="485775" cy="485775"/>
          </a:xfrm>
          <a:prstGeom prst="ellipse">
            <a:avLst/>
          </a:prstGeom>
          <a:solidFill>
            <a:srgbClr val="173F35"/>
          </a:solidFill>
          <a:ln w="0">
            <a:noFill/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21" name="text">
            <a:extLst>
              <a:ext uri="{FF2B5EF4-FFF2-40B4-BE49-F238E27FC236}">
                <a16:creationId xmlns:a16="http://schemas.microsoft.com/office/drawing/2014/main" id="{E9DE8589-3380-492E-BEBD-52DFC7AFB87F}"/>
              </a:ext>
            </a:extLst>
          </p:cNvPr>
          <p:cNvSpPr>
            <a:spLocks noGrp="1"/>
          </p:cNvSpPr>
          <p:nvPr/>
        </p:nvSpPr>
        <p:spPr>
          <a:xfrm>
            <a:off x="7591425" y="2783015"/>
            <a:ext cx="485775" cy="30118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2" name="text">
            <a:extLst>
              <a:ext uri="{FF2B5EF4-FFF2-40B4-BE49-F238E27FC236}">
                <a16:creationId xmlns:a16="http://schemas.microsoft.com/office/drawing/2014/main" id="{80508CDB-E113-4F75-AC29-7137AA810163}"/>
              </a:ext>
            </a:extLst>
          </p:cNvPr>
          <p:cNvSpPr>
            <a:spLocks noGrp="1"/>
          </p:cNvSpPr>
          <p:nvPr/>
        </p:nvSpPr>
        <p:spPr>
          <a:xfrm>
            <a:off x="7267575" y="3362325"/>
            <a:ext cx="1143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20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Picked up</a:t>
            </a:r>
          </a:p>
        </p:txBody>
      </p:sp>
      <p:sp>
        <p:nvSpPr>
          <p:cNvPr id="23" name="dot-07">
            <a:extLst>
              <a:ext uri="{FF2B5EF4-FFF2-40B4-BE49-F238E27FC236}">
                <a16:creationId xmlns:a16="http://schemas.microsoft.com/office/drawing/2014/main" id="{84D27A71-D0DE-42D3-A50D-26F255753CD4}"/>
              </a:ext>
            </a:extLst>
          </p:cNvPr>
          <p:cNvSpPr>
            <a:spLocks noGrp="1"/>
          </p:cNvSpPr>
          <p:nvPr/>
        </p:nvSpPr>
        <p:spPr>
          <a:xfrm>
            <a:off x="8972550" y="2695575"/>
            <a:ext cx="485775" cy="485775"/>
          </a:xfrm>
          <a:prstGeom prst="ellipse">
            <a:avLst/>
          </a:prstGeom>
          <a:solidFill>
            <a:srgbClr val="173F35"/>
          </a:solidFill>
          <a:ln w="0">
            <a:noFill/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24" name="text">
            <a:extLst>
              <a:ext uri="{FF2B5EF4-FFF2-40B4-BE49-F238E27FC236}">
                <a16:creationId xmlns:a16="http://schemas.microsoft.com/office/drawing/2014/main" id="{C41DEAA2-42C2-4F35-8C8E-720B573319B6}"/>
              </a:ext>
            </a:extLst>
          </p:cNvPr>
          <p:cNvSpPr>
            <a:spLocks noGrp="1"/>
          </p:cNvSpPr>
          <p:nvPr/>
        </p:nvSpPr>
        <p:spPr>
          <a:xfrm>
            <a:off x="8972550" y="2783015"/>
            <a:ext cx="485775" cy="30118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25" name="text">
            <a:extLst>
              <a:ext uri="{FF2B5EF4-FFF2-40B4-BE49-F238E27FC236}">
                <a16:creationId xmlns:a16="http://schemas.microsoft.com/office/drawing/2014/main" id="{C925A2E4-010F-4A12-A429-8C28BEE11E6A}"/>
              </a:ext>
            </a:extLst>
          </p:cNvPr>
          <p:cNvSpPr>
            <a:spLocks noGrp="1"/>
          </p:cNvSpPr>
          <p:nvPr/>
        </p:nvSpPr>
        <p:spPr>
          <a:xfrm>
            <a:off x="8648700" y="3362325"/>
            <a:ext cx="1143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20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In transit</a:t>
            </a:r>
          </a:p>
        </p:txBody>
      </p:sp>
      <p:sp>
        <p:nvSpPr>
          <p:cNvPr id="26" name="dot-08">
            <a:extLst>
              <a:ext uri="{FF2B5EF4-FFF2-40B4-BE49-F238E27FC236}">
                <a16:creationId xmlns:a16="http://schemas.microsoft.com/office/drawing/2014/main" id="{E0F592DE-C532-46E9-8090-428B30AC6C96}"/>
              </a:ext>
            </a:extLst>
          </p:cNvPr>
          <p:cNvSpPr>
            <a:spLocks noGrp="1"/>
          </p:cNvSpPr>
          <p:nvPr/>
        </p:nvSpPr>
        <p:spPr>
          <a:xfrm>
            <a:off x="10353675" y="2695575"/>
            <a:ext cx="485775" cy="485775"/>
          </a:xfrm>
          <a:prstGeom prst="ellipse">
            <a:avLst/>
          </a:prstGeom>
          <a:solidFill>
            <a:srgbClr val="173F35"/>
          </a:solidFill>
          <a:ln w="0">
            <a:noFill/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27" name="text">
            <a:extLst>
              <a:ext uri="{FF2B5EF4-FFF2-40B4-BE49-F238E27FC236}">
                <a16:creationId xmlns:a16="http://schemas.microsoft.com/office/drawing/2014/main" id="{915060B1-E657-480F-A629-6F407991944E}"/>
              </a:ext>
            </a:extLst>
          </p:cNvPr>
          <p:cNvSpPr>
            <a:spLocks noGrp="1"/>
          </p:cNvSpPr>
          <p:nvPr/>
        </p:nvSpPr>
        <p:spPr>
          <a:xfrm>
            <a:off x="10353675" y="2783015"/>
            <a:ext cx="485775" cy="30118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28" name="text">
            <a:extLst>
              <a:ext uri="{FF2B5EF4-FFF2-40B4-BE49-F238E27FC236}">
                <a16:creationId xmlns:a16="http://schemas.microsoft.com/office/drawing/2014/main" id="{7A5A0C83-9D93-4497-A717-F28098774E67}"/>
              </a:ext>
            </a:extLst>
          </p:cNvPr>
          <p:cNvSpPr>
            <a:spLocks noGrp="1"/>
          </p:cNvSpPr>
          <p:nvPr/>
        </p:nvSpPr>
        <p:spPr>
          <a:xfrm>
            <a:off x="10029825" y="3362325"/>
            <a:ext cx="1143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20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Delivered</a:t>
            </a:r>
          </a:p>
        </p:txBody>
      </p:sp>
      <p:sp>
        <p:nvSpPr>
          <p:cNvPr id="29" name="label-COMMIT">
            <a:extLst>
              <a:ext uri="{FF2B5EF4-FFF2-40B4-BE49-F238E27FC236}">
                <a16:creationId xmlns:a16="http://schemas.microsoft.com/office/drawing/2014/main" id="{413CEB31-B008-4E08-ACD1-0F92C8497361}"/>
              </a:ext>
            </a:extLst>
          </p:cNvPr>
          <p:cNvSpPr>
            <a:spLocks noGrp="1"/>
          </p:cNvSpPr>
          <p:nvPr/>
        </p:nvSpPr>
        <p:spPr>
          <a:xfrm>
            <a:off x="685800" y="2076450"/>
            <a:ext cx="114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1">
                <a:solidFill>
                  <a:srgbClr val="F0442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442F"/>
                </a:solidFill>
                <a:latin typeface="Arial"/>
                <a:ea typeface="Arial"/>
                <a:cs typeface="Arial"/>
              </a:rPr>
              <a:t>COMMIT</a:t>
            </a:r>
          </a:p>
        </p:txBody>
      </p:sp>
      <p:sp>
        <p:nvSpPr>
          <p:cNvPr id="30" name="label-FULFILL">
            <a:extLst>
              <a:ext uri="{FF2B5EF4-FFF2-40B4-BE49-F238E27FC236}">
                <a16:creationId xmlns:a16="http://schemas.microsoft.com/office/drawing/2014/main" id="{4BE41A8A-52DB-46FD-AA74-722CE3A427AB}"/>
              </a:ext>
            </a:extLst>
          </p:cNvPr>
          <p:cNvSpPr>
            <a:spLocks noGrp="1"/>
          </p:cNvSpPr>
          <p:nvPr/>
        </p:nvSpPr>
        <p:spPr>
          <a:xfrm>
            <a:off x="4819650" y="2076450"/>
            <a:ext cx="114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1">
                <a:solidFill>
                  <a:srgbClr val="A07E14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A07E14"/>
                </a:solidFill>
                <a:latin typeface="Arial"/>
                <a:ea typeface="Arial"/>
                <a:cs typeface="Arial"/>
              </a:rPr>
              <a:t>FULFILL</a:t>
            </a:r>
          </a:p>
        </p:txBody>
      </p:sp>
      <p:sp>
        <p:nvSpPr>
          <p:cNvPr id="31" name="label-DELIVER">
            <a:extLst>
              <a:ext uri="{FF2B5EF4-FFF2-40B4-BE49-F238E27FC236}">
                <a16:creationId xmlns:a16="http://schemas.microsoft.com/office/drawing/2014/main" id="{7E96C973-D16D-476E-95D9-44A1995AC2B7}"/>
              </a:ext>
            </a:extLst>
          </p:cNvPr>
          <p:cNvSpPr>
            <a:spLocks noGrp="1"/>
          </p:cNvSpPr>
          <p:nvPr/>
        </p:nvSpPr>
        <p:spPr>
          <a:xfrm>
            <a:off x="7581900" y="2076450"/>
            <a:ext cx="114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1">
                <a:solidFill>
                  <a:srgbClr val="173F3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73F35"/>
                </a:solidFill>
                <a:latin typeface="Arial"/>
                <a:ea typeface="Arial"/>
                <a:cs typeface="Arial"/>
              </a:rPr>
              <a:t>DELIVER</a:t>
            </a:r>
          </a:p>
        </p:txBody>
      </p:sp>
      <p:sp>
        <p:nvSpPr>
          <p:cNvPr id="32" name="exception-lane">
            <a:extLst>
              <a:ext uri="{FF2B5EF4-FFF2-40B4-BE49-F238E27FC236}">
                <a16:creationId xmlns:a16="http://schemas.microsoft.com/office/drawing/2014/main" id="{182C6B16-538B-4978-89E4-7D7A4FBF4491}"/>
              </a:ext>
            </a:extLst>
          </p:cNvPr>
          <p:cNvSpPr>
            <a:spLocks noGrp="1"/>
          </p:cNvSpPr>
          <p:nvPr/>
        </p:nvSpPr>
        <p:spPr>
          <a:xfrm>
            <a:off x="685800" y="4552950"/>
            <a:ext cx="10801350" cy="1085850"/>
          </a:xfrm>
          <a:prstGeom prst="rect">
            <a:avLst/>
          </a:prstGeom>
          <a:solidFill>
            <a:srgbClr val="FBE6E1"/>
          </a:solidFill>
          <a:ln w="0">
            <a:noFill/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33" name="text">
            <a:extLst>
              <a:ext uri="{FF2B5EF4-FFF2-40B4-BE49-F238E27FC236}">
                <a16:creationId xmlns:a16="http://schemas.microsoft.com/office/drawing/2014/main" id="{AB5C7C56-44AF-4E91-BC39-CDC9865F68A4}"/>
              </a:ext>
            </a:extLst>
          </p:cNvPr>
          <p:cNvSpPr>
            <a:spLocks noGrp="1"/>
          </p:cNvSpPr>
          <p:nvPr/>
        </p:nvSpPr>
        <p:spPr>
          <a:xfrm>
            <a:off x="904875" y="4772025"/>
            <a:ext cx="1809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1">
                <a:solidFill>
                  <a:srgbClr val="F0442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0442F"/>
                </a:solidFill>
                <a:latin typeface="Arial"/>
                <a:ea typeface="Arial"/>
                <a:cs typeface="Arial"/>
              </a:rPr>
              <a:t>Exception lane</a:t>
            </a:r>
          </a:p>
        </p:txBody>
      </p:sp>
      <p:sp>
        <p:nvSpPr>
          <p:cNvPr id="34" name="text">
            <a:extLst>
              <a:ext uri="{FF2B5EF4-FFF2-40B4-BE49-F238E27FC236}">
                <a16:creationId xmlns:a16="http://schemas.microsoft.com/office/drawing/2014/main" id="{12DC743F-C251-46DD-910F-68618E3F480B}"/>
              </a:ext>
            </a:extLst>
          </p:cNvPr>
          <p:cNvSpPr>
            <a:spLocks noGrp="1"/>
          </p:cNvSpPr>
          <p:nvPr/>
        </p:nvSpPr>
        <p:spPr>
          <a:xfrm>
            <a:off x="3048000" y="4781550"/>
            <a:ext cx="185737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PAYMENT_FAILED</a:t>
            </a:r>
          </a:p>
        </p:txBody>
      </p:sp>
      <p:sp>
        <p:nvSpPr>
          <p:cNvPr id="35" name="text">
            <a:extLst>
              <a:ext uri="{FF2B5EF4-FFF2-40B4-BE49-F238E27FC236}">
                <a16:creationId xmlns:a16="http://schemas.microsoft.com/office/drawing/2014/main" id="{BEDFF1E8-70D3-4C1B-8692-AE90D2219107}"/>
              </a:ext>
            </a:extLst>
          </p:cNvPr>
          <p:cNvSpPr>
            <a:spLocks noGrp="1"/>
          </p:cNvSpPr>
          <p:nvPr/>
        </p:nvSpPr>
        <p:spPr>
          <a:xfrm>
            <a:off x="5334000" y="4781550"/>
            <a:ext cx="13811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REJECTED</a:t>
            </a:r>
          </a:p>
        </p:txBody>
      </p:sp>
      <p:sp>
        <p:nvSpPr>
          <p:cNvPr id="36" name="text">
            <a:extLst>
              <a:ext uri="{FF2B5EF4-FFF2-40B4-BE49-F238E27FC236}">
                <a16:creationId xmlns:a16="http://schemas.microsoft.com/office/drawing/2014/main" id="{D2F1DC13-55EA-4EF4-967F-0627307D2E05}"/>
              </a:ext>
            </a:extLst>
          </p:cNvPr>
          <p:cNvSpPr>
            <a:spLocks noGrp="1"/>
          </p:cNvSpPr>
          <p:nvPr/>
        </p:nvSpPr>
        <p:spPr>
          <a:xfrm>
            <a:off x="7239000" y="4781550"/>
            <a:ext cx="1524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CANCELLED</a:t>
            </a:r>
          </a:p>
        </p:txBody>
      </p:sp>
      <p:sp>
        <p:nvSpPr>
          <p:cNvPr id="37" name="text">
            <a:extLst>
              <a:ext uri="{FF2B5EF4-FFF2-40B4-BE49-F238E27FC236}">
                <a16:creationId xmlns:a16="http://schemas.microsoft.com/office/drawing/2014/main" id="{C34B30C5-AE7B-4705-B5A0-7DBFC8CB903F}"/>
              </a:ext>
            </a:extLst>
          </p:cNvPr>
          <p:cNvSpPr>
            <a:spLocks noGrp="1"/>
          </p:cNvSpPr>
          <p:nvPr/>
        </p:nvSpPr>
        <p:spPr>
          <a:xfrm>
            <a:off x="3048000" y="5162550"/>
            <a:ext cx="723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Refund remains a linked payment workflow, not a replacement for order history.</a:t>
            </a:r>
          </a:p>
        </p:txBody>
      </p:sp>
      <p:sp>
        <p:nvSpPr>
          <p:cNvPr id="38" name="footer-section">
            <a:extLst>
              <a:ext uri="{FF2B5EF4-FFF2-40B4-BE49-F238E27FC236}">
                <a16:creationId xmlns:a16="http://schemas.microsoft.com/office/drawing/2014/main" id="{2BD04288-3039-4E5B-A564-0ADBA0DB6497}"/>
              </a:ext>
            </a:extLst>
          </p:cNvPr>
          <p:cNvSpPr>
            <a:spLocks noGrp="1"/>
          </p:cNvSpPr>
          <p:nvPr/>
        </p:nvSpPr>
        <p:spPr>
          <a:xfrm>
            <a:off x="609600" y="6515100"/>
            <a:ext cx="31432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750" b="1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06E68"/>
                </a:solidFill>
                <a:latin typeface="Arial"/>
                <a:ea typeface="Arial"/>
                <a:cs typeface="Arial"/>
              </a:rPr>
              <a:t>CANONICAL WORKFLOW</a:t>
            </a:r>
          </a:p>
        </p:txBody>
      </p:sp>
      <p:sp>
        <p:nvSpPr>
          <p:cNvPr id="39" name="footer-page">
            <a:extLst>
              <a:ext uri="{FF2B5EF4-FFF2-40B4-BE49-F238E27FC236}">
                <a16:creationId xmlns:a16="http://schemas.microsoft.com/office/drawing/2014/main" id="{775F6A27-5B19-4E3B-A72B-66D08EA75E43}"/>
              </a:ext>
            </a:extLst>
          </p:cNvPr>
          <p:cNvSpPr>
            <a:spLocks noGrp="1"/>
          </p:cNvSpPr>
          <p:nvPr/>
        </p:nvSpPr>
        <p:spPr>
          <a:xfrm>
            <a:off x="11096625" y="6496050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825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765484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lide-title">
            <a:extLst>
              <a:ext uri="{FF2B5EF4-FFF2-40B4-BE49-F238E27FC236}">
                <a16:creationId xmlns:a16="http://schemas.microsoft.com/office/drawing/2014/main" id="{FA8968A1-DDD4-415A-98F0-AC76DC64E984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477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315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3150" b="1" dirty="0">
                <a:solidFill>
                  <a:srgbClr val="171713"/>
                </a:solidFill>
                <a:latin typeface="Arial"/>
                <a:ea typeface="Arial"/>
                <a:cs typeface="Arial"/>
              </a:rPr>
              <a:t>Boundaries isolate change and preserve traceability</a:t>
            </a:r>
          </a:p>
        </p:txBody>
      </p:sp>
      <p:sp>
        <p:nvSpPr>
          <p:cNvPr id="2" name="slide-subtitle">
            <a:extLst>
              <a:ext uri="{FF2B5EF4-FFF2-40B4-BE49-F238E27FC236}">
                <a16:creationId xmlns:a16="http://schemas.microsoft.com/office/drawing/2014/main" id="{7FD9D914-F8BD-404A-A7CA-6FC514A1C41F}"/>
              </a:ext>
            </a:extLst>
          </p:cNvPr>
          <p:cNvSpPr>
            <a:spLocks noGrp="1"/>
          </p:cNvSpPr>
          <p:nvPr/>
        </p:nvSpPr>
        <p:spPr>
          <a:xfrm>
            <a:off x="628650" y="1104900"/>
            <a:ext cx="971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Synchronous commands establish intent; durable events distribute the result.</a:t>
            </a:r>
          </a:p>
        </p:txBody>
      </p:sp>
      <p:cxnSp>
        <p:nvCxnSpPr>
          <p:cNvPr id="52" name="title-rule"/>
          <p:cNvCxnSpPr/>
          <p:nvPr/>
        </p:nvCxnSpPr>
        <p:spPr>
          <a:xfrm>
            <a:off x="609600" y="1495425"/>
            <a:ext cx="10972800" cy="0"/>
          </a:xfrm>
          <a:prstGeom prst="straightConnector1">
            <a:avLst/>
          </a:prstGeom>
          <a:ln w="9525">
            <a:solidFill>
              <a:srgbClr val="C8C6C0"/>
            </a:solidFill>
            <a:prstDash val="solid"/>
          </a:ln>
        </p:spPr>
      </p:cxnSp>
      <p:sp>
        <p:nvSpPr>
          <p:cNvPr id="4" name="client-0">
            <a:extLst>
              <a:ext uri="{FF2B5EF4-FFF2-40B4-BE49-F238E27FC236}">
                <a16:creationId xmlns:a16="http://schemas.microsoft.com/office/drawing/2014/main" id="{60B699EC-2F81-4913-BD96-D070EE66D7F5}"/>
              </a:ext>
            </a:extLst>
          </p:cNvPr>
          <p:cNvSpPr>
            <a:spLocks noGrp="1"/>
          </p:cNvSpPr>
          <p:nvPr/>
        </p:nvSpPr>
        <p:spPr>
          <a:xfrm>
            <a:off x="1000125" y="1885950"/>
            <a:ext cx="1571625" cy="447675"/>
          </a:xfrm>
          <a:prstGeom prst="rect">
            <a:avLst/>
          </a:prstGeom>
          <a:solidFill>
            <a:srgbClr val="FFFFFF"/>
          </a:solidFill>
          <a:ln w="9525">
            <a:solidFill>
              <a:srgbClr val="C8C6C0"/>
            </a:solidFill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5" name="client-1">
            <a:extLst>
              <a:ext uri="{FF2B5EF4-FFF2-40B4-BE49-F238E27FC236}">
                <a16:creationId xmlns:a16="http://schemas.microsoft.com/office/drawing/2014/main" id="{6AA46DD6-2084-4914-A08D-1056481054A8}"/>
              </a:ext>
            </a:extLst>
          </p:cNvPr>
          <p:cNvSpPr>
            <a:spLocks noGrp="1"/>
          </p:cNvSpPr>
          <p:nvPr/>
        </p:nvSpPr>
        <p:spPr>
          <a:xfrm>
            <a:off x="2952750" y="1885950"/>
            <a:ext cx="1571625" cy="447675"/>
          </a:xfrm>
          <a:prstGeom prst="rect">
            <a:avLst/>
          </a:prstGeom>
          <a:solidFill>
            <a:srgbClr val="FFFFFF"/>
          </a:solidFill>
          <a:ln w="9525">
            <a:solidFill>
              <a:srgbClr val="C8C6C0"/>
            </a:solidFill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6" name="client-2">
            <a:extLst>
              <a:ext uri="{FF2B5EF4-FFF2-40B4-BE49-F238E27FC236}">
                <a16:creationId xmlns:a16="http://schemas.microsoft.com/office/drawing/2014/main" id="{E332F0AE-A3B4-4341-8910-A94982FC233D}"/>
              </a:ext>
            </a:extLst>
          </p:cNvPr>
          <p:cNvSpPr>
            <a:spLocks noGrp="1"/>
          </p:cNvSpPr>
          <p:nvPr/>
        </p:nvSpPr>
        <p:spPr>
          <a:xfrm>
            <a:off x="4905375" y="1885950"/>
            <a:ext cx="1571625" cy="447675"/>
          </a:xfrm>
          <a:prstGeom prst="rect">
            <a:avLst/>
          </a:prstGeom>
          <a:solidFill>
            <a:srgbClr val="FFFFFF"/>
          </a:solidFill>
          <a:ln w="9525">
            <a:solidFill>
              <a:srgbClr val="C8C6C0"/>
            </a:solidFill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DF62B870-DFAA-4911-826E-9AA4F24E94EB}"/>
              </a:ext>
            </a:extLst>
          </p:cNvPr>
          <p:cNvSpPr>
            <a:spLocks noGrp="1"/>
          </p:cNvSpPr>
          <p:nvPr/>
        </p:nvSpPr>
        <p:spPr>
          <a:xfrm>
            <a:off x="1000125" y="2009775"/>
            <a:ext cx="1571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20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Customer app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9B88F810-F474-4B27-A225-2D23527C768D}"/>
              </a:ext>
            </a:extLst>
          </p:cNvPr>
          <p:cNvSpPr>
            <a:spLocks noGrp="1"/>
          </p:cNvSpPr>
          <p:nvPr/>
        </p:nvSpPr>
        <p:spPr>
          <a:xfrm>
            <a:off x="2952750" y="2009775"/>
            <a:ext cx="1571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20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Restaurant portal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B8554F0E-CF00-4668-AA90-022B0DA3D8F6}"/>
              </a:ext>
            </a:extLst>
          </p:cNvPr>
          <p:cNvSpPr>
            <a:spLocks noGrp="1"/>
          </p:cNvSpPr>
          <p:nvPr/>
        </p:nvSpPr>
        <p:spPr>
          <a:xfrm>
            <a:off x="4905375" y="2009775"/>
            <a:ext cx="1571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20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Courier app</a:t>
            </a:r>
          </a:p>
        </p:txBody>
      </p:sp>
      <p:cxnSp>
        <p:nvCxnSpPr>
          <p:cNvPr id="59" name="trust-boundary"/>
          <p:cNvCxnSpPr/>
          <p:nvPr/>
        </p:nvCxnSpPr>
        <p:spPr>
          <a:xfrm>
            <a:off x="6572250" y="1647825"/>
            <a:ext cx="0" cy="4048125"/>
          </a:xfrm>
          <a:prstGeom prst="straightConnector1">
            <a:avLst/>
          </a:prstGeom>
          <a:ln w="9525">
            <a:solidFill>
              <a:srgbClr val="C8C6C0"/>
            </a:solidFill>
            <a:prstDash val="solid"/>
          </a:ln>
        </p:spPr>
      </p:cxnSp>
      <p:sp>
        <p:nvSpPr>
          <p:cNvPr id="11" name="label-PUBLIC">
            <a:extLst>
              <a:ext uri="{FF2B5EF4-FFF2-40B4-BE49-F238E27FC236}">
                <a16:creationId xmlns:a16="http://schemas.microsoft.com/office/drawing/2014/main" id="{846EAA39-3B8B-4870-854F-1E830BE37DEB}"/>
              </a:ext>
            </a:extLst>
          </p:cNvPr>
          <p:cNvSpPr>
            <a:spLocks noGrp="1"/>
          </p:cNvSpPr>
          <p:nvPr/>
        </p:nvSpPr>
        <p:spPr>
          <a:xfrm>
            <a:off x="685800" y="1657350"/>
            <a:ext cx="95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1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706E68"/>
                </a:solidFill>
                <a:latin typeface="Arial"/>
                <a:ea typeface="Arial"/>
                <a:cs typeface="Arial"/>
              </a:rPr>
              <a:t>PUBLIC</a:t>
            </a:r>
          </a:p>
        </p:txBody>
      </p:sp>
      <p:sp>
        <p:nvSpPr>
          <p:cNvPr id="12" name="label-PRIVATE PLATFORM">
            <a:extLst>
              <a:ext uri="{FF2B5EF4-FFF2-40B4-BE49-F238E27FC236}">
                <a16:creationId xmlns:a16="http://schemas.microsoft.com/office/drawing/2014/main" id="{5326C84D-1221-40DE-8B5D-E7FC06D9FCFB}"/>
              </a:ext>
            </a:extLst>
          </p:cNvPr>
          <p:cNvSpPr>
            <a:spLocks noGrp="1"/>
          </p:cNvSpPr>
          <p:nvPr/>
        </p:nvSpPr>
        <p:spPr>
          <a:xfrm>
            <a:off x="6858000" y="165735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1">
                <a:solidFill>
                  <a:srgbClr val="173F3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73F35"/>
                </a:solidFill>
                <a:latin typeface="Arial"/>
                <a:ea typeface="Arial"/>
                <a:cs typeface="Arial"/>
              </a:rPr>
              <a:t>PRIVATE PLATFORM</a:t>
            </a:r>
          </a:p>
        </p:txBody>
      </p:sp>
      <p:cxnSp>
        <p:nvCxnSpPr>
          <p:cNvPr id="62" name="gateway-in"/>
          <p:cNvCxnSpPr/>
          <p:nvPr/>
        </p:nvCxnSpPr>
        <p:spPr>
          <a:xfrm>
            <a:off x="6477000" y="2105025"/>
            <a:ext cx="381000" cy="0"/>
          </a:xfrm>
          <a:prstGeom prst="straightConnector1">
            <a:avLst/>
          </a:prstGeom>
          <a:ln w="19050">
            <a:solidFill>
              <a:srgbClr val="F0442F"/>
            </a:solidFill>
            <a:prstDash val="solid"/>
          </a:ln>
        </p:spPr>
      </p:cxnSp>
      <p:sp>
        <p:nvSpPr>
          <p:cNvPr id="14" name="api-gateway">
            <a:extLst>
              <a:ext uri="{FF2B5EF4-FFF2-40B4-BE49-F238E27FC236}">
                <a16:creationId xmlns:a16="http://schemas.microsoft.com/office/drawing/2014/main" id="{842EAA16-FFDA-4090-9E5D-5B007C28BB6A}"/>
              </a:ext>
            </a:extLst>
          </p:cNvPr>
          <p:cNvSpPr>
            <a:spLocks noGrp="1"/>
          </p:cNvSpPr>
          <p:nvPr/>
        </p:nvSpPr>
        <p:spPr>
          <a:xfrm>
            <a:off x="6858000" y="1885950"/>
            <a:ext cx="1714500" cy="447675"/>
          </a:xfrm>
          <a:prstGeom prst="rect">
            <a:avLst/>
          </a:prstGeom>
          <a:solidFill>
            <a:srgbClr val="171713"/>
          </a:solidFill>
          <a:ln w="0">
            <a:noFill/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53E2FA0E-02E3-4ECD-A556-CF0EA96607D3}"/>
              </a:ext>
            </a:extLst>
          </p:cNvPr>
          <p:cNvSpPr>
            <a:spLocks noGrp="1"/>
          </p:cNvSpPr>
          <p:nvPr/>
        </p:nvSpPr>
        <p:spPr>
          <a:xfrm>
            <a:off x="6858000" y="2009775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API Gateway / BFF</a:t>
            </a:r>
          </a:p>
        </p:txBody>
      </p:sp>
      <p:sp>
        <p:nvSpPr>
          <p:cNvPr id="16" name="realtime-gateway">
            <a:extLst>
              <a:ext uri="{FF2B5EF4-FFF2-40B4-BE49-F238E27FC236}">
                <a16:creationId xmlns:a16="http://schemas.microsoft.com/office/drawing/2014/main" id="{4FEB1989-08CE-46DA-986F-9664099F8CF5}"/>
              </a:ext>
            </a:extLst>
          </p:cNvPr>
          <p:cNvSpPr>
            <a:spLocks noGrp="1"/>
          </p:cNvSpPr>
          <p:nvPr/>
        </p:nvSpPr>
        <p:spPr>
          <a:xfrm>
            <a:off x="8858250" y="1885950"/>
            <a:ext cx="1714500" cy="447675"/>
          </a:xfrm>
          <a:prstGeom prst="rect">
            <a:avLst/>
          </a:prstGeom>
          <a:solidFill>
            <a:srgbClr val="EFEDE8"/>
          </a:solidFill>
          <a:ln w="0">
            <a:noFill/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C63CF870-DF3C-4639-AE28-2580A37C6F3A}"/>
              </a:ext>
            </a:extLst>
          </p:cNvPr>
          <p:cNvSpPr>
            <a:spLocks noGrp="1"/>
          </p:cNvSpPr>
          <p:nvPr/>
        </p:nvSpPr>
        <p:spPr>
          <a:xfrm>
            <a:off x="8858250" y="2009775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20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Realtime Gateway</a:t>
            </a:r>
          </a:p>
        </p:txBody>
      </p:sp>
      <p:cxnSp>
        <p:nvCxnSpPr>
          <p:cNvPr id="67" name="edge-down-a"/>
          <p:cNvCxnSpPr/>
          <p:nvPr/>
        </p:nvCxnSpPr>
        <p:spPr>
          <a:xfrm>
            <a:off x="7715250" y="2333625"/>
            <a:ext cx="0" cy="647700"/>
          </a:xfrm>
          <a:prstGeom prst="straightConnector1">
            <a:avLst/>
          </a:prstGeom>
          <a:ln w="9525">
            <a:solidFill>
              <a:srgbClr val="C8C6C0"/>
            </a:solidFill>
            <a:prstDash val="solid"/>
          </a:ln>
        </p:spPr>
      </p:cxnSp>
      <p:cxnSp>
        <p:nvCxnSpPr>
          <p:cNvPr id="68" name="edge-down-b"/>
          <p:cNvCxnSpPr/>
          <p:nvPr/>
        </p:nvCxnSpPr>
        <p:spPr>
          <a:xfrm>
            <a:off x="9715500" y="2333625"/>
            <a:ext cx="0" cy="647700"/>
          </a:xfrm>
          <a:prstGeom prst="straightConnector1">
            <a:avLst/>
          </a:prstGeom>
          <a:ln w="9525">
            <a:solidFill>
              <a:srgbClr val="C8C6C0"/>
            </a:solidFill>
            <a:prstDash val="solid"/>
          </a:ln>
        </p:spPr>
      </p:cxnSp>
      <p:cxnSp>
        <p:nvCxnSpPr>
          <p:cNvPr id="69" name="service-bus"/>
          <p:cNvCxnSpPr/>
          <p:nvPr/>
        </p:nvCxnSpPr>
        <p:spPr>
          <a:xfrm>
            <a:off x="7239000" y="3219450"/>
            <a:ext cx="3905250" cy="0"/>
          </a:xfrm>
          <a:prstGeom prst="straightConnector1">
            <a:avLst/>
          </a:prstGeom>
          <a:ln w="9525">
            <a:solidFill>
              <a:srgbClr val="C8C6C0"/>
            </a:solidFill>
            <a:prstDash val="solid"/>
          </a:ln>
        </p:spPr>
      </p:cxnSp>
      <p:cxnSp>
        <p:nvCxnSpPr>
          <p:cNvPr id="70" name="event-backbone"/>
          <p:cNvCxnSpPr/>
          <p:nvPr/>
        </p:nvCxnSpPr>
        <p:spPr>
          <a:xfrm>
            <a:off x="8734425" y="2333625"/>
            <a:ext cx="0" cy="3028950"/>
          </a:xfrm>
          <a:prstGeom prst="straightConnector1">
            <a:avLst/>
          </a:prstGeom>
          <a:ln w="9525">
            <a:solidFill>
              <a:srgbClr val="C8C6C0"/>
            </a:solidFill>
            <a:prstDash val="solid"/>
          </a:ln>
        </p:spPr>
      </p:cxnSp>
      <p:sp>
        <p:nvSpPr>
          <p:cNvPr id="22" name="service-Catalog">
            <a:extLst>
              <a:ext uri="{FF2B5EF4-FFF2-40B4-BE49-F238E27FC236}">
                <a16:creationId xmlns:a16="http://schemas.microsoft.com/office/drawing/2014/main" id="{28D58390-581A-4271-A1F9-23D4B1A03E75}"/>
              </a:ext>
            </a:extLst>
          </p:cNvPr>
          <p:cNvSpPr>
            <a:spLocks noGrp="1"/>
          </p:cNvSpPr>
          <p:nvPr/>
        </p:nvSpPr>
        <p:spPr>
          <a:xfrm>
            <a:off x="6858000" y="3009900"/>
            <a:ext cx="1285875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6C0"/>
            </a:solidFill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23" name="text">
            <a:extLst>
              <a:ext uri="{FF2B5EF4-FFF2-40B4-BE49-F238E27FC236}">
                <a16:creationId xmlns:a16="http://schemas.microsoft.com/office/drawing/2014/main" id="{4A5D1815-3BB5-406C-B30C-48AFA429C7A7}"/>
              </a:ext>
            </a:extLst>
          </p:cNvPr>
          <p:cNvSpPr>
            <a:spLocks noGrp="1"/>
          </p:cNvSpPr>
          <p:nvPr/>
        </p:nvSpPr>
        <p:spPr>
          <a:xfrm>
            <a:off x="6858000" y="3133725"/>
            <a:ext cx="1285875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20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Catalog</a:t>
            </a:r>
          </a:p>
        </p:txBody>
      </p:sp>
      <p:sp>
        <p:nvSpPr>
          <p:cNvPr id="24" name="service-Order">
            <a:extLst>
              <a:ext uri="{FF2B5EF4-FFF2-40B4-BE49-F238E27FC236}">
                <a16:creationId xmlns:a16="http://schemas.microsoft.com/office/drawing/2014/main" id="{A971ED34-5161-4083-835E-2C243F7F775F}"/>
              </a:ext>
            </a:extLst>
          </p:cNvPr>
          <p:cNvSpPr>
            <a:spLocks noGrp="1"/>
          </p:cNvSpPr>
          <p:nvPr/>
        </p:nvSpPr>
        <p:spPr>
          <a:xfrm>
            <a:off x="8324850" y="3009900"/>
            <a:ext cx="1285875" cy="457200"/>
          </a:xfrm>
          <a:prstGeom prst="rect">
            <a:avLst/>
          </a:prstGeom>
          <a:solidFill>
            <a:srgbClr val="FBE6E1"/>
          </a:solidFill>
          <a:ln w="9525">
            <a:solidFill>
              <a:srgbClr val="F0442F"/>
            </a:solidFill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25" name="text">
            <a:extLst>
              <a:ext uri="{FF2B5EF4-FFF2-40B4-BE49-F238E27FC236}">
                <a16:creationId xmlns:a16="http://schemas.microsoft.com/office/drawing/2014/main" id="{A33EB851-99E7-4258-9D05-A0EC4F404981}"/>
              </a:ext>
            </a:extLst>
          </p:cNvPr>
          <p:cNvSpPr>
            <a:spLocks noGrp="1"/>
          </p:cNvSpPr>
          <p:nvPr/>
        </p:nvSpPr>
        <p:spPr>
          <a:xfrm>
            <a:off x="8324850" y="3133725"/>
            <a:ext cx="1285875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20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Order</a:t>
            </a:r>
          </a:p>
        </p:txBody>
      </p:sp>
      <p:sp>
        <p:nvSpPr>
          <p:cNvPr id="26" name="service-Payment">
            <a:extLst>
              <a:ext uri="{FF2B5EF4-FFF2-40B4-BE49-F238E27FC236}">
                <a16:creationId xmlns:a16="http://schemas.microsoft.com/office/drawing/2014/main" id="{29DD0BB7-EA1C-4B07-BB93-0EA0D10BAEF8}"/>
              </a:ext>
            </a:extLst>
          </p:cNvPr>
          <p:cNvSpPr>
            <a:spLocks noGrp="1"/>
          </p:cNvSpPr>
          <p:nvPr/>
        </p:nvSpPr>
        <p:spPr>
          <a:xfrm>
            <a:off x="9791700" y="3009900"/>
            <a:ext cx="1285875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6C0"/>
            </a:solidFill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27" name="text">
            <a:extLst>
              <a:ext uri="{FF2B5EF4-FFF2-40B4-BE49-F238E27FC236}">
                <a16:creationId xmlns:a16="http://schemas.microsoft.com/office/drawing/2014/main" id="{4110A153-1855-45A5-AC57-0DFEDDEE99A7}"/>
              </a:ext>
            </a:extLst>
          </p:cNvPr>
          <p:cNvSpPr>
            <a:spLocks noGrp="1"/>
          </p:cNvSpPr>
          <p:nvPr/>
        </p:nvSpPr>
        <p:spPr>
          <a:xfrm>
            <a:off x="9791700" y="3133725"/>
            <a:ext cx="1285875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20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Payment</a:t>
            </a:r>
          </a:p>
        </p:txBody>
      </p:sp>
      <p:sp>
        <p:nvSpPr>
          <p:cNvPr id="28" name="service-Dispatch">
            <a:extLst>
              <a:ext uri="{FF2B5EF4-FFF2-40B4-BE49-F238E27FC236}">
                <a16:creationId xmlns:a16="http://schemas.microsoft.com/office/drawing/2014/main" id="{F564FC65-3103-4080-BAC4-B63D803711CB}"/>
              </a:ext>
            </a:extLst>
          </p:cNvPr>
          <p:cNvSpPr>
            <a:spLocks noGrp="1"/>
          </p:cNvSpPr>
          <p:nvPr/>
        </p:nvSpPr>
        <p:spPr>
          <a:xfrm>
            <a:off x="6858000" y="3819525"/>
            <a:ext cx="1285875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6C0"/>
            </a:solidFill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29" name="text">
            <a:extLst>
              <a:ext uri="{FF2B5EF4-FFF2-40B4-BE49-F238E27FC236}">
                <a16:creationId xmlns:a16="http://schemas.microsoft.com/office/drawing/2014/main" id="{4AAAB015-D65C-44D0-92E3-226E11316E8F}"/>
              </a:ext>
            </a:extLst>
          </p:cNvPr>
          <p:cNvSpPr>
            <a:spLocks noGrp="1"/>
          </p:cNvSpPr>
          <p:nvPr/>
        </p:nvSpPr>
        <p:spPr>
          <a:xfrm>
            <a:off x="6858000" y="3943350"/>
            <a:ext cx="1285875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20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Dispatch</a:t>
            </a:r>
          </a:p>
        </p:txBody>
      </p:sp>
      <p:sp>
        <p:nvSpPr>
          <p:cNvPr id="30" name="service-Tracking">
            <a:extLst>
              <a:ext uri="{FF2B5EF4-FFF2-40B4-BE49-F238E27FC236}">
                <a16:creationId xmlns:a16="http://schemas.microsoft.com/office/drawing/2014/main" id="{379E12E3-FB1D-471F-99DE-EE247047D520}"/>
              </a:ext>
            </a:extLst>
          </p:cNvPr>
          <p:cNvSpPr>
            <a:spLocks noGrp="1"/>
          </p:cNvSpPr>
          <p:nvPr/>
        </p:nvSpPr>
        <p:spPr>
          <a:xfrm>
            <a:off x="8324850" y="3819525"/>
            <a:ext cx="1285875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6C0"/>
            </a:solidFill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31" name="text">
            <a:extLst>
              <a:ext uri="{FF2B5EF4-FFF2-40B4-BE49-F238E27FC236}">
                <a16:creationId xmlns:a16="http://schemas.microsoft.com/office/drawing/2014/main" id="{432776DD-2667-487A-83DC-7DC72FA6AB06}"/>
              </a:ext>
            </a:extLst>
          </p:cNvPr>
          <p:cNvSpPr>
            <a:spLocks noGrp="1"/>
          </p:cNvSpPr>
          <p:nvPr/>
        </p:nvSpPr>
        <p:spPr>
          <a:xfrm>
            <a:off x="8324850" y="3943350"/>
            <a:ext cx="1285875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20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Tracking</a:t>
            </a:r>
          </a:p>
        </p:txBody>
      </p:sp>
      <p:sp>
        <p:nvSpPr>
          <p:cNvPr id="32" name="service-Notification">
            <a:extLst>
              <a:ext uri="{FF2B5EF4-FFF2-40B4-BE49-F238E27FC236}">
                <a16:creationId xmlns:a16="http://schemas.microsoft.com/office/drawing/2014/main" id="{BC49D6B6-1C38-4CBA-B92C-8E7DC79FBAB4}"/>
              </a:ext>
            </a:extLst>
          </p:cNvPr>
          <p:cNvSpPr>
            <a:spLocks noGrp="1"/>
          </p:cNvSpPr>
          <p:nvPr/>
        </p:nvSpPr>
        <p:spPr>
          <a:xfrm>
            <a:off x="9791700" y="3819525"/>
            <a:ext cx="1285875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6C0"/>
            </a:solidFill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33" name="text">
            <a:extLst>
              <a:ext uri="{FF2B5EF4-FFF2-40B4-BE49-F238E27FC236}">
                <a16:creationId xmlns:a16="http://schemas.microsoft.com/office/drawing/2014/main" id="{8B75F291-33AB-4D2F-9B2C-EB353C2178FA}"/>
              </a:ext>
            </a:extLst>
          </p:cNvPr>
          <p:cNvSpPr>
            <a:spLocks noGrp="1"/>
          </p:cNvSpPr>
          <p:nvPr/>
        </p:nvSpPr>
        <p:spPr>
          <a:xfrm>
            <a:off x="9791700" y="3943350"/>
            <a:ext cx="1285875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20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Notification</a:t>
            </a:r>
          </a:p>
        </p:txBody>
      </p:sp>
      <p:sp>
        <p:nvSpPr>
          <p:cNvPr id="34" name="architecture-explainer">
            <a:extLst>
              <a:ext uri="{FF2B5EF4-FFF2-40B4-BE49-F238E27FC236}">
                <a16:creationId xmlns:a16="http://schemas.microsoft.com/office/drawing/2014/main" id="{7DE472B6-6245-4E86-AC23-A174023C6621}"/>
              </a:ext>
            </a:extLst>
          </p:cNvPr>
          <p:cNvSpPr>
            <a:spLocks noGrp="1"/>
          </p:cNvSpPr>
          <p:nvPr/>
        </p:nvSpPr>
        <p:spPr>
          <a:xfrm>
            <a:off x="685800" y="2905125"/>
            <a:ext cx="5286375" cy="2171700"/>
          </a:xfrm>
          <a:prstGeom prst="rect">
            <a:avLst/>
          </a:prstGeom>
          <a:solidFill>
            <a:srgbClr val="EFEDE8"/>
          </a:solidFill>
          <a:ln w="0">
            <a:noFill/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35" name="label-COMMAND PATH">
            <a:extLst>
              <a:ext uri="{FF2B5EF4-FFF2-40B4-BE49-F238E27FC236}">
                <a16:creationId xmlns:a16="http://schemas.microsoft.com/office/drawing/2014/main" id="{3729CA7E-625B-41A1-A439-79322E7B97C9}"/>
              </a:ext>
            </a:extLst>
          </p:cNvPr>
          <p:cNvSpPr>
            <a:spLocks noGrp="1"/>
          </p:cNvSpPr>
          <p:nvPr/>
        </p:nvSpPr>
        <p:spPr>
          <a:xfrm>
            <a:off x="933450" y="3152775"/>
            <a:ext cx="1714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1">
                <a:solidFill>
                  <a:srgbClr val="F0442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442F"/>
                </a:solidFill>
                <a:latin typeface="Arial"/>
                <a:ea typeface="Arial"/>
                <a:cs typeface="Arial"/>
              </a:rPr>
              <a:t>COMMAND PATH</a:t>
            </a:r>
          </a:p>
        </p:txBody>
      </p:sp>
      <p:sp>
        <p:nvSpPr>
          <p:cNvPr id="36" name="text">
            <a:extLst>
              <a:ext uri="{FF2B5EF4-FFF2-40B4-BE49-F238E27FC236}">
                <a16:creationId xmlns:a16="http://schemas.microsoft.com/office/drawing/2014/main" id="{DB00CC0E-EA08-42A2-942F-D18182106F75}"/>
              </a:ext>
            </a:extLst>
          </p:cNvPr>
          <p:cNvSpPr>
            <a:spLocks noGrp="1"/>
          </p:cNvSpPr>
          <p:nvPr/>
        </p:nvSpPr>
        <p:spPr>
          <a:xfrm>
            <a:off x="933450" y="352425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0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HTTPS / REST</a:t>
            </a:r>
          </a:p>
        </p:txBody>
      </p:sp>
      <p:sp>
        <p:nvSpPr>
          <p:cNvPr id="37" name="text">
            <a:extLst>
              <a:ext uri="{FF2B5EF4-FFF2-40B4-BE49-F238E27FC236}">
                <a16:creationId xmlns:a16="http://schemas.microsoft.com/office/drawing/2014/main" id="{F063D6E9-9A64-4978-9A18-2B001A0913DF}"/>
              </a:ext>
            </a:extLst>
          </p:cNvPr>
          <p:cNvSpPr>
            <a:spLocks noGrp="1"/>
          </p:cNvSpPr>
          <p:nvPr/>
        </p:nvSpPr>
        <p:spPr>
          <a:xfrm>
            <a:off x="933450" y="3962400"/>
            <a:ext cx="2333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1275" b="0" dirty="0">
                <a:solidFill>
                  <a:srgbClr val="706E68"/>
                </a:solidFill>
                <a:latin typeface="Arial"/>
                <a:ea typeface="Arial"/>
                <a:cs typeface="Arial"/>
              </a:rPr>
              <a:t>Validation, authorization, rate limits, and ownership checks at the edge.</a:t>
            </a:r>
          </a:p>
        </p:txBody>
      </p:sp>
      <p:sp>
        <p:nvSpPr>
          <p:cNvPr id="38" name="text">
            <a:extLst>
              <a:ext uri="{FF2B5EF4-FFF2-40B4-BE49-F238E27FC236}">
                <a16:creationId xmlns:a16="http://schemas.microsoft.com/office/drawing/2014/main" id="{8B255FEC-1143-4330-AF15-FE72855852B4}"/>
              </a:ext>
            </a:extLst>
          </p:cNvPr>
          <p:cNvSpPr>
            <a:spLocks noGrp="1"/>
          </p:cNvSpPr>
          <p:nvPr/>
        </p:nvSpPr>
        <p:spPr>
          <a:xfrm>
            <a:off x="3638550" y="3152775"/>
            <a:ext cx="1714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1">
                <a:solidFill>
                  <a:srgbClr val="173F3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73F35"/>
                </a:solidFill>
                <a:latin typeface="Arial"/>
                <a:ea typeface="Arial"/>
                <a:cs typeface="Arial"/>
              </a:rPr>
              <a:t>EVENT PATH</a:t>
            </a:r>
          </a:p>
        </p:txBody>
      </p:sp>
      <p:sp>
        <p:nvSpPr>
          <p:cNvPr id="39" name="text">
            <a:extLst>
              <a:ext uri="{FF2B5EF4-FFF2-40B4-BE49-F238E27FC236}">
                <a16:creationId xmlns:a16="http://schemas.microsoft.com/office/drawing/2014/main" id="{18F4F6A6-2E06-421A-808E-A25FB02947D4}"/>
              </a:ext>
            </a:extLst>
          </p:cNvPr>
          <p:cNvSpPr>
            <a:spLocks noGrp="1"/>
          </p:cNvSpPr>
          <p:nvPr/>
        </p:nvSpPr>
        <p:spPr>
          <a:xfrm>
            <a:off x="3638550" y="3524250"/>
            <a:ext cx="1428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0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Kafka</a:t>
            </a:r>
          </a:p>
        </p:txBody>
      </p:sp>
      <p:sp>
        <p:nvSpPr>
          <p:cNvPr id="40" name="text">
            <a:extLst>
              <a:ext uri="{FF2B5EF4-FFF2-40B4-BE49-F238E27FC236}">
                <a16:creationId xmlns:a16="http://schemas.microsoft.com/office/drawing/2014/main" id="{0F857292-1E3A-4FFE-9EC7-AF89CB08C54E}"/>
              </a:ext>
            </a:extLst>
          </p:cNvPr>
          <p:cNvSpPr>
            <a:spLocks noGrp="1"/>
          </p:cNvSpPr>
          <p:nvPr/>
        </p:nvSpPr>
        <p:spPr>
          <a:xfrm>
            <a:off x="3638550" y="3962400"/>
            <a:ext cx="20002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Outbox, replay, consumer inbox, and dead-letter handling.</a:t>
            </a:r>
          </a:p>
        </p:txBody>
      </p:sp>
      <p:sp>
        <p:nvSpPr>
          <p:cNvPr id="41" name="postgres">
            <a:extLst>
              <a:ext uri="{FF2B5EF4-FFF2-40B4-BE49-F238E27FC236}">
                <a16:creationId xmlns:a16="http://schemas.microsoft.com/office/drawing/2014/main" id="{EACB199A-92AC-4DBA-ABCD-5C4A99C11575}"/>
              </a:ext>
            </a:extLst>
          </p:cNvPr>
          <p:cNvSpPr>
            <a:spLocks noGrp="1"/>
          </p:cNvSpPr>
          <p:nvPr/>
        </p:nvSpPr>
        <p:spPr>
          <a:xfrm>
            <a:off x="6858000" y="4943475"/>
            <a:ext cx="1285875" cy="447675"/>
          </a:xfrm>
          <a:prstGeom prst="rect">
            <a:avLst/>
          </a:prstGeom>
          <a:solidFill>
            <a:srgbClr val="E1EBE7"/>
          </a:solidFill>
          <a:ln w="0">
            <a:noFill/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42" name="redis">
            <a:extLst>
              <a:ext uri="{FF2B5EF4-FFF2-40B4-BE49-F238E27FC236}">
                <a16:creationId xmlns:a16="http://schemas.microsoft.com/office/drawing/2014/main" id="{1DD0400A-CF6B-41BB-BC40-CD79C4B3FF1C}"/>
              </a:ext>
            </a:extLst>
          </p:cNvPr>
          <p:cNvSpPr>
            <a:spLocks noGrp="1"/>
          </p:cNvSpPr>
          <p:nvPr/>
        </p:nvSpPr>
        <p:spPr>
          <a:xfrm>
            <a:off x="8324850" y="4943475"/>
            <a:ext cx="1285875" cy="447675"/>
          </a:xfrm>
          <a:prstGeom prst="rect">
            <a:avLst/>
          </a:prstGeom>
          <a:solidFill>
            <a:srgbClr val="E1EBE7"/>
          </a:solidFill>
          <a:ln w="0">
            <a:noFill/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43" name="kafka">
            <a:extLst>
              <a:ext uri="{FF2B5EF4-FFF2-40B4-BE49-F238E27FC236}">
                <a16:creationId xmlns:a16="http://schemas.microsoft.com/office/drawing/2014/main" id="{B3298F8E-EFA1-4858-9F74-DE3482C1F184}"/>
              </a:ext>
            </a:extLst>
          </p:cNvPr>
          <p:cNvSpPr>
            <a:spLocks noGrp="1"/>
          </p:cNvSpPr>
          <p:nvPr/>
        </p:nvSpPr>
        <p:spPr>
          <a:xfrm>
            <a:off x="9791700" y="4943475"/>
            <a:ext cx="1285875" cy="447675"/>
          </a:xfrm>
          <a:prstGeom prst="rect">
            <a:avLst/>
          </a:prstGeom>
          <a:solidFill>
            <a:srgbClr val="E1EBE7"/>
          </a:solidFill>
          <a:ln w="0">
            <a:noFill/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44" name="text">
            <a:extLst>
              <a:ext uri="{FF2B5EF4-FFF2-40B4-BE49-F238E27FC236}">
                <a16:creationId xmlns:a16="http://schemas.microsoft.com/office/drawing/2014/main" id="{F23B78C5-4095-46AE-8A08-4A50CD54FBD5}"/>
              </a:ext>
            </a:extLst>
          </p:cNvPr>
          <p:cNvSpPr>
            <a:spLocks noGrp="1"/>
          </p:cNvSpPr>
          <p:nvPr/>
        </p:nvSpPr>
        <p:spPr>
          <a:xfrm>
            <a:off x="6858000" y="5067300"/>
            <a:ext cx="12858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200" b="1">
                <a:solidFill>
                  <a:srgbClr val="173F3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3F35"/>
                </a:solidFill>
                <a:latin typeface="Arial"/>
                <a:ea typeface="Arial"/>
                <a:cs typeface="Arial"/>
              </a:rPr>
              <a:t>PostgreSQL</a:t>
            </a:r>
          </a:p>
        </p:txBody>
      </p:sp>
      <p:sp>
        <p:nvSpPr>
          <p:cNvPr id="45" name="text">
            <a:extLst>
              <a:ext uri="{FF2B5EF4-FFF2-40B4-BE49-F238E27FC236}">
                <a16:creationId xmlns:a16="http://schemas.microsoft.com/office/drawing/2014/main" id="{B930F59C-CEBD-4099-B0B9-A79CD344BF8F}"/>
              </a:ext>
            </a:extLst>
          </p:cNvPr>
          <p:cNvSpPr>
            <a:spLocks noGrp="1"/>
          </p:cNvSpPr>
          <p:nvPr/>
        </p:nvSpPr>
        <p:spPr>
          <a:xfrm>
            <a:off x="8324850" y="5067300"/>
            <a:ext cx="12858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200" b="1">
                <a:solidFill>
                  <a:srgbClr val="173F3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3F35"/>
                </a:solidFill>
                <a:latin typeface="Arial"/>
                <a:ea typeface="Arial"/>
                <a:cs typeface="Arial"/>
              </a:rPr>
              <a:t>Redis</a:t>
            </a:r>
          </a:p>
        </p:txBody>
      </p:sp>
      <p:sp>
        <p:nvSpPr>
          <p:cNvPr id="46" name="text">
            <a:extLst>
              <a:ext uri="{FF2B5EF4-FFF2-40B4-BE49-F238E27FC236}">
                <a16:creationId xmlns:a16="http://schemas.microsoft.com/office/drawing/2014/main" id="{F5931945-A34A-40BD-A2D1-AABC004307EF}"/>
              </a:ext>
            </a:extLst>
          </p:cNvPr>
          <p:cNvSpPr>
            <a:spLocks noGrp="1"/>
          </p:cNvSpPr>
          <p:nvPr/>
        </p:nvSpPr>
        <p:spPr>
          <a:xfrm>
            <a:off x="9791700" y="5067300"/>
            <a:ext cx="12858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200" b="1">
                <a:solidFill>
                  <a:srgbClr val="173F3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3F35"/>
                </a:solidFill>
                <a:latin typeface="Arial"/>
                <a:ea typeface="Arial"/>
                <a:cs typeface="Arial"/>
              </a:rPr>
              <a:t>Kafka</a:t>
            </a:r>
          </a:p>
        </p:txBody>
      </p:sp>
      <p:sp>
        <p:nvSpPr>
          <p:cNvPr id="47" name="text">
            <a:extLst>
              <a:ext uri="{FF2B5EF4-FFF2-40B4-BE49-F238E27FC236}">
                <a16:creationId xmlns:a16="http://schemas.microsoft.com/office/drawing/2014/main" id="{47C50265-75E0-420C-83F4-A2F2F9798A15}"/>
              </a:ext>
            </a:extLst>
          </p:cNvPr>
          <p:cNvSpPr>
            <a:spLocks noGrp="1"/>
          </p:cNvSpPr>
          <p:nvPr/>
        </p:nvSpPr>
        <p:spPr>
          <a:xfrm>
            <a:off x="6858000" y="5715000"/>
            <a:ext cx="42195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Providers: payment  •  maps  •  push / SMS / email</a:t>
            </a:r>
          </a:p>
        </p:txBody>
      </p:sp>
      <p:sp>
        <p:nvSpPr>
          <p:cNvPr id="48" name="footer-section">
            <a:extLst>
              <a:ext uri="{FF2B5EF4-FFF2-40B4-BE49-F238E27FC236}">
                <a16:creationId xmlns:a16="http://schemas.microsoft.com/office/drawing/2014/main" id="{EF7A5FAD-3A48-407A-8274-27A4073B2D64}"/>
              </a:ext>
            </a:extLst>
          </p:cNvPr>
          <p:cNvSpPr>
            <a:spLocks noGrp="1"/>
          </p:cNvSpPr>
          <p:nvPr/>
        </p:nvSpPr>
        <p:spPr>
          <a:xfrm>
            <a:off x="609600" y="6515100"/>
            <a:ext cx="31432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750" b="1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06E68"/>
                </a:solidFill>
                <a:latin typeface="Arial"/>
                <a:ea typeface="Arial"/>
                <a:cs typeface="Arial"/>
              </a:rPr>
              <a:t>LOGICAL ARCHITECTURE</a:t>
            </a:r>
          </a:p>
        </p:txBody>
      </p:sp>
      <p:sp>
        <p:nvSpPr>
          <p:cNvPr id="49" name="footer-page">
            <a:extLst>
              <a:ext uri="{FF2B5EF4-FFF2-40B4-BE49-F238E27FC236}">
                <a16:creationId xmlns:a16="http://schemas.microsoft.com/office/drawing/2014/main" id="{044B59E9-4E8F-4C46-A805-269E248D2177}"/>
              </a:ext>
            </a:extLst>
          </p:cNvPr>
          <p:cNvSpPr>
            <a:spLocks noGrp="1"/>
          </p:cNvSpPr>
          <p:nvPr/>
        </p:nvSpPr>
        <p:spPr>
          <a:xfrm>
            <a:off x="11096625" y="6496050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825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0091342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lide-title">
            <a:extLst>
              <a:ext uri="{FF2B5EF4-FFF2-40B4-BE49-F238E27FC236}">
                <a16:creationId xmlns:a16="http://schemas.microsoft.com/office/drawing/2014/main" id="{C22F6B7E-E667-4E4C-AD51-8B8805ACE0F4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477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315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Replay-safe contracts turn retries into normal behavior</a:t>
            </a:r>
          </a:p>
        </p:txBody>
      </p:sp>
      <p:sp>
        <p:nvSpPr>
          <p:cNvPr id="2" name="slide-subtitle">
            <a:extLst>
              <a:ext uri="{FF2B5EF4-FFF2-40B4-BE49-F238E27FC236}">
                <a16:creationId xmlns:a16="http://schemas.microsoft.com/office/drawing/2014/main" id="{97C55ABC-0095-45A6-B3F9-9513129FB8DD}"/>
              </a:ext>
            </a:extLst>
          </p:cNvPr>
          <p:cNvSpPr>
            <a:spLocks noGrp="1"/>
          </p:cNvSpPr>
          <p:nvPr/>
        </p:nvSpPr>
        <p:spPr>
          <a:xfrm>
            <a:off x="628650" y="1104900"/>
            <a:ext cx="971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The same command or provider callback can arrive more than once without repeating the effect.</a:t>
            </a:r>
          </a:p>
        </p:txBody>
      </p:sp>
      <p:cxnSp>
        <p:nvCxnSpPr>
          <p:cNvPr id="41" name="title-rule"/>
          <p:cNvCxnSpPr/>
          <p:nvPr/>
        </p:nvCxnSpPr>
        <p:spPr>
          <a:xfrm>
            <a:off x="609600" y="1495425"/>
            <a:ext cx="10972800" cy="0"/>
          </a:xfrm>
          <a:prstGeom prst="straightConnector1">
            <a:avLst/>
          </a:prstGeom>
          <a:ln w="9525">
            <a:solidFill>
              <a:srgbClr val="C8C6C0"/>
            </a:solidFill>
            <a:prstDash val="solid"/>
          </a:ln>
        </p:spPr>
      </p:cxnSp>
      <p:sp>
        <p:nvSpPr>
          <p:cNvPr id="4" name="label-COMMAND">
            <a:extLst>
              <a:ext uri="{FF2B5EF4-FFF2-40B4-BE49-F238E27FC236}">
                <a16:creationId xmlns:a16="http://schemas.microsoft.com/office/drawing/2014/main" id="{53ADC483-CC11-47B6-BE1C-E75597ABE5FE}"/>
              </a:ext>
            </a:extLst>
          </p:cNvPr>
          <p:cNvSpPr>
            <a:spLocks noGrp="1"/>
          </p:cNvSpPr>
          <p:nvPr/>
        </p:nvSpPr>
        <p:spPr>
          <a:xfrm>
            <a:off x="666750" y="1847850"/>
            <a:ext cx="1238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1">
                <a:solidFill>
                  <a:srgbClr val="F0442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442F"/>
                </a:solidFill>
                <a:latin typeface="Arial"/>
                <a:ea typeface="Arial"/>
                <a:cs typeface="Arial"/>
              </a:rPr>
              <a:t>COMMAND</a:t>
            </a:r>
          </a:p>
        </p:txBody>
      </p:sp>
      <p:cxnSp>
        <p:nvCxnSpPr>
          <p:cNvPr id="43" name="command-line"/>
          <p:cNvCxnSpPr/>
          <p:nvPr/>
        </p:nvCxnSpPr>
        <p:spPr>
          <a:xfrm>
            <a:off x="1104900" y="2647950"/>
            <a:ext cx="4171950" cy="0"/>
          </a:xfrm>
          <a:prstGeom prst="straightConnector1">
            <a:avLst/>
          </a:prstGeom>
          <a:ln w="19050">
            <a:solidFill>
              <a:srgbClr val="C8C6C0"/>
            </a:solidFill>
            <a:prstDash val="solid"/>
          </a:ln>
        </p:spPr>
      </p:cxnSp>
      <p:sp>
        <p:nvSpPr>
          <p:cNvPr id="6" name="dot-1">
            <a:extLst>
              <a:ext uri="{FF2B5EF4-FFF2-40B4-BE49-F238E27FC236}">
                <a16:creationId xmlns:a16="http://schemas.microsoft.com/office/drawing/2014/main" id="{089D7B8B-6036-4049-8B57-29F205160393}"/>
              </a:ext>
            </a:extLst>
          </p:cNvPr>
          <p:cNvSpPr>
            <a:spLocks noGrp="1"/>
          </p:cNvSpPr>
          <p:nvPr/>
        </p:nvSpPr>
        <p:spPr>
          <a:xfrm>
            <a:off x="685800" y="2409825"/>
            <a:ext cx="476250" cy="476250"/>
          </a:xfrm>
          <a:prstGeom prst="ellipse">
            <a:avLst/>
          </a:prstGeom>
          <a:solidFill>
            <a:srgbClr val="171713"/>
          </a:solidFill>
          <a:ln w="0">
            <a:noFill/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B6F641B1-5569-49FB-AA47-AB32C85B7F47}"/>
              </a:ext>
            </a:extLst>
          </p:cNvPr>
          <p:cNvSpPr>
            <a:spLocks noGrp="1"/>
          </p:cNvSpPr>
          <p:nvPr/>
        </p:nvSpPr>
        <p:spPr>
          <a:xfrm>
            <a:off x="685800" y="2495550"/>
            <a:ext cx="476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3BEBAFB5-5312-4FE9-A26A-970E5D8FEA85}"/>
              </a:ext>
            </a:extLst>
          </p:cNvPr>
          <p:cNvSpPr>
            <a:spLocks noGrp="1"/>
          </p:cNvSpPr>
          <p:nvPr/>
        </p:nvSpPr>
        <p:spPr>
          <a:xfrm>
            <a:off x="495300" y="3114675"/>
            <a:ext cx="904875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20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Client request</a:t>
            </a:r>
          </a:p>
        </p:txBody>
      </p:sp>
      <p:sp>
        <p:nvSpPr>
          <p:cNvPr id="9" name="dot-2">
            <a:extLst>
              <a:ext uri="{FF2B5EF4-FFF2-40B4-BE49-F238E27FC236}">
                <a16:creationId xmlns:a16="http://schemas.microsoft.com/office/drawing/2014/main" id="{FE43B7FC-76FE-4080-86EF-CAA9E643CB44}"/>
              </a:ext>
            </a:extLst>
          </p:cNvPr>
          <p:cNvSpPr>
            <a:spLocks noGrp="1"/>
          </p:cNvSpPr>
          <p:nvPr/>
        </p:nvSpPr>
        <p:spPr>
          <a:xfrm>
            <a:off x="2066925" y="2409825"/>
            <a:ext cx="476250" cy="476250"/>
          </a:xfrm>
          <a:prstGeom prst="ellipse">
            <a:avLst/>
          </a:prstGeom>
          <a:solidFill>
            <a:srgbClr val="171713"/>
          </a:solidFill>
          <a:ln w="0">
            <a:noFill/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DDF77AFB-6F80-42FE-AE9C-D20B6F969C1D}"/>
              </a:ext>
            </a:extLst>
          </p:cNvPr>
          <p:cNvSpPr>
            <a:spLocks noGrp="1"/>
          </p:cNvSpPr>
          <p:nvPr/>
        </p:nvSpPr>
        <p:spPr>
          <a:xfrm>
            <a:off x="2066925" y="2495550"/>
            <a:ext cx="476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3ABDBF36-D233-4733-B88D-9B8DCBE376E4}"/>
              </a:ext>
            </a:extLst>
          </p:cNvPr>
          <p:cNvSpPr>
            <a:spLocks noGrp="1"/>
          </p:cNvSpPr>
          <p:nvPr/>
        </p:nvSpPr>
        <p:spPr>
          <a:xfrm>
            <a:off x="1876425" y="3114675"/>
            <a:ext cx="904875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20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BFF validates</a:t>
            </a:r>
          </a:p>
        </p:txBody>
      </p:sp>
      <p:sp>
        <p:nvSpPr>
          <p:cNvPr id="12" name="dot-3">
            <a:extLst>
              <a:ext uri="{FF2B5EF4-FFF2-40B4-BE49-F238E27FC236}">
                <a16:creationId xmlns:a16="http://schemas.microsoft.com/office/drawing/2014/main" id="{FCE0DCCA-0025-4420-945C-CD51801248A6}"/>
              </a:ext>
            </a:extLst>
          </p:cNvPr>
          <p:cNvSpPr>
            <a:spLocks noGrp="1"/>
          </p:cNvSpPr>
          <p:nvPr/>
        </p:nvSpPr>
        <p:spPr>
          <a:xfrm>
            <a:off x="3448050" y="2409825"/>
            <a:ext cx="476250" cy="476250"/>
          </a:xfrm>
          <a:prstGeom prst="ellipse">
            <a:avLst/>
          </a:prstGeom>
          <a:solidFill>
            <a:srgbClr val="F0442F"/>
          </a:solidFill>
          <a:ln w="0">
            <a:noFill/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115FB41B-5C70-4DA7-A17A-7CCA83034E90}"/>
              </a:ext>
            </a:extLst>
          </p:cNvPr>
          <p:cNvSpPr>
            <a:spLocks noGrp="1"/>
          </p:cNvSpPr>
          <p:nvPr/>
        </p:nvSpPr>
        <p:spPr>
          <a:xfrm>
            <a:off x="3448050" y="2495550"/>
            <a:ext cx="476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ED1DF992-83D3-4DC1-9F31-4EDEC816CDCD}"/>
              </a:ext>
            </a:extLst>
          </p:cNvPr>
          <p:cNvSpPr>
            <a:spLocks noGrp="1"/>
          </p:cNvSpPr>
          <p:nvPr/>
        </p:nvSpPr>
        <p:spPr>
          <a:xfrm>
            <a:off x="3257550" y="3114675"/>
            <a:ext cx="904875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20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Owner commits</a:t>
            </a:r>
          </a:p>
        </p:txBody>
      </p:sp>
      <p:sp>
        <p:nvSpPr>
          <p:cNvPr id="15" name="dot-4">
            <a:extLst>
              <a:ext uri="{FF2B5EF4-FFF2-40B4-BE49-F238E27FC236}">
                <a16:creationId xmlns:a16="http://schemas.microsoft.com/office/drawing/2014/main" id="{6636ED64-1746-4BB3-934B-D342E70961A4}"/>
              </a:ext>
            </a:extLst>
          </p:cNvPr>
          <p:cNvSpPr>
            <a:spLocks noGrp="1"/>
          </p:cNvSpPr>
          <p:nvPr/>
        </p:nvSpPr>
        <p:spPr>
          <a:xfrm>
            <a:off x="4829175" y="2409825"/>
            <a:ext cx="476250" cy="476250"/>
          </a:xfrm>
          <a:prstGeom prst="ellipse">
            <a:avLst/>
          </a:prstGeom>
          <a:solidFill>
            <a:srgbClr val="171713"/>
          </a:solidFill>
          <a:ln w="0">
            <a:noFill/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30A0AE9B-B187-424E-9F8A-90B1FCBFE137}"/>
              </a:ext>
            </a:extLst>
          </p:cNvPr>
          <p:cNvSpPr>
            <a:spLocks noGrp="1"/>
          </p:cNvSpPr>
          <p:nvPr/>
        </p:nvSpPr>
        <p:spPr>
          <a:xfrm>
            <a:off x="4829175" y="2495550"/>
            <a:ext cx="476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BC8B084B-5F12-4682-92C6-4A3A9D945CD9}"/>
              </a:ext>
            </a:extLst>
          </p:cNvPr>
          <p:cNvSpPr>
            <a:spLocks noGrp="1"/>
          </p:cNvSpPr>
          <p:nvPr/>
        </p:nvSpPr>
        <p:spPr>
          <a:xfrm>
            <a:off x="4638675" y="3114675"/>
            <a:ext cx="904875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20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Outbox publishes</a:t>
            </a:r>
          </a:p>
        </p:txBody>
      </p:sp>
      <p:sp>
        <p:nvSpPr>
          <p:cNvPr id="18" name="idempotency-block">
            <a:extLst>
              <a:ext uri="{FF2B5EF4-FFF2-40B4-BE49-F238E27FC236}">
                <a16:creationId xmlns:a16="http://schemas.microsoft.com/office/drawing/2014/main" id="{905F7A30-9563-444B-B08C-AAB70D96A07F}"/>
              </a:ext>
            </a:extLst>
          </p:cNvPr>
          <p:cNvSpPr>
            <a:spLocks noGrp="1"/>
          </p:cNvSpPr>
          <p:nvPr/>
        </p:nvSpPr>
        <p:spPr>
          <a:xfrm>
            <a:off x="666750" y="4057650"/>
            <a:ext cx="4857750" cy="1123950"/>
          </a:xfrm>
          <a:prstGeom prst="rect">
            <a:avLst/>
          </a:prstGeom>
          <a:solidFill>
            <a:srgbClr val="EFEDE8"/>
          </a:solidFill>
          <a:ln w="0">
            <a:noFill/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19" name="text">
            <a:extLst>
              <a:ext uri="{FF2B5EF4-FFF2-40B4-BE49-F238E27FC236}">
                <a16:creationId xmlns:a16="http://schemas.microsoft.com/office/drawing/2014/main" id="{42FBD6AE-86E6-4193-AC90-2F8ED5D9549E}"/>
              </a:ext>
            </a:extLst>
          </p:cNvPr>
          <p:cNvSpPr>
            <a:spLocks noGrp="1"/>
          </p:cNvSpPr>
          <p:nvPr/>
        </p:nvSpPr>
        <p:spPr>
          <a:xfrm>
            <a:off x="904875" y="4276725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725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Idempotency-Key</a:t>
            </a:r>
          </a:p>
        </p:txBody>
      </p:sp>
      <p:sp>
        <p:nvSpPr>
          <p:cNvPr id="20" name="text">
            <a:extLst>
              <a:ext uri="{FF2B5EF4-FFF2-40B4-BE49-F238E27FC236}">
                <a16:creationId xmlns:a16="http://schemas.microsoft.com/office/drawing/2014/main" id="{4837BDA9-88C6-4CC2-94E3-0C16085EDA31}"/>
              </a:ext>
            </a:extLst>
          </p:cNvPr>
          <p:cNvSpPr>
            <a:spLocks noGrp="1"/>
          </p:cNvSpPr>
          <p:nvPr/>
        </p:nvSpPr>
        <p:spPr>
          <a:xfrm>
            <a:off x="904875" y="4676775"/>
            <a:ext cx="4095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039"/>
          </a:bodyPr>
          <a:lstStyle/>
          <a:p>
            <a:pPr algn="l">
              <a:defRPr sz="1275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Stable business key -&gt; one order, one authorization, one capture.</a:t>
            </a:r>
          </a:p>
        </p:txBody>
      </p:sp>
      <p:cxnSp>
        <p:nvCxnSpPr>
          <p:cNvPr id="59" name="contract-divider"/>
          <p:cNvCxnSpPr/>
          <p:nvPr/>
        </p:nvCxnSpPr>
        <p:spPr>
          <a:xfrm>
            <a:off x="6019800" y="1809750"/>
            <a:ext cx="0" cy="3733800"/>
          </a:xfrm>
          <a:prstGeom prst="straightConnector1">
            <a:avLst/>
          </a:prstGeom>
          <a:ln w="9525">
            <a:solidFill>
              <a:srgbClr val="C8C6C0"/>
            </a:solidFill>
            <a:prstDash val="solid"/>
          </a:ln>
        </p:spPr>
      </p:cxnSp>
      <p:sp>
        <p:nvSpPr>
          <p:cNvPr id="22" name="label-EVENT ENVELOPE">
            <a:extLst>
              <a:ext uri="{FF2B5EF4-FFF2-40B4-BE49-F238E27FC236}">
                <a16:creationId xmlns:a16="http://schemas.microsoft.com/office/drawing/2014/main" id="{FA54FCD6-C761-459D-8506-0E262AB1E85A}"/>
              </a:ext>
            </a:extLst>
          </p:cNvPr>
          <p:cNvSpPr>
            <a:spLocks noGrp="1"/>
          </p:cNvSpPr>
          <p:nvPr/>
        </p:nvSpPr>
        <p:spPr>
          <a:xfrm>
            <a:off x="6477000" y="1847850"/>
            <a:ext cx="1714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1">
                <a:solidFill>
                  <a:srgbClr val="173F3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73F35"/>
                </a:solidFill>
                <a:latin typeface="Arial"/>
                <a:ea typeface="Arial"/>
                <a:cs typeface="Arial"/>
              </a:rPr>
              <a:t>EVENT ENVELOPE</a:t>
            </a:r>
          </a:p>
        </p:txBody>
      </p:sp>
      <p:sp>
        <p:nvSpPr>
          <p:cNvPr id="23" name="text">
            <a:extLst>
              <a:ext uri="{FF2B5EF4-FFF2-40B4-BE49-F238E27FC236}">
                <a16:creationId xmlns:a16="http://schemas.microsoft.com/office/drawing/2014/main" id="{65EFB519-B0B0-49F7-9356-FEEB89EB1D2E}"/>
              </a:ext>
            </a:extLst>
          </p:cNvPr>
          <p:cNvSpPr>
            <a:spLocks noGrp="1"/>
          </p:cNvSpPr>
          <p:nvPr/>
        </p:nvSpPr>
        <p:spPr>
          <a:xfrm>
            <a:off x="6477000" y="2333625"/>
            <a:ext cx="128587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Identity</a:t>
            </a:r>
          </a:p>
        </p:txBody>
      </p:sp>
      <p:sp>
        <p:nvSpPr>
          <p:cNvPr id="24" name="text">
            <a:extLst>
              <a:ext uri="{FF2B5EF4-FFF2-40B4-BE49-F238E27FC236}">
                <a16:creationId xmlns:a16="http://schemas.microsoft.com/office/drawing/2014/main" id="{A99D3958-CCB4-47F0-BA03-8D65F9DFD5CE}"/>
              </a:ext>
            </a:extLst>
          </p:cNvPr>
          <p:cNvSpPr>
            <a:spLocks noGrp="1"/>
          </p:cNvSpPr>
          <p:nvPr/>
        </p:nvSpPr>
        <p:spPr>
          <a:xfrm>
            <a:off x="7905750" y="2333625"/>
            <a:ext cx="342900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event_id  •  aggregate_id  •  version</a:t>
            </a:r>
          </a:p>
        </p:txBody>
      </p:sp>
      <p:cxnSp>
        <p:nvCxnSpPr>
          <p:cNvPr id="63" name="field-rule-0"/>
          <p:cNvCxnSpPr/>
          <p:nvPr/>
        </p:nvCxnSpPr>
        <p:spPr>
          <a:xfrm>
            <a:off x="6477000" y="2790825"/>
            <a:ext cx="4857750" cy="0"/>
          </a:xfrm>
          <a:prstGeom prst="straightConnector1">
            <a:avLst/>
          </a:prstGeom>
          <a:ln w="9525">
            <a:solidFill>
              <a:srgbClr val="C8C6C0"/>
            </a:solidFill>
            <a:prstDash val="solid"/>
          </a:ln>
        </p:spPr>
      </p:cxnSp>
      <p:sp>
        <p:nvSpPr>
          <p:cNvPr id="26" name="text">
            <a:extLst>
              <a:ext uri="{FF2B5EF4-FFF2-40B4-BE49-F238E27FC236}">
                <a16:creationId xmlns:a16="http://schemas.microsoft.com/office/drawing/2014/main" id="{74DA57D9-5013-4044-A772-E085A4304634}"/>
              </a:ext>
            </a:extLst>
          </p:cNvPr>
          <p:cNvSpPr>
            <a:spLocks noGrp="1"/>
          </p:cNvSpPr>
          <p:nvPr/>
        </p:nvSpPr>
        <p:spPr>
          <a:xfrm>
            <a:off x="6477000" y="3019425"/>
            <a:ext cx="128587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Causality</a:t>
            </a:r>
          </a:p>
        </p:txBody>
      </p:sp>
      <p:sp>
        <p:nvSpPr>
          <p:cNvPr id="27" name="text">
            <a:extLst>
              <a:ext uri="{FF2B5EF4-FFF2-40B4-BE49-F238E27FC236}">
                <a16:creationId xmlns:a16="http://schemas.microsoft.com/office/drawing/2014/main" id="{2BF09EC3-8C5B-4D3C-A70C-0CF066327BA9}"/>
              </a:ext>
            </a:extLst>
          </p:cNvPr>
          <p:cNvSpPr>
            <a:spLocks noGrp="1"/>
          </p:cNvSpPr>
          <p:nvPr/>
        </p:nvSpPr>
        <p:spPr>
          <a:xfrm>
            <a:off x="7905750" y="3019425"/>
            <a:ext cx="342900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correlation_id  •  causation_id</a:t>
            </a:r>
          </a:p>
        </p:txBody>
      </p:sp>
      <p:cxnSp>
        <p:nvCxnSpPr>
          <p:cNvPr id="66" name="field-rule-1"/>
          <p:cNvCxnSpPr/>
          <p:nvPr/>
        </p:nvCxnSpPr>
        <p:spPr>
          <a:xfrm>
            <a:off x="6477000" y="3476625"/>
            <a:ext cx="4857750" cy="0"/>
          </a:xfrm>
          <a:prstGeom prst="straightConnector1">
            <a:avLst/>
          </a:prstGeom>
          <a:ln w="9525">
            <a:solidFill>
              <a:srgbClr val="C8C6C0"/>
            </a:solidFill>
            <a:prstDash val="solid"/>
          </a:ln>
        </p:spPr>
      </p:cxnSp>
      <p:sp>
        <p:nvSpPr>
          <p:cNvPr id="29" name="text">
            <a:extLst>
              <a:ext uri="{FF2B5EF4-FFF2-40B4-BE49-F238E27FC236}">
                <a16:creationId xmlns:a16="http://schemas.microsoft.com/office/drawing/2014/main" id="{ED2CBC84-5D3E-409B-BC5D-8BACBE068C82}"/>
              </a:ext>
            </a:extLst>
          </p:cNvPr>
          <p:cNvSpPr>
            <a:spLocks noGrp="1"/>
          </p:cNvSpPr>
          <p:nvPr/>
        </p:nvSpPr>
        <p:spPr>
          <a:xfrm>
            <a:off x="6477000" y="3705225"/>
            <a:ext cx="128587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Time</a:t>
            </a:r>
          </a:p>
        </p:txBody>
      </p:sp>
      <p:sp>
        <p:nvSpPr>
          <p:cNvPr id="30" name="text">
            <a:extLst>
              <a:ext uri="{FF2B5EF4-FFF2-40B4-BE49-F238E27FC236}">
                <a16:creationId xmlns:a16="http://schemas.microsoft.com/office/drawing/2014/main" id="{ABEAF2BA-E30B-4C31-8050-5973B1459896}"/>
              </a:ext>
            </a:extLst>
          </p:cNvPr>
          <p:cNvSpPr>
            <a:spLocks noGrp="1"/>
          </p:cNvSpPr>
          <p:nvPr/>
        </p:nvSpPr>
        <p:spPr>
          <a:xfrm>
            <a:off x="7905750" y="3705225"/>
            <a:ext cx="342900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occurred_at  •  schema_version</a:t>
            </a:r>
          </a:p>
        </p:txBody>
      </p:sp>
      <p:cxnSp>
        <p:nvCxnSpPr>
          <p:cNvPr id="69" name="field-rule-2"/>
          <p:cNvCxnSpPr/>
          <p:nvPr/>
        </p:nvCxnSpPr>
        <p:spPr>
          <a:xfrm>
            <a:off x="6477000" y="4162425"/>
            <a:ext cx="4857750" cy="0"/>
          </a:xfrm>
          <a:prstGeom prst="straightConnector1">
            <a:avLst/>
          </a:prstGeom>
          <a:ln w="9525">
            <a:solidFill>
              <a:srgbClr val="C8C6C0"/>
            </a:solidFill>
            <a:prstDash val="solid"/>
          </a:ln>
        </p:spPr>
      </p:cxnSp>
      <p:sp>
        <p:nvSpPr>
          <p:cNvPr id="32" name="text">
            <a:extLst>
              <a:ext uri="{FF2B5EF4-FFF2-40B4-BE49-F238E27FC236}">
                <a16:creationId xmlns:a16="http://schemas.microsoft.com/office/drawing/2014/main" id="{A11DA233-82F8-4FD5-B173-F6090E1BA604}"/>
              </a:ext>
            </a:extLst>
          </p:cNvPr>
          <p:cNvSpPr>
            <a:spLocks noGrp="1"/>
          </p:cNvSpPr>
          <p:nvPr/>
        </p:nvSpPr>
        <p:spPr>
          <a:xfrm>
            <a:off x="6477000" y="4391025"/>
            <a:ext cx="128587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Payload</a:t>
            </a:r>
          </a:p>
        </p:txBody>
      </p:sp>
      <p:sp>
        <p:nvSpPr>
          <p:cNvPr id="33" name="text">
            <a:extLst>
              <a:ext uri="{FF2B5EF4-FFF2-40B4-BE49-F238E27FC236}">
                <a16:creationId xmlns:a16="http://schemas.microsoft.com/office/drawing/2014/main" id="{2077FA92-5D99-4124-8D8A-C6B0A1927335}"/>
              </a:ext>
            </a:extLst>
          </p:cNvPr>
          <p:cNvSpPr>
            <a:spLocks noGrp="1"/>
          </p:cNvSpPr>
          <p:nvPr/>
        </p:nvSpPr>
        <p:spPr>
          <a:xfrm>
            <a:off x="7905750" y="4391025"/>
            <a:ext cx="342900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typed domain facts, never commands</a:t>
            </a:r>
          </a:p>
        </p:txBody>
      </p:sp>
      <p:cxnSp>
        <p:nvCxnSpPr>
          <p:cNvPr id="72" name="field-rule-3"/>
          <p:cNvCxnSpPr/>
          <p:nvPr/>
        </p:nvCxnSpPr>
        <p:spPr>
          <a:xfrm>
            <a:off x="6477000" y="4848225"/>
            <a:ext cx="4857750" cy="0"/>
          </a:xfrm>
          <a:prstGeom prst="straightConnector1">
            <a:avLst/>
          </a:prstGeom>
          <a:ln w="9525">
            <a:solidFill>
              <a:srgbClr val="C8C6C0"/>
            </a:solidFill>
            <a:prstDash val="solid"/>
          </a:ln>
        </p:spPr>
      </p:cxnSp>
      <p:sp>
        <p:nvSpPr>
          <p:cNvPr id="35" name="contract-result">
            <a:extLst>
              <a:ext uri="{FF2B5EF4-FFF2-40B4-BE49-F238E27FC236}">
                <a16:creationId xmlns:a16="http://schemas.microsoft.com/office/drawing/2014/main" id="{FD608D36-CC1E-40A9-A9FD-6818AC184F5E}"/>
              </a:ext>
            </a:extLst>
          </p:cNvPr>
          <p:cNvSpPr>
            <a:spLocks noGrp="1"/>
          </p:cNvSpPr>
          <p:nvPr/>
        </p:nvSpPr>
        <p:spPr>
          <a:xfrm>
            <a:off x="6477000" y="5267325"/>
            <a:ext cx="4857750" cy="685800"/>
          </a:xfrm>
          <a:prstGeom prst="rect">
            <a:avLst/>
          </a:prstGeom>
          <a:solidFill>
            <a:srgbClr val="E1EBE7"/>
          </a:solidFill>
          <a:ln w="0">
            <a:noFill/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36" name="text">
            <a:extLst>
              <a:ext uri="{FF2B5EF4-FFF2-40B4-BE49-F238E27FC236}">
                <a16:creationId xmlns:a16="http://schemas.microsoft.com/office/drawing/2014/main" id="{D0569680-3EF6-400F-B508-75F383BF2130}"/>
              </a:ext>
            </a:extLst>
          </p:cNvPr>
          <p:cNvSpPr>
            <a:spLocks noGrp="1"/>
          </p:cNvSpPr>
          <p:nvPr/>
        </p:nvSpPr>
        <p:spPr>
          <a:xfrm>
            <a:off x="6677025" y="5476875"/>
            <a:ext cx="4476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125" lnSpcReduction="20000"/>
          </a:bodyPr>
          <a:lstStyle/>
          <a:p>
            <a:pPr algn="l">
              <a:defRPr sz="1350" b="1">
                <a:solidFill>
                  <a:srgbClr val="173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F35"/>
                </a:solidFill>
                <a:latin typeface="Arial"/>
                <a:ea typeface="Arial"/>
                <a:cs typeface="Arial"/>
              </a:rPr>
              <a:t>At-least-once delivery + inbox deduplication = one business effect</a:t>
            </a:r>
          </a:p>
        </p:txBody>
      </p:sp>
      <p:sp>
        <p:nvSpPr>
          <p:cNvPr id="37" name="footer-section">
            <a:extLst>
              <a:ext uri="{FF2B5EF4-FFF2-40B4-BE49-F238E27FC236}">
                <a16:creationId xmlns:a16="http://schemas.microsoft.com/office/drawing/2014/main" id="{D8931CD1-155D-4C90-A209-2E36FB43C976}"/>
              </a:ext>
            </a:extLst>
          </p:cNvPr>
          <p:cNvSpPr>
            <a:spLocks noGrp="1"/>
          </p:cNvSpPr>
          <p:nvPr/>
        </p:nvSpPr>
        <p:spPr>
          <a:xfrm>
            <a:off x="609600" y="6515100"/>
            <a:ext cx="31432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750" b="1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06E68"/>
                </a:solidFill>
                <a:latin typeface="Arial"/>
                <a:ea typeface="Arial"/>
                <a:cs typeface="Arial"/>
              </a:rPr>
              <a:t>INTEGRATION CONTRACTS</a:t>
            </a:r>
          </a:p>
        </p:txBody>
      </p:sp>
      <p:sp>
        <p:nvSpPr>
          <p:cNvPr id="38" name="footer-page">
            <a:extLst>
              <a:ext uri="{FF2B5EF4-FFF2-40B4-BE49-F238E27FC236}">
                <a16:creationId xmlns:a16="http://schemas.microsoft.com/office/drawing/2014/main" id="{2E2251B6-E3E4-408A-A059-FFBF1270A4B9}"/>
              </a:ext>
            </a:extLst>
          </p:cNvPr>
          <p:cNvSpPr>
            <a:spLocks noGrp="1"/>
          </p:cNvSpPr>
          <p:nvPr/>
        </p:nvSpPr>
        <p:spPr>
          <a:xfrm>
            <a:off x="11096625" y="6496050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825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3953611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lide-title">
            <a:extLst>
              <a:ext uri="{FF2B5EF4-FFF2-40B4-BE49-F238E27FC236}">
                <a16:creationId xmlns:a16="http://schemas.microsoft.com/office/drawing/2014/main" id="{BE5566CA-016A-46CE-8290-766D8F2479C6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477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315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Data ownership protects the invariants that matter</a:t>
            </a:r>
          </a:p>
        </p:txBody>
      </p:sp>
      <p:sp>
        <p:nvSpPr>
          <p:cNvPr id="2" name="slide-subtitle">
            <a:extLst>
              <a:ext uri="{FF2B5EF4-FFF2-40B4-BE49-F238E27FC236}">
                <a16:creationId xmlns:a16="http://schemas.microsoft.com/office/drawing/2014/main" id="{C0E97622-3464-4C7F-862C-FA9A8F1E4EC0}"/>
              </a:ext>
            </a:extLst>
          </p:cNvPr>
          <p:cNvSpPr>
            <a:spLocks noGrp="1"/>
          </p:cNvSpPr>
          <p:nvPr/>
        </p:nvSpPr>
        <p:spPr>
          <a:xfrm>
            <a:off x="628650" y="1104900"/>
            <a:ext cx="971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A shared cluster can start the MVP; direct cross-service writes cannot.</a:t>
            </a:r>
          </a:p>
        </p:txBody>
      </p:sp>
      <p:cxnSp>
        <p:nvCxnSpPr>
          <p:cNvPr id="39" name="title-rule"/>
          <p:cNvCxnSpPr/>
          <p:nvPr/>
        </p:nvCxnSpPr>
        <p:spPr>
          <a:xfrm>
            <a:off x="609600" y="1495425"/>
            <a:ext cx="10972800" cy="0"/>
          </a:xfrm>
          <a:prstGeom prst="straightConnector1">
            <a:avLst/>
          </a:prstGeom>
          <a:ln w="9525">
            <a:solidFill>
              <a:srgbClr val="C8C6C0"/>
            </a:solidFill>
            <a:prstDash val="solid"/>
          </a:ln>
        </p:spPr>
      </p:cxnSp>
      <p:cxnSp>
        <p:nvCxnSpPr>
          <p:cNvPr id="40" name="user-order"/>
          <p:cNvCxnSpPr/>
          <p:nvPr/>
        </p:nvCxnSpPr>
        <p:spPr>
          <a:xfrm>
            <a:off x="3000375" y="3371850"/>
            <a:ext cx="1619250" cy="0"/>
          </a:xfrm>
          <a:prstGeom prst="straightConnector1">
            <a:avLst/>
          </a:prstGeom>
          <a:ln w="19050">
            <a:solidFill>
              <a:srgbClr val="C8C6C0"/>
            </a:solidFill>
            <a:prstDash val="solid"/>
          </a:ln>
        </p:spPr>
      </p:cxnSp>
      <p:cxnSp>
        <p:nvCxnSpPr>
          <p:cNvPr id="41" name="restaurant-order"/>
          <p:cNvCxnSpPr>
            <a:cxnSpLocks/>
            <a:endCxn id="16" idx="0"/>
          </p:cNvCxnSpPr>
          <p:nvPr/>
        </p:nvCxnSpPr>
        <p:spPr>
          <a:xfrm>
            <a:off x="2000250" y="3733800"/>
            <a:ext cx="0" cy="838200"/>
          </a:xfrm>
          <a:prstGeom prst="straightConnector1">
            <a:avLst/>
          </a:prstGeom>
          <a:ln w="19050">
            <a:solidFill>
              <a:srgbClr val="C8C6C0"/>
            </a:solidFill>
            <a:prstDash val="solid"/>
          </a:ln>
        </p:spPr>
      </p:cxnSp>
      <p:cxnSp>
        <p:nvCxnSpPr>
          <p:cNvPr id="42" name="payment-order"/>
          <p:cNvCxnSpPr>
            <a:cxnSpLocks/>
            <a:endCxn id="19" idx="1"/>
          </p:cNvCxnSpPr>
          <p:nvPr/>
        </p:nvCxnSpPr>
        <p:spPr>
          <a:xfrm flipV="1">
            <a:off x="6210300" y="2238375"/>
            <a:ext cx="1600200" cy="828675"/>
          </a:xfrm>
          <a:prstGeom prst="straightConnector1">
            <a:avLst/>
          </a:prstGeom>
          <a:ln w="19050">
            <a:solidFill>
              <a:srgbClr val="C8C6C0"/>
            </a:solidFill>
            <a:prstDash val="solid"/>
          </a:ln>
        </p:spPr>
      </p:cxnSp>
      <p:cxnSp>
        <p:nvCxnSpPr>
          <p:cNvPr id="43" name="delivery-order"/>
          <p:cNvCxnSpPr/>
          <p:nvPr/>
        </p:nvCxnSpPr>
        <p:spPr>
          <a:xfrm>
            <a:off x="6210300" y="3371850"/>
            <a:ext cx="1600200" cy="0"/>
          </a:xfrm>
          <a:prstGeom prst="straightConnector1">
            <a:avLst/>
          </a:prstGeom>
          <a:ln w="19050">
            <a:solidFill>
              <a:srgbClr val="C8C6C0"/>
            </a:solidFill>
            <a:prstDash val="solid"/>
          </a:ln>
        </p:spPr>
      </p:cxnSp>
      <p:cxnSp>
        <p:nvCxnSpPr>
          <p:cNvPr id="44" name="courier-order"/>
          <p:cNvCxnSpPr/>
          <p:nvPr/>
        </p:nvCxnSpPr>
        <p:spPr>
          <a:xfrm>
            <a:off x="6210300" y="3705225"/>
            <a:ext cx="1600200" cy="1190625"/>
          </a:xfrm>
          <a:prstGeom prst="straightConnector1">
            <a:avLst/>
          </a:prstGeom>
          <a:ln w="19050">
            <a:solidFill>
              <a:srgbClr val="C8C6C0"/>
            </a:solidFill>
            <a:prstDash val="solid"/>
          </a:ln>
        </p:spPr>
      </p:cxnSp>
      <p:sp>
        <p:nvSpPr>
          <p:cNvPr id="9" name="order-aggregate">
            <a:extLst>
              <a:ext uri="{FF2B5EF4-FFF2-40B4-BE49-F238E27FC236}">
                <a16:creationId xmlns:a16="http://schemas.microsoft.com/office/drawing/2014/main" id="{FDD89139-6C61-4670-9630-D738A25A25F7}"/>
              </a:ext>
            </a:extLst>
          </p:cNvPr>
          <p:cNvSpPr>
            <a:spLocks noGrp="1"/>
          </p:cNvSpPr>
          <p:nvPr/>
        </p:nvSpPr>
        <p:spPr>
          <a:xfrm>
            <a:off x="4619625" y="2676525"/>
            <a:ext cx="1590675" cy="1571625"/>
          </a:xfrm>
          <a:prstGeom prst="rect">
            <a:avLst/>
          </a:prstGeom>
          <a:solidFill>
            <a:srgbClr val="F0442F"/>
          </a:solidFill>
          <a:ln w="0">
            <a:noFill/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10" name="label-AGGREGATE">
            <a:extLst>
              <a:ext uri="{FF2B5EF4-FFF2-40B4-BE49-F238E27FC236}">
                <a16:creationId xmlns:a16="http://schemas.microsoft.com/office/drawing/2014/main" id="{600813B8-E49A-4D89-93FF-00439CE8E30C}"/>
              </a:ext>
            </a:extLst>
          </p:cNvPr>
          <p:cNvSpPr>
            <a:spLocks noGrp="1"/>
          </p:cNvSpPr>
          <p:nvPr/>
        </p:nvSpPr>
        <p:spPr>
          <a:xfrm>
            <a:off x="4810125" y="2857500"/>
            <a:ext cx="133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AGGREGATE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7F87090E-8537-429B-9F8B-0CF6305B1A06}"/>
              </a:ext>
            </a:extLst>
          </p:cNvPr>
          <p:cNvSpPr>
            <a:spLocks noGrp="1"/>
          </p:cNvSpPr>
          <p:nvPr/>
        </p:nvSpPr>
        <p:spPr>
          <a:xfrm>
            <a:off x="4810125" y="3257550"/>
            <a:ext cx="12382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ORDER</a:t>
            </a: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2A94FBFC-A26A-41DF-BAA7-018E38B740D8}"/>
              </a:ext>
            </a:extLst>
          </p:cNvPr>
          <p:cNvSpPr>
            <a:spLocks noGrp="1"/>
          </p:cNvSpPr>
          <p:nvPr/>
        </p:nvSpPr>
        <p:spPr>
          <a:xfrm>
            <a:off x="4810125" y="3629025"/>
            <a:ext cx="1238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items</a:t>
            </a:r>
          </a:p>
          <a:p>
            <a:pPr algn="l"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status + version</a:t>
            </a:r>
          </a:p>
          <a:p>
            <a:pPr algn="l"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address + totals</a:t>
            </a:r>
          </a:p>
        </p:txBody>
      </p:sp>
      <p:sp>
        <p:nvSpPr>
          <p:cNvPr id="13" name="entity-USER">
            <a:extLst>
              <a:ext uri="{FF2B5EF4-FFF2-40B4-BE49-F238E27FC236}">
                <a16:creationId xmlns:a16="http://schemas.microsoft.com/office/drawing/2014/main" id="{5FCF0D15-DF5D-4DBA-8FD3-038605BCA37B}"/>
              </a:ext>
            </a:extLst>
          </p:cNvPr>
          <p:cNvSpPr>
            <a:spLocks noGrp="1"/>
          </p:cNvSpPr>
          <p:nvPr/>
        </p:nvSpPr>
        <p:spPr>
          <a:xfrm>
            <a:off x="1000125" y="3028950"/>
            <a:ext cx="2000250" cy="704850"/>
          </a:xfrm>
          <a:prstGeom prst="rect">
            <a:avLst/>
          </a:prstGeom>
          <a:solidFill>
            <a:srgbClr val="EFEDE8"/>
          </a:solidFill>
          <a:ln w="0">
            <a:noFill/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43895133-10D0-4307-A768-26E33BA71D57}"/>
              </a:ext>
            </a:extLst>
          </p:cNvPr>
          <p:cNvSpPr>
            <a:spLocks noGrp="1"/>
          </p:cNvSpPr>
          <p:nvPr/>
        </p:nvSpPr>
        <p:spPr>
          <a:xfrm>
            <a:off x="1152525" y="3162300"/>
            <a:ext cx="171450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USER</a:t>
            </a: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44391E80-D00D-415B-A0B3-11C591A16DC4}"/>
              </a:ext>
            </a:extLst>
          </p:cNvPr>
          <p:cNvSpPr>
            <a:spLocks noGrp="1"/>
          </p:cNvSpPr>
          <p:nvPr/>
        </p:nvSpPr>
        <p:spPr>
          <a:xfrm>
            <a:off x="1152525" y="3438525"/>
            <a:ext cx="1714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Owner: Identity</a:t>
            </a:r>
          </a:p>
        </p:txBody>
      </p:sp>
      <p:sp>
        <p:nvSpPr>
          <p:cNvPr id="16" name="entity-RESTAURANT">
            <a:extLst>
              <a:ext uri="{FF2B5EF4-FFF2-40B4-BE49-F238E27FC236}">
                <a16:creationId xmlns:a16="http://schemas.microsoft.com/office/drawing/2014/main" id="{848364FE-BF6D-42A5-97CB-074A55EAE758}"/>
              </a:ext>
            </a:extLst>
          </p:cNvPr>
          <p:cNvSpPr>
            <a:spLocks noGrp="1"/>
          </p:cNvSpPr>
          <p:nvPr/>
        </p:nvSpPr>
        <p:spPr>
          <a:xfrm>
            <a:off x="1000125" y="4572000"/>
            <a:ext cx="2000250" cy="704850"/>
          </a:xfrm>
          <a:prstGeom prst="rect">
            <a:avLst/>
          </a:prstGeom>
          <a:solidFill>
            <a:srgbClr val="EFEDE8"/>
          </a:solidFill>
          <a:ln w="0">
            <a:noFill/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3EF32BCB-5F78-4962-BB30-C301A0D2B7A4}"/>
              </a:ext>
            </a:extLst>
          </p:cNvPr>
          <p:cNvSpPr>
            <a:spLocks noGrp="1"/>
          </p:cNvSpPr>
          <p:nvPr/>
        </p:nvSpPr>
        <p:spPr>
          <a:xfrm>
            <a:off x="1152525" y="4705350"/>
            <a:ext cx="171450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RESTAURANT</a:t>
            </a:r>
          </a:p>
        </p:txBody>
      </p:sp>
      <p:sp>
        <p:nvSpPr>
          <p:cNvPr id="18" name="text">
            <a:extLst>
              <a:ext uri="{FF2B5EF4-FFF2-40B4-BE49-F238E27FC236}">
                <a16:creationId xmlns:a16="http://schemas.microsoft.com/office/drawing/2014/main" id="{DAD8DA59-75BB-46C3-BE14-82620DD62867}"/>
              </a:ext>
            </a:extLst>
          </p:cNvPr>
          <p:cNvSpPr>
            <a:spLocks noGrp="1"/>
          </p:cNvSpPr>
          <p:nvPr/>
        </p:nvSpPr>
        <p:spPr>
          <a:xfrm>
            <a:off x="1152525" y="4981575"/>
            <a:ext cx="1714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Owner: Catalog</a:t>
            </a:r>
          </a:p>
        </p:txBody>
      </p:sp>
      <p:sp>
        <p:nvSpPr>
          <p:cNvPr id="19" name="entity-PAYMENT / REFUND">
            <a:extLst>
              <a:ext uri="{FF2B5EF4-FFF2-40B4-BE49-F238E27FC236}">
                <a16:creationId xmlns:a16="http://schemas.microsoft.com/office/drawing/2014/main" id="{DDC69E55-9629-449F-B5AE-638FAA0384FE}"/>
              </a:ext>
            </a:extLst>
          </p:cNvPr>
          <p:cNvSpPr>
            <a:spLocks noGrp="1"/>
          </p:cNvSpPr>
          <p:nvPr/>
        </p:nvSpPr>
        <p:spPr>
          <a:xfrm>
            <a:off x="7810500" y="1885950"/>
            <a:ext cx="2000250" cy="704850"/>
          </a:xfrm>
          <a:prstGeom prst="rect">
            <a:avLst/>
          </a:prstGeom>
          <a:solidFill>
            <a:srgbClr val="EFEDE8"/>
          </a:solidFill>
          <a:ln w="0">
            <a:noFill/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20" name="text">
            <a:extLst>
              <a:ext uri="{FF2B5EF4-FFF2-40B4-BE49-F238E27FC236}">
                <a16:creationId xmlns:a16="http://schemas.microsoft.com/office/drawing/2014/main" id="{670B08BA-D543-4456-B67E-DD80160E54F5}"/>
              </a:ext>
            </a:extLst>
          </p:cNvPr>
          <p:cNvSpPr>
            <a:spLocks noGrp="1"/>
          </p:cNvSpPr>
          <p:nvPr/>
        </p:nvSpPr>
        <p:spPr>
          <a:xfrm>
            <a:off x="7962900" y="2019300"/>
            <a:ext cx="171450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PAYMENT / REFUND</a:t>
            </a:r>
          </a:p>
        </p:txBody>
      </p:sp>
      <p:sp>
        <p:nvSpPr>
          <p:cNvPr id="21" name="text">
            <a:extLst>
              <a:ext uri="{FF2B5EF4-FFF2-40B4-BE49-F238E27FC236}">
                <a16:creationId xmlns:a16="http://schemas.microsoft.com/office/drawing/2014/main" id="{8D303AEC-414A-4DB6-9946-47DA958D2F08}"/>
              </a:ext>
            </a:extLst>
          </p:cNvPr>
          <p:cNvSpPr>
            <a:spLocks noGrp="1"/>
          </p:cNvSpPr>
          <p:nvPr/>
        </p:nvSpPr>
        <p:spPr>
          <a:xfrm>
            <a:off x="7962900" y="2295525"/>
            <a:ext cx="1714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Owner: Payment</a:t>
            </a:r>
          </a:p>
        </p:txBody>
      </p:sp>
      <p:sp>
        <p:nvSpPr>
          <p:cNvPr id="22" name="entity-DELIVERY">
            <a:extLst>
              <a:ext uri="{FF2B5EF4-FFF2-40B4-BE49-F238E27FC236}">
                <a16:creationId xmlns:a16="http://schemas.microsoft.com/office/drawing/2014/main" id="{B90C973B-628D-4EB4-9A69-73AD4FDCF935}"/>
              </a:ext>
            </a:extLst>
          </p:cNvPr>
          <p:cNvSpPr>
            <a:spLocks noGrp="1"/>
          </p:cNvSpPr>
          <p:nvPr/>
        </p:nvSpPr>
        <p:spPr>
          <a:xfrm>
            <a:off x="7810500" y="3028950"/>
            <a:ext cx="2000250" cy="704850"/>
          </a:xfrm>
          <a:prstGeom prst="rect">
            <a:avLst/>
          </a:prstGeom>
          <a:solidFill>
            <a:srgbClr val="EFEDE8"/>
          </a:solidFill>
          <a:ln w="0">
            <a:noFill/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23" name="text">
            <a:extLst>
              <a:ext uri="{FF2B5EF4-FFF2-40B4-BE49-F238E27FC236}">
                <a16:creationId xmlns:a16="http://schemas.microsoft.com/office/drawing/2014/main" id="{E51CF552-3317-4415-AE4F-ED3279373D3C}"/>
              </a:ext>
            </a:extLst>
          </p:cNvPr>
          <p:cNvSpPr>
            <a:spLocks noGrp="1"/>
          </p:cNvSpPr>
          <p:nvPr/>
        </p:nvSpPr>
        <p:spPr>
          <a:xfrm>
            <a:off x="7962900" y="3162300"/>
            <a:ext cx="171450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DELIVERY</a:t>
            </a:r>
          </a:p>
        </p:txBody>
      </p:sp>
      <p:sp>
        <p:nvSpPr>
          <p:cNvPr id="24" name="text">
            <a:extLst>
              <a:ext uri="{FF2B5EF4-FFF2-40B4-BE49-F238E27FC236}">
                <a16:creationId xmlns:a16="http://schemas.microsoft.com/office/drawing/2014/main" id="{68C46381-00B0-44BB-8517-DB757978A945}"/>
              </a:ext>
            </a:extLst>
          </p:cNvPr>
          <p:cNvSpPr>
            <a:spLocks noGrp="1"/>
          </p:cNvSpPr>
          <p:nvPr/>
        </p:nvSpPr>
        <p:spPr>
          <a:xfrm>
            <a:off x="7962900" y="3438525"/>
            <a:ext cx="1714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Owner: Dispatch</a:t>
            </a:r>
          </a:p>
        </p:txBody>
      </p:sp>
      <p:sp>
        <p:nvSpPr>
          <p:cNvPr id="25" name="entity-COURIER / PAYOUT">
            <a:extLst>
              <a:ext uri="{FF2B5EF4-FFF2-40B4-BE49-F238E27FC236}">
                <a16:creationId xmlns:a16="http://schemas.microsoft.com/office/drawing/2014/main" id="{872EF060-3308-48D0-B238-3E0D7271C4FB}"/>
              </a:ext>
            </a:extLst>
          </p:cNvPr>
          <p:cNvSpPr>
            <a:spLocks noGrp="1"/>
          </p:cNvSpPr>
          <p:nvPr/>
        </p:nvSpPr>
        <p:spPr>
          <a:xfrm>
            <a:off x="7810500" y="4572000"/>
            <a:ext cx="2000250" cy="704850"/>
          </a:xfrm>
          <a:prstGeom prst="rect">
            <a:avLst/>
          </a:prstGeom>
          <a:solidFill>
            <a:srgbClr val="EFEDE8"/>
          </a:solidFill>
          <a:ln w="0">
            <a:noFill/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26" name="text">
            <a:extLst>
              <a:ext uri="{FF2B5EF4-FFF2-40B4-BE49-F238E27FC236}">
                <a16:creationId xmlns:a16="http://schemas.microsoft.com/office/drawing/2014/main" id="{CBB84FC1-8CDD-4A2A-BBB5-41B7A7BFAF19}"/>
              </a:ext>
            </a:extLst>
          </p:cNvPr>
          <p:cNvSpPr>
            <a:spLocks noGrp="1"/>
          </p:cNvSpPr>
          <p:nvPr/>
        </p:nvSpPr>
        <p:spPr>
          <a:xfrm>
            <a:off x="7962900" y="4705350"/>
            <a:ext cx="171450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COURIER / PAYOUT</a:t>
            </a:r>
          </a:p>
        </p:txBody>
      </p:sp>
      <p:sp>
        <p:nvSpPr>
          <p:cNvPr id="27" name="text">
            <a:extLst>
              <a:ext uri="{FF2B5EF4-FFF2-40B4-BE49-F238E27FC236}">
                <a16:creationId xmlns:a16="http://schemas.microsoft.com/office/drawing/2014/main" id="{0FBC7950-1666-4F0E-8DAC-E9EA1D76385D}"/>
              </a:ext>
            </a:extLst>
          </p:cNvPr>
          <p:cNvSpPr>
            <a:spLocks noGrp="1"/>
          </p:cNvSpPr>
          <p:nvPr/>
        </p:nvSpPr>
        <p:spPr>
          <a:xfrm>
            <a:off x="7962900" y="4981575"/>
            <a:ext cx="1714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Owner: Dispatch</a:t>
            </a:r>
          </a:p>
        </p:txBody>
      </p:sp>
      <p:sp>
        <p:nvSpPr>
          <p:cNvPr id="28" name="data-rules">
            <a:extLst>
              <a:ext uri="{FF2B5EF4-FFF2-40B4-BE49-F238E27FC236}">
                <a16:creationId xmlns:a16="http://schemas.microsoft.com/office/drawing/2014/main" id="{43AA585A-4FFD-4DCD-A6DD-5615DD9591C8}"/>
              </a:ext>
            </a:extLst>
          </p:cNvPr>
          <p:cNvSpPr>
            <a:spLocks noGrp="1"/>
          </p:cNvSpPr>
          <p:nvPr/>
        </p:nvSpPr>
        <p:spPr>
          <a:xfrm>
            <a:off x="10001250" y="1885950"/>
            <a:ext cx="1571625" cy="3390900"/>
          </a:xfrm>
          <a:prstGeom prst="rect">
            <a:avLst/>
          </a:prstGeom>
          <a:solidFill>
            <a:srgbClr val="173F35"/>
          </a:solidFill>
          <a:ln w="0">
            <a:noFill/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29" name="label-RULES">
            <a:extLst>
              <a:ext uri="{FF2B5EF4-FFF2-40B4-BE49-F238E27FC236}">
                <a16:creationId xmlns:a16="http://schemas.microsoft.com/office/drawing/2014/main" id="{F1DE3728-F8D7-4AAB-8EDF-E8772A303ABC}"/>
              </a:ext>
            </a:extLst>
          </p:cNvPr>
          <p:cNvSpPr>
            <a:spLocks noGrp="1"/>
          </p:cNvSpPr>
          <p:nvPr/>
        </p:nvSpPr>
        <p:spPr>
          <a:xfrm>
            <a:off x="10210800" y="2114550"/>
            <a:ext cx="1047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1">
                <a:solidFill>
                  <a:srgbClr val="F3C94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3C94B"/>
                </a:solidFill>
                <a:latin typeface="Arial"/>
                <a:ea typeface="Arial"/>
                <a:cs typeface="Arial"/>
              </a:rPr>
              <a:t>RULES</a:t>
            </a:r>
          </a:p>
        </p:txBody>
      </p:sp>
      <p:sp>
        <p:nvSpPr>
          <p:cNvPr id="30" name="text">
            <a:extLst>
              <a:ext uri="{FF2B5EF4-FFF2-40B4-BE49-F238E27FC236}">
                <a16:creationId xmlns:a16="http://schemas.microsoft.com/office/drawing/2014/main" id="{B3E62F6D-6E97-4C05-88E6-546069B1FBE1}"/>
              </a:ext>
            </a:extLst>
          </p:cNvPr>
          <p:cNvSpPr>
            <a:spLocks noGrp="1"/>
          </p:cNvSpPr>
          <p:nvPr/>
        </p:nvSpPr>
        <p:spPr>
          <a:xfrm>
            <a:off x="10210800" y="2552700"/>
            <a:ext cx="11239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Snapshot</a:t>
            </a:r>
          </a:p>
          <a:p>
            <a: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prices + address</a:t>
            </a:r>
          </a:p>
        </p:txBody>
      </p:sp>
      <p:cxnSp>
        <p:nvCxnSpPr>
          <p:cNvPr id="67" name="data-rule-1"/>
          <p:cNvCxnSpPr/>
          <p:nvPr/>
        </p:nvCxnSpPr>
        <p:spPr>
          <a:xfrm>
            <a:off x="10210800" y="3343275"/>
            <a:ext cx="1123950" cy="0"/>
          </a:xfrm>
          <a:prstGeom prst="straightConnector1">
            <a:avLst/>
          </a:prstGeom>
          <a:ln w="9525">
            <a:solidFill>
              <a:srgbClr val="6B8C83"/>
            </a:solidFill>
            <a:prstDash val="solid"/>
          </a:ln>
        </p:spPr>
      </p:cxnSp>
      <p:sp>
        <p:nvSpPr>
          <p:cNvPr id="32" name="text">
            <a:extLst>
              <a:ext uri="{FF2B5EF4-FFF2-40B4-BE49-F238E27FC236}">
                <a16:creationId xmlns:a16="http://schemas.microsoft.com/office/drawing/2014/main" id="{9D2E62FE-B14C-40B4-B6C2-DD08462DED09}"/>
              </a:ext>
            </a:extLst>
          </p:cNvPr>
          <p:cNvSpPr>
            <a:spLocks noGrp="1"/>
          </p:cNvSpPr>
          <p:nvPr/>
        </p:nvSpPr>
        <p:spPr>
          <a:xfrm>
            <a:off x="10210800" y="3543300"/>
            <a:ext cx="11239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Version</a:t>
            </a:r>
          </a:p>
          <a:p>
            <a: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every transition</a:t>
            </a:r>
          </a:p>
        </p:txBody>
      </p:sp>
      <p:cxnSp>
        <p:nvCxnSpPr>
          <p:cNvPr id="69" name="data-rule-2"/>
          <p:cNvCxnSpPr/>
          <p:nvPr/>
        </p:nvCxnSpPr>
        <p:spPr>
          <a:xfrm>
            <a:off x="10210800" y="4333875"/>
            <a:ext cx="1123950" cy="0"/>
          </a:xfrm>
          <a:prstGeom prst="straightConnector1">
            <a:avLst/>
          </a:prstGeom>
          <a:ln w="9525">
            <a:solidFill>
              <a:srgbClr val="6B8C83"/>
            </a:solidFill>
            <a:prstDash val="solid"/>
          </a:ln>
        </p:spPr>
      </p:cxnSp>
      <p:sp>
        <p:nvSpPr>
          <p:cNvPr id="34" name="text">
            <a:extLst>
              <a:ext uri="{FF2B5EF4-FFF2-40B4-BE49-F238E27FC236}">
                <a16:creationId xmlns:a16="http://schemas.microsoft.com/office/drawing/2014/main" id="{65A9D715-7168-4EE1-97CB-987B5915F442}"/>
              </a:ext>
            </a:extLst>
          </p:cNvPr>
          <p:cNvSpPr>
            <a:spLocks noGrp="1"/>
          </p:cNvSpPr>
          <p:nvPr/>
        </p:nvSpPr>
        <p:spPr>
          <a:xfrm>
            <a:off x="10210800" y="4533900"/>
            <a:ext cx="11239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</a:t>
            </a:r>
          </a:p>
          <a:p>
            <a: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actor + reason</a:t>
            </a:r>
          </a:p>
        </p:txBody>
      </p:sp>
      <p:sp>
        <p:nvSpPr>
          <p:cNvPr id="35" name="footer-section">
            <a:extLst>
              <a:ext uri="{FF2B5EF4-FFF2-40B4-BE49-F238E27FC236}">
                <a16:creationId xmlns:a16="http://schemas.microsoft.com/office/drawing/2014/main" id="{24DDD312-B69A-4E65-BC3C-F204827038C2}"/>
              </a:ext>
            </a:extLst>
          </p:cNvPr>
          <p:cNvSpPr>
            <a:spLocks noGrp="1"/>
          </p:cNvSpPr>
          <p:nvPr/>
        </p:nvSpPr>
        <p:spPr>
          <a:xfrm>
            <a:off x="609600" y="6515100"/>
            <a:ext cx="31432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750" b="1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06E68"/>
                </a:solidFill>
                <a:latin typeface="Arial"/>
                <a:ea typeface="Arial"/>
                <a:cs typeface="Arial"/>
              </a:rPr>
              <a:t>DATA MODEL</a:t>
            </a:r>
          </a:p>
        </p:txBody>
      </p:sp>
      <p:sp>
        <p:nvSpPr>
          <p:cNvPr id="36" name="footer-page">
            <a:extLst>
              <a:ext uri="{FF2B5EF4-FFF2-40B4-BE49-F238E27FC236}">
                <a16:creationId xmlns:a16="http://schemas.microsoft.com/office/drawing/2014/main" id="{7BEDBF14-33A1-491F-BD31-93D992E356AC}"/>
              </a:ext>
            </a:extLst>
          </p:cNvPr>
          <p:cNvSpPr>
            <a:spLocks noGrp="1"/>
          </p:cNvSpPr>
          <p:nvPr/>
        </p:nvSpPr>
        <p:spPr>
          <a:xfrm>
            <a:off x="11096625" y="6496050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825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416884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-title">
            <a:extLst>
              <a:ext uri="{FF2B5EF4-FFF2-40B4-BE49-F238E27FC236}">
                <a16:creationId xmlns:a16="http://schemas.microsoft.com/office/drawing/2014/main" id="{A1572912-5848-48C7-8404-B07F8957272D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477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315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3150" b="1" dirty="0">
                <a:solidFill>
                  <a:srgbClr val="171713"/>
                </a:solidFill>
                <a:latin typeface="Arial"/>
                <a:ea typeface="Arial"/>
                <a:cs typeface="Arial"/>
              </a:rPr>
              <a:t>Failures degrade capability, not integrity</a:t>
            </a:r>
          </a:p>
        </p:txBody>
      </p:sp>
      <p:sp>
        <p:nvSpPr>
          <p:cNvPr id="2" name="slide-subtitle">
            <a:extLst>
              <a:ext uri="{FF2B5EF4-FFF2-40B4-BE49-F238E27FC236}">
                <a16:creationId xmlns:a16="http://schemas.microsoft.com/office/drawing/2014/main" id="{BD9EA25F-6AC7-493F-9430-0520D777ABE5}"/>
              </a:ext>
            </a:extLst>
          </p:cNvPr>
          <p:cNvSpPr>
            <a:spLocks noGrp="1"/>
          </p:cNvSpPr>
          <p:nvPr/>
        </p:nvSpPr>
        <p:spPr>
          <a:xfrm>
            <a:off x="628650" y="1104900"/>
            <a:ext cx="971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The order remains explainable even when a provider or projection is temporarily unavailable.</a:t>
            </a:r>
          </a:p>
        </p:txBody>
      </p:sp>
      <p:cxnSp>
        <p:nvCxnSpPr>
          <p:cNvPr id="11" name="title-rule"/>
          <p:cNvCxnSpPr/>
          <p:nvPr/>
        </p:nvCxnSpPr>
        <p:spPr>
          <a:xfrm>
            <a:off x="609600" y="1495425"/>
            <a:ext cx="10972800" cy="0"/>
          </a:xfrm>
          <a:prstGeom prst="straightConnector1">
            <a:avLst/>
          </a:prstGeom>
          <a:ln w="9525">
            <a:solidFill>
              <a:srgbClr val="C8C6C0"/>
            </a:solidFill>
            <a:prstDash val="solid"/>
          </a:ln>
        </p:spPr>
      </p:cxnSp>
      <p:graphicFrame>
        <p:nvGraphicFramePr>
          <p:cNvPr id="12" name="Table 11"/>
          <p:cNvGraphicFramePr/>
          <p:nvPr/>
        </p:nvGraphicFramePr>
        <p:xfrm>
          <a:off x="666750" y="1885950"/>
          <a:ext cx="10858500" cy="3905251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33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3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57893">
                <a:tc>
                  <a:txBody>
                    <a:bodyPr/>
                    <a:lstStyle/>
                    <a:p>
                      <a:r>
                        <a:rPr sz="1275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Failure</a:t>
                      </a:r>
                    </a:p>
                  </a:txBody>
                  <a:tcPr>
                    <a:solidFill>
                      <a:srgbClr val="1717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Customer experience</a:t>
                      </a:r>
                    </a:p>
                  </a:txBody>
                  <a:tcPr>
                    <a:solidFill>
                      <a:srgbClr val="1717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Control</a:t>
                      </a:r>
                    </a:p>
                  </a:txBody>
                  <a:tcPr>
                    <a:solidFill>
                      <a:srgbClr val="17171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7893">
                <a:tc>
                  <a:txBody>
                    <a:bodyPr/>
                    <a:lstStyle/>
                    <a:p>
                      <a:r>
                        <a:rPr sz="1200" b="1" dirty="0">
                          <a:solidFill>
                            <a:srgbClr val="171713"/>
                          </a:solidFill>
                          <a:latin typeface="Arial"/>
                          <a:ea typeface="Arial"/>
                          <a:cs typeface="Arial"/>
                        </a:rPr>
                        <a:t>Payment timeout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171713"/>
                          </a:solidFill>
                          <a:latin typeface="Arial"/>
                          <a:ea typeface="Arial"/>
                          <a:cs typeface="Arial"/>
                        </a:rPr>
                        <a:t>Checkout stays pending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1713"/>
                          </a:solidFill>
                          <a:latin typeface="Arial"/>
                          <a:ea typeface="Arial"/>
                          <a:cs typeface="Arial"/>
                        </a:rPr>
                        <a:t>Query by idempotency key; retry deterministically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7893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71713"/>
                          </a:solidFill>
                          <a:latin typeface="Arial"/>
                          <a:ea typeface="Arial"/>
                          <a:cs typeface="Arial"/>
                        </a:rPr>
                        <a:t>Restaurant timeout</a:t>
                      </a:r>
                    </a:p>
                  </a:txBody>
                  <a:tcPr>
                    <a:solidFill>
                      <a:srgbClr val="EF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1713"/>
                          </a:solidFill>
                          <a:latin typeface="Arial"/>
                          <a:ea typeface="Arial"/>
                          <a:cs typeface="Arial"/>
                        </a:rPr>
                        <a:t>Order expires clearly</a:t>
                      </a:r>
                    </a:p>
                  </a:txBody>
                  <a:tcPr>
                    <a:solidFill>
                      <a:srgbClr val="EF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1713"/>
                          </a:solidFill>
                          <a:latin typeface="Arial"/>
                          <a:ea typeface="Arial"/>
                          <a:cs typeface="Arial"/>
                        </a:rPr>
                        <a:t>Void authorization; audit reason</a:t>
                      </a:r>
                    </a:p>
                  </a:txBody>
                  <a:tcPr>
                    <a:solidFill>
                      <a:srgbClr val="EF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7893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71713"/>
                          </a:solidFill>
                          <a:latin typeface="Arial"/>
                          <a:ea typeface="Arial"/>
                          <a:cs typeface="Arial"/>
                        </a:rPr>
                        <a:t>No courier accepts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171713"/>
                          </a:solidFill>
                          <a:latin typeface="Arial"/>
                          <a:ea typeface="Arial"/>
                          <a:cs typeface="Arial"/>
                        </a:rPr>
                        <a:t>ETA is revised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171713"/>
                          </a:solidFill>
                          <a:latin typeface="Arial"/>
                          <a:ea typeface="Arial"/>
                          <a:cs typeface="Arial"/>
                        </a:rPr>
                        <a:t>Expand search in bounded waves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7893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71713"/>
                          </a:solidFill>
                          <a:latin typeface="Arial"/>
                          <a:ea typeface="Arial"/>
                          <a:cs typeface="Arial"/>
                        </a:rPr>
                        <a:t>Maps unavailable</a:t>
                      </a:r>
                    </a:p>
                  </a:txBody>
                  <a:tcPr>
                    <a:solidFill>
                      <a:srgbClr val="EF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1713"/>
                          </a:solidFill>
                          <a:latin typeface="Arial"/>
                          <a:ea typeface="Arial"/>
                          <a:cs typeface="Arial"/>
                        </a:rPr>
                        <a:t>Last known ETA is shown</a:t>
                      </a:r>
                    </a:p>
                  </a:txBody>
                  <a:tcPr>
                    <a:solidFill>
                      <a:srgbClr val="EF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1713"/>
                          </a:solidFill>
                          <a:latin typeface="Arial"/>
                          <a:ea typeface="Arial"/>
                          <a:cs typeface="Arial"/>
                        </a:rPr>
                        <a:t>Cached results + circuit breaker</a:t>
                      </a:r>
                    </a:p>
                  </a:txBody>
                  <a:tcPr>
                    <a:solidFill>
                      <a:srgbClr val="EF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7893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71713"/>
                          </a:solidFill>
                          <a:latin typeface="Arial"/>
                          <a:ea typeface="Arial"/>
                          <a:cs typeface="Arial"/>
                        </a:rPr>
                        <a:t>Notification outage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1713"/>
                          </a:solidFill>
                          <a:latin typeface="Arial"/>
                          <a:ea typeface="Arial"/>
                          <a:cs typeface="Arial"/>
                        </a:rPr>
                        <a:t>In-app status stays authoritative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1713"/>
                          </a:solidFill>
                          <a:latin typeface="Arial"/>
                          <a:ea typeface="Arial"/>
                          <a:cs typeface="Arial"/>
                        </a:rPr>
                        <a:t>Queue retry; channel fallback; DLQ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7893">
                <a:tc>
                  <a:txBody>
                    <a:bodyPr/>
                    <a:lstStyle/>
                    <a:p>
                      <a:r>
                        <a:rPr sz="1200" b="1" dirty="0">
                          <a:solidFill>
                            <a:srgbClr val="171713"/>
                          </a:solidFill>
                          <a:latin typeface="Arial"/>
                          <a:ea typeface="Arial"/>
                          <a:cs typeface="Arial"/>
                        </a:rPr>
                        <a:t>Consumer restart</a:t>
                      </a:r>
                    </a:p>
                  </a:txBody>
                  <a:tcPr>
                    <a:solidFill>
                      <a:srgbClr val="EF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1713"/>
                          </a:solidFill>
                          <a:latin typeface="Arial"/>
                          <a:ea typeface="Arial"/>
                          <a:cs typeface="Arial"/>
                        </a:rPr>
                        <a:t>Projection may briefly lag</a:t>
                      </a:r>
                    </a:p>
                  </a:txBody>
                  <a:tcPr>
                    <a:solidFill>
                      <a:srgbClr val="EF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171713"/>
                          </a:solidFill>
                          <a:latin typeface="Arial"/>
                          <a:ea typeface="Arial"/>
                          <a:cs typeface="Arial"/>
                        </a:rPr>
                        <a:t>Resume offset; inbox deduplication</a:t>
                      </a:r>
                    </a:p>
                  </a:txBody>
                  <a:tcPr>
                    <a:solidFill>
                      <a:srgbClr val="EF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failure-accent">
            <a:extLst>
              <a:ext uri="{FF2B5EF4-FFF2-40B4-BE49-F238E27FC236}">
                <a16:creationId xmlns:a16="http://schemas.microsoft.com/office/drawing/2014/main" id="{08C93989-681A-4F2A-9FE4-7F383093829E}"/>
              </a:ext>
            </a:extLst>
          </p:cNvPr>
          <p:cNvSpPr>
            <a:spLocks noGrp="1"/>
          </p:cNvSpPr>
          <p:nvPr/>
        </p:nvSpPr>
        <p:spPr>
          <a:xfrm>
            <a:off x="666750" y="5981700"/>
            <a:ext cx="85725" cy="228600"/>
          </a:xfrm>
          <a:prstGeom prst="rect">
            <a:avLst/>
          </a:prstGeom>
          <a:solidFill>
            <a:srgbClr val="F0442F"/>
          </a:solidFill>
          <a:ln w="0">
            <a:noFill/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C10AD53D-E9AC-458B-A85A-F6658B59B96D}"/>
              </a:ext>
            </a:extLst>
          </p:cNvPr>
          <p:cNvSpPr>
            <a:spLocks noGrp="1"/>
          </p:cNvSpPr>
          <p:nvPr/>
        </p:nvSpPr>
        <p:spPr>
          <a:xfrm>
            <a:off x="895350" y="5981700"/>
            <a:ext cx="7334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Money and canonical order state always reconcile after recovery.</a:t>
            </a:r>
          </a:p>
        </p:txBody>
      </p:sp>
      <p:sp>
        <p:nvSpPr>
          <p:cNvPr id="7" name="footer-section">
            <a:extLst>
              <a:ext uri="{FF2B5EF4-FFF2-40B4-BE49-F238E27FC236}">
                <a16:creationId xmlns:a16="http://schemas.microsoft.com/office/drawing/2014/main" id="{247533D1-85A2-4DA5-A01E-9A74A53DB839}"/>
              </a:ext>
            </a:extLst>
          </p:cNvPr>
          <p:cNvSpPr>
            <a:spLocks noGrp="1"/>
          </p:cNvSpPr>
          <p:nvPr/>
        </p:nvSpPr>
        <p:spPr>
          <a:xfrm>
            <a:off x="609600" y="6515100"/>
            <a:ext cx="31432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750" b="1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06E68"/>
                </a:solidFill>
                <a:latin typeface="Arial"/>
                <a:ea typeface="Arial"/>
                <a:cs typeface="Arial"/>
              </a:rPr>
              <a:t>RESILIENCE</a:t>
            </a:r>
          </a:p>
        </p:txBody>
      </p:sp>
      <p:sp>
        <p:nvSpPr>
          <p:cNvPr id="8" name="footer-page">
            <a:extLst>
              <a:ext uri="{FF2B5EF4-FFF2-40B4-BE49-F238E27FC236}">
                <a16:creationId xmlns:a16="http://schemas.microsoft.com/office/drawing/2014/main" id="{1E71CCFB-2E3C-4CB3-A995-426B1E8BF9E9}"/>
              </a:ext>
            </a:extLst>
          </p:cNvPr>
          <p:cNvSpPr>
            <a:spLocks noGrp="1"/>
          </p:cNvSpPr>
          <p:nvPr/>
        </p:nvSpPr>
        <p:spPr>
          <a:xfrm>
            <a:off x="11096625" y="6496050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825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0418373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label-CUSTOMER EXPERIENCE">
            <a:extLst>
              <a:ext uri="{FF2B5EF4-FFF2-40B4-BE49-F238E27FC236}">
                <a16:creationId xmlns:a16="http://schemas.microsoft.com/office/drawing/2014/main" id="{D4CBE6AF-FEB6-40B8-8AEB-D9B604A948E8}"/>
              </a:ext>
            </a:extLst>
          </p:cNvPr>
          <p:cNvSpPr>
            <a:spLocks noGrp="1"/>
          </p:cNvSpPr>
          <p:nvPr/>
        </p:nvSpPr>
        <p:spPr>
          <a:xfrm>
            <a:off x="609600" y="495300"/>
            <a:ext cx="2476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1">
                <a:solidFill>
                  <a:srgbClr val="F0442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442F"/>
                </a:solidFill>
                <a:latin typeface="Arial"/>
                <a:ea typeface="Arial"/>
                <a:cs typeface="Arial"/>
              </a:rPr>
              <a:t>CUSTOMER EXPERIENCE</a:t>
            </a:r>
          </a:p>
        </p:txBody>
      </p:sp>
      <p:sp>
        <p:nvSpPr>
          <p:cNvPr id="2" name="experience-title">
            <a:extLst>
              <a:ext uri="{FF2B5EF4-FFF2-40B4-BE49-F238E27FC236}">
                <a16:creationId xmlns:a16="http://schemas.microsoft.com/office/drawing/2014/main" id="{312CD3CE-EE65-4E26-B352-CA5904DDDCB1}"/>
              </a:ext>
            </a:extLst>
          </p:cNvPr>
          <p:cNvSpPr>
            <a:spLocks noGrp="1"/>
          </p:cNvSpPr>
          <p:nvPr/>
        </p:nvSpPr>
        <p:spPr>
          <a:xfrm>
            <a:off x="609600" y="1028700"/>
            <a:ext cx="4714875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032"/>
          </a:bodyPr>
          <a:lstStyle/>
          <a:p>
            <a:pPr algn="l">
              <a:defRPr sz="3375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Operational complexity</a:t>
            </a:r>
          </a:p>
          <a:p>
            <a:pPr algn="l">
              <a:defRPr sz="3375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stays behind the glass</a:t>
            </a:r>
          </a:p>
        </p:txBody>
      </p:sp>
      <p:sp>
        <p:nvSpPr>
          <p:cNvPr id="3" name="text">
            <a:extLst>
              <a:ext uri="{FF2B5EF4-FFF2-40B4-BE49-F238E27FC236}">
                <a16:creationId xmlns:a16="http://schemas.microsoft.com/office/drawing/2014/main" id="{86FB6795-A65B-4EED-9EF3-EB27C0E06E50}"/>
              </a:ext>
            </a:extLst>
          </p:cNvPr>
          <p:cNvSpPr>
            <a:spLocks noGrp="1"/>
          </p:cNvSpPr>
          <p:nvPr/>
        </p:nvSpPr>
        <p:spPr>
          <a:xfrm>
            <a:off x="628650" y="2686050"/>
            <a:ext cx="43815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The customer sees clear choices, current delivery context, and one obvious next action - while retries and reconciliation happen underneath.</a:t>
            </a:r>
          </a:p>
        </p:txBody>
      </p:sp>
      <p:sp>
        <p:nvSpPr>
          <p:cNvPr id="4" name="dot-1">
            <a:extLst>
              <a:ext uri="{FF2B5EF4-FFF2-40B4-BE49-F238E27FC236}">
                <a16:creationId xmlns:a16="http://schemas.microsoft.com/office/drawing/2014/main" id="{CA34FCE6-1E3A-4C4E-8530-15664E3B4E66}"/>
              </a:ext>
            </a:extLst>
          </p:cNvPr>
          <p:cNvSpPr>
            <a:spLocks noGrp="1"/>
          </p:cNvSpPr>
          <p:nvPr/>
        </p:nvSpPr>
        <p:spPr>
          <a:xfrm>
            <a:off x="628650" y="4238625"/>
            <a:ext cx="228600" cy="228600"/>
          </a:xfrm>
          <a:prstGeom prst="ellipse">
            <a:avLst/>
          </a:prstGeom>
          <a:solidFill>
            <a:srgbClr val="F0442F"/>
          </a:solidFill>
          <a:ln w="0">
            <a:noFill/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ACE6BF95-772F-4FF0-90CE-03259FB16FF8}"/>
              </a:ext>
            </a:extLst>
          </p:cNvPr>
          <p:cNvSpPr>
            <a:spLocks noGrp="1"/>
          </p:cNvSpPr>
          <p:nvPr/>
        </p:nvSpPr>
        <p:spPr>
          <a:xfrm>
            <a:off x="628650" y="4279773"/>
            <a:ext cx="228600" cy="1417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382CDEDE-2D57-4ADA-8B0A-3E6A81494831}"/>
              </a:ext>
            </a:extLst>
          </p:cNvPr>
          <p:cNvSpPr>
            <a:spLocks noGrp="1"/>
          </p:cNvSpPr>
          <p:nvPr/>
        </p:nvSpPr>
        <p:spPr>
          <a:xfrm>
            <a:off x="1000125" y="4248150"/>
            <a:ext cx="2857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Editorial discovery</a:t>
            </a:r>
          </a:p>
        </p:txBody>
      </p:sp>
      <p:sp>
        <p:nvSpPr>
          <p:cNvPr id="7" name="dot-2">
            <a:extLst>
              <a:ext uri="{FF2B5EF4-FFF2-40B4-BE49-F238E27FC236}">
                <a16:creationId xmlns:a16="http://schemas.microsoft.com/office/drawing/2014/main" id="{6538C956-B45C-42F8-A397-52A43C918084}"/>
              </a:ext>
            </a:extLst>
          </p:cNvPr>
          <p:cNvSpPr>
            <a:spLocks noGrp="1"/>
          </p:cNvSpPr>
          <p:nvPr/>
        </p:nvSpPr>
        <p:spPr>
          <a:xfrm>
            <a:off x="628650" y="4714875"/>
            <a:ext cx="228600" cy="228600"/>
          </a:xfrm>
          <a:prstGeom prst="ellipse">
            <a:avLst/>
          </a:prstGeom>
          <a:solidFill>
            <a:srgbClr val="EFEDE8"/>
          </a:solidFill>
          <a:ln w="0">
            <a:noFill/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21F30B49-6966-4C01-9B61-6F197513285C}"/>
              </a:ext>
            </a:extLst>
          </p:cNvPr>
          <p:cNvSpPr>
            <a:spLocks noGrp="1"/>
          </p:cNvSpPr>
          <p:nvPr/>
        </p:nvSpPr>
        <p:spPr>
          <a:xfrm>
            <a:off x="628650" y="4756023"/>
            <a:ext cx="228600" cy="1417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825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8770920B-35A9-4F80-B881-7E08B9A441B6}"/>
              </a:ext>
            </a:extLst>
          </p:cNvPr>
          <p:cNvSpPr>
            <a:spLocks noGrp="1"/>
          </p:cNvSpPr>
          <p:nvPr/>
        </p:nvSpPr>
        <p:spPr>
          <a:xfrm>
            <a:off x="1000125" y="4724400"/>
            <a:ext cx="2857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Live order context</a:t>
            </a:r>
          </a:p>
        </p:txBody>
      </p:sp>
      <p:sp>
        <p:nvSpPr>
          <p:cNvPr id="10" name="dot-3">
            <a:extLst>
              <a:ext uri="{FF2B5EF4-FFF2-40B4-BE49-F238E27FC236}">
                <a16:creationId xmlns:a16="http://schemas.microsoft.com/office/drawing/2014/main" id="{51606A5C-349B-43BE-8ECB-6FCE9C42D809}"/>
              </a:ext>
            </a:extLst>
          </p:cNvPr>
          <p:cNvSpPr>
            <a:spLocks noGrp="1"/>
          </p:cNvSpPr>
          <p:nvPr/>
        </p:nvSpPr>
        <p:spPr>
          <a:xfrm>
            <a:off x="628650" y="5191125"/>
            <a:ext cx="228600" cy="228600"/>
          </a:xfrm>
          <a:prstGeom prst="ellipse">
            <a:avLst/>
          </a:prstGeom>
          <a:solidFill>
            <a:srgbClr val="EFEDE8"/>
          </a:solidFill>
          <a:ln w="0">
            <a:noFill/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DEC0EC66-231C-4813-BDE0-879F38AFC0C7}"/>
              </a:ext>
            </a:extLst>
          </p:cNvPr>
          <p:cNvSpPr>
            <a:spLocks noGrp="1"/>
          </p:cNvSpPr>
          <p:nvPr/>
        </p:nvSpPr>
        <p:spPr>
          <a:xfrm>
            <a:off x="628650" y="5232273"/>
            <a:ext cx="228600" cy="1417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825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733AB167-9172-46B9-8071-240695D0186B}"/>
              </a:ext>
            </a:extLst>
          </p:cNvPr>
          <p:cNvSpPr>
            <a:spLocks noGrp="1"/>
          </p:cNvSpPr>
          <p:nvPr/>
        </p:nvSpPr>
        <p:spPr>
          <a:xfrm>
            <a:off x="1000125" y="5200650"/>
            <a:ext cx="2857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Focused checkout</a:t>
            </a:r>
          </a:p>
        </p:txBody>
      </p:sp>
      <p:sp>
        <p:nvSpPr>
          <p:cNvPr id="13" name="experience-image-backing">
            <a:extLst>
              <a:ext uri="{FF2B5EF4-FFF2-40B4-BE49-F238E27FC236}">
                <a16:creationId xmlns:a16="http://schemas.microsoft.com/office/drawing/2014/main" id="{806A8F68-E9B1-47D1-A5E9-70540D94595A}"/>
              </a:ext>
            </a:extLst>
          </p:cNvPr>
          <p:cNvSpPr>
            <a:spLocks noGrp="1"/>
          </p:cNvSpPr>
          <p:nvPr/>
        </p:nvSpPr>
        <p:spPr>
          <a:xfrm>
            <a:off x="5657850" y="381000"/>
            <a:ext cx="5924550" cy="5905500"/>
          </a:xfrm>
          <a:prstGeom prst="roundRect">
            <a:avLst>
              <a:gd name="adj" fmla="val 2903"/>
            </a:avLst>
          </a:prstGeom>
          <a:solidFill>
            <a:srgbClr val="173F35"/>
          </a:solidFill>
          <a:ln w="0">
            <a:noFill/>
            <a:prstDash val="solid"/>
          </a:ln>
        </p:spPr>
        <p:txBody>
          <a:bodyPr/>
          <a:lstStyle/>
          <a:p>
            <a:endParaRPr lang="en-LV"/>
          </a:p>
        </p:txBody>
      </p:sp>
      <p:pic>
        <p:nvPicPr>
          <p:cNvPr id="30" name="Picture 29"/>
          <p:cNvPicPr>
            <a:picLocks noChangeAspect="1"/>
          </p:cNvPicPr>
          <p:nvPr/>
        </p:nvPicPr>
        <p:blipFill>
          <a:blip r:embed="rId3"/>
          <a:srcRect l="18644" r="18644"/>
          <a:stretch>
            <a:fillRect/>
          </a:stretch>
        </p:blipFill>
        <p:spPr>
          <a:xfrm>
            <a:off x="5791200" y="514350"/>
            <a:ext cx="5657850" cy="5638800"/>
          </a:xfrm>
          <a:prstGeom prst="roundRect">
            <a:avLst>
              <a:gd name="adj" fmla="val 2365"/>
            </a:avLst>
          </a:prstGeom>
        </p:spPr>
      </p:pic>
      <p:sp>
        <p:nvSpPr>
          <p:cNvPr id="15" name="footer-section">
            <a:extLst>
              <a:ext uri="{FF2B5EF4-FFF2-40B4-BE49-F238E27FC236}">
                <a16:creationId xmlns:a16="http://schemas.microsoft.com/office/drawing/2014/main" id="{87B797DC-6527-41E8-A8CE-24446C5D8AE8}"/>
              </a:ext>
            </a:extLst>
          </p:cNvPr>
          <p:cNvSpPr>
            <a:spLocks noGrp="1"/>
          </p:cNvSpPr>
          <p:nvPr/>
        </p:nvSpPr>
        <p:spPr>
          <a:xfrm>
            <a:off x="609600" y="6515100"/>
            <a:ext cx="31432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750" b="1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06E68"/>
                </a:solidFill>
                <a:latin typeface="Arial"/>
                <a:ea typeface="Arial"/>
                <a:cs typeface="Arial"/>
              </a:rPr>
              <a:t>EXPERIENCE DESIGN</a:t>
            </a:r>
          </a:p>
        </p:txBody>
      </p:sp>
      <p:sp>
        <p:nvSpPr>
          <p:cNvPr id="16" name="footer-page">
            <a:extLst>
              <a:ext uri="{FF2B5EF4-FFF2-40B4-BE49-F238E27FC236}">
                <a16:creationId xmlns:a16="http://schemas.microsoft.com/office/drawing/2014/main" id="{058248AA-BCDD-4747-BD51-D22B3AE163CD}"/>
              </a:ext>
            </a:extLst>
          </p:cNvPr>
          <p:cNvSpPr>
            <a:spLocks noGrp="1"/>
          </p:cNvSpPr>
          <p:nvPr/>
        </p:nvSpPr>
        <p:spPr>
          <a:xfrm>
            <a:off x="11096625" y="6496050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825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0955486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lide-title">
            <a:extLst>
              <a:ext uri="{FF2B5EF4-FFF2-40B4-BE49-F238E27FC236}">
                <a16:creationId xmlns:a16="http://schemas.microsoft.com/office/drawing/2014/main" id="{61BC7FBC-83CC-4D3B-AB3C-032AC696F72D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477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315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3150" b="1" dirty="0">
                <a:solidFill>
                  <a:srgbClr val="171713"/>
                </a:solidFill>
                <a:latin typeface="Arial"/>
                <a:ea typeface="Arial"/>
                <a:cs typeface="Arial"/>
              </a:rPr>
              <a:t>Release value in safe vertical slices</a:t>
            </a:r>
          </a:p>
        </p:txBody>
      </p:sp>
      <p:sp>
        <p:nvSpPr>
          <p:cNvPr id="2" name="slide-subtitle">
            <a:extLst>
              <a:ext uri="{FF2B5EF4-FFF2-40B4-BE49-F238E27FC236}">
                <a16:creationId xmlns:a16="http://schemas.microsoft.com/office/drawing/2014/main" id="{4A3EA699-8F08-4ED3-959A-8D625A56B5EF}"/>
              </a:ext>
            </a:extLst>
          </p:cNvPr>
          <p:cNvSpPr>
            <a:spLocks noGrp="1"/>
          </p:cNvSpPr>
          <p:nvPr/>
        </p:nvSpPr>
        <p:spPr>
          <a:xfrm>
            <a:off x="628650" y="1104900"/>
            <a:ext cx="971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Each phase ends with evidence, not just feature completion.</a:t>
            </a:r>
          </a:p>
        </p:txBody>
      </p:sp>
      <p:cxnSp>
        <p:nvCxnSpPr>
          <p:cNvPr id="37" name="title-rule"/>
          <p:cNvCxnSpPr/>
          <p:nvPr/>
        </p:nvCxnSpPr>
        <p:spPr>
          <a:xfrm>
            <a:off x="609600" y="1495425"/>
            <a:ext cx="10972800" cy="0"/>
          </a:xfrm>
          <a:prstGeom prst="straightConnector1">
            <a:avLst/>
          </a:prstGeom>
          <a:ln w="9525">
            <a:solidFill>
              <a:srgbClr val="C8C6C0"/>
            </a:solidFill>
            <a:prstDash val="solid"/>
          </a:ln>
        </p:spPr>
      </p:cxnSp>
      <p:cxnSp>
        <p:nvCxnSpPr>
          <p:cNvPr id="38" name="roadmap-line"/>
          <p:cNvCxnSpPr/>
          <p:nvPr/>
        </p:nvCxnSpPr>
        <p:spPr>
          <a:xfrm>
            <a:off x="1000125" y="3009900"/>
            <a:ext cx="10096500" cy="0"/>
          </a:xfrm>
          <a:prstGeom prst="straightConnector1">
            <a:avLst/>
          </a:prstGeom>
          <a:ln w="19050">
            <a:solidFill>
              <a:srgbClr val="171713"/>
            </a:solidFill>
            <a:prstDash val="solid"/>
          </a:ln>
        </p:spPr>
      </p:cxnSp>
      <p:sp>
        <p:nvSpPr>
          <p:cNvPr id="5" name="dot-0">
            <a:extLst>
              <a:ext uri="{FF2B5EF4-FFF2-40B4-BE49-F238E27FC236}">
                <a16:creationId xmlns:a16="http://schemas.microsoft.com/office/drawing/2014/main" id="{9CB91581-4521-4500-BB12-1DD076490E79}"/>
              </a:ext>
            </a:extLst>
          </p:cNvPr>
          <p:cNvSpPr>
            <a:spLocks noGrp="1"/>
          </p:cNvSpPr>
          <p:nvPr/>
        </p:nvSpPr>
        <p:spPr>
          <a:xfrm>
            <a:off x="666750" y="2733675"/>
            <a:ext cx="552450" cy="552450"/>
          </a:xfrm>
          <a:prstGeom prst="ellipse">
            <a:avLst/>
          </a:prstGeom>
          <a:solidFill>
            <a:srgbClr val="F0442F"/>
          </a:solidFill>
          <a:ln w="0">
            <a:noFill/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53197060-CDDB-42A5-9381-55036CB3E939}"/>
              </a:ext>
            </a:extLst>
          </p:cNvPr>
          <p:cNvSpPr>
            <a:spLocks noGrp="1"/>
          </p:cNvSpPr>
          <p:nvPr/>
        </p:nvSpPr>
        <p:spPr>
          <a:xfrm>
            <a:off x="666750" y="2833116"/>
            <a:ext cx="552450" cy="34251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7" name="label-PHASE 0">
            <a:extLst>
              <a:ext uri="{FF2B5EF4-FFF2-40B4-BE49-F238E27FC236}">
                <a16:creationId xmlns:a16="http://schemas.microsoft.com/office/drawing/2014/main" id="{BA0FFE0B-830F-490A-8AFD-682A3276D1A3}"/>
              </a:ext>
            </a:extLst>
          </p:cNvPr>
          <p:cNvSpPr>
            <a:spLocks noGrp="1"/>
          </p:cNvSpPr>
          <p:nvPr/>
        </p:nvSpPr>
        <p:spPr>
          <a:xfrm>
            <a:off x="666750" y="2076450"/>
            <a:ext cx="1047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1">
                <a:solidFill>
                  <a:srgbClr val="F0442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442F"/>
                </a:solidFill>
                <a:latin typeface="Arial"/>
                <a:ea typeface="Arial"/>
                <a:cs typeface="Arial"/>
              </a:rPr>
              <a:t>PHASE 0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4FF26E98-B4C2-4291-9EAC-1D41F2F0668E}"/>
              </a:ext>
            </a:extLst>
          </p:cNvPr>
          <p:cNvSpPr>
            <a:spLocks noGrp="1"/>
          </p:cNvSpPr>
          <p:nvPr/>
        </p:nvSpPr>
        <p:spPr>
          <a:xfrm>
            <a:off x="666750" y="3590925"/>
            <a:ext cx="2333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0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Foundations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C32B626A-C8F7-47F4-ADDE-DE941100B5A1}"/>
              </a:ext>
            </a:extLst>
          </p:cNvPr>
          <p:cNvSpPr>
            <a:spLocks noGrp="1"/>
          </p:cNvSpPr>
          <p:nvPr/>
        </p:nvSpPr>
        <p:spPr>
          <a:xfrm>
            <a:off x="666750" y="4048125"/>
            <a:ext cx="2333625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Auth, CI, environments, tracing</a:t>
            </a:r>
          </a:p>
        </p:txBody>
      </p:sp>
      <p:cxnSp>
        <p:nvCxnSpPr>
          <p:cNvPr id="44" name="phase-rule-0"/>
          <p:cNvCxnSpPr/>
          <p:nvPr/>
        </p:nvCxnSpPr>
        <p:spPr>
          <a:xfrm>
            <a:off x="666750" y="4743450"/>
            <a:ext cx="2333625" cy="0"/>
          </a:xfrm>
          <a:prstGeom prst="straightConnector1">
            <a:avLst/>
          </a:prstGeom>
          <a:ln w="9525">
            <a:solidFill>
              <a:srgbClr val="C8C6C0"/>
            </a:solidFill>
            <a:prstDash val="solid"/>
          </a:ln>
        </p:spPr>
      </p:cxnSp>
      <p:sp>
        <p:nvSpPr>
          <p:cNvPr id="11" name="text">
            <a:extLst>
              <a:ext uri="{FF2B5EF4-FFF2-40B4-BE49-F238E27FC236}">
                <a16:creationId xmlns:a16="http://schemas.microsoft.com/office/drawing/2014/main" id="{C9F7FF07-8C93-48CB-A2AA-F26E102101AF}"/>
              </a:ext>
            </a:extLst>
          </p:cNvPr>
          <p:cNvSpPr>
            <a:spLocks noGrp="1"/>
          </p:cNvSpPr>
          <p:nvPr/>
        </p:nvSpPr>
        <p:spPr>
          <a:xfrm>
            <a:off x="666750" y="4914900"/>
            <a:ext cx="2333625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EXIT GATE</a:t>
            </a:r>
          </a:p>
          <a:p>
            <a:pPr algn="l">
              <a:defRPr sz="1125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Traced command reaches DB + Kafka</a:t>
            </a:r>
          </a:p>
        </p:txBody>
      </p:sp>
      <p:sp>
        <p:nvSpPr>
          <p:cNvPr id="12" name="dot-1">
            <a:extLst>
              <a:ext uri="{FF2B5EF4-FFF2-40B4-BE49-F238E27FC236}">
                <a16:creationId xmlns:a16="http://schemas.microsoft.com/office/drawing/2014/main" id="{231BFAAF-3B4E-4092-8A21-BAF7D381E5C6}"/>
              </a:ext>
            </a:extLst>
          </p:cNvPr>
          <p:cNvSpPr>
            <a:spLocks noGrp="1"/>
          </p:cNvSpPr>
          <p:nvPr/>
        </p:nvSpPr>
        <p:spPr>
          <a:xfrm>
            <a:off x="3524250" y="2733675"/>
            <a:ext cx="552450" cy="552450"/>
          </a:xfrm>
          <a:prstGeom prst="ellipse">
            <a:avLst/>
          </a:prstGeom>
          <a:solidFill>
            <a:srgbClr val="171713"/>
          </a:solidFill>
          <a:ln w="0">
            <a:noFill/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54CE349C-48C7-4956-B8E1-740682D6BF68}"/>
              </a:ext>
            </a:extLst>
          </p:cNvPr>
          <p:cNvSpPr>
            <a:spLocks noGrp="1"/>
          </p:cNvSpPr>
          <p:nvPr/>
        </p:nvSpPr>
        <p:spPr>
          <a:xfrm>
            <a:off x="3524250" y="2833116"/>
            <a:ext cx="552450" cy="34251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label-PHASE 1">
            <a:extLst>
              <a:ext uri="{FF2B5EF4-FFF2-40B4-BE49-F238E27FC236}">
                <a16:creationId xmlns:a16="http://schemas.microsoft.com/office/drawing/2014/main" id="{F0238978-72DD-43DF-8AD9-2C624684F287}"/>
              </a:ext>
            </a:extLst>
          </p:cNvPr>
          <p:cNvSpPr>
            <a:spLocks noGrp="1"/>
          </p:cNvSpPr>
          <p:nvPr/>
        </p:nvSpPr>
        <p:spPr>
          <a:xfrm>
            <a:off x="3524250" y="2076450"/>
            <a:ext cx="1047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1">
                <a:solidFill>
                  <a:srgbClr val="F0442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442F"/>
                </a:solidFill>
                <a:latin typeface="Arial"/>
                <a:ea typeface="Arial"/>
                <a:cs typeface="Arial"/>
              </a:rPr>
              <a:t>PHASE 1</a:t>
            </a: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8ADBB1F8-00EF-43AB-857F-FA526CBEE07F}"/>
              </a:ext>
            </a:extLst>
          </p:cNvPr>
          <p:cNvSpPr>
            <a:spLocks noGrp="1"/>
          </p:cNvSpPr>
          <p:nvPr/>
        </p:nvSpPr>
        <p:spPr>
          <a:xfrm>
            <a:off x="3524250" y="3590925"/>
            <a:ext cx="2333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0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Order core</a:t>
            </a:r>
          </a:p>
        </p:txBody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3A965226-2222-4DC0-B152-996796E493C7}"/>
              </a:ext>
            </a:extLst>
          </p:cNvPr>
          <p:cNvSpPr>
            <a:spLocks noGrp="1"/>
          </p:cNvSpPr>
          <p:nvPr/>
        </p:nvSpPr>
        <p:spPr>
          <a:xfrm>
            <a:off x="3524250" y="4048125"/>
            <a:ext cx="2333625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Catalog, checkout, restaurant, payment</a:t>
            </a:r>
          </a:p>
        </p:txBody>
      </p:sp>
      <p:cxnSp>
        <p:nvCxnSpPr>
          <p:cNvPr id="51" name="phase-rule-1"/>
          <p:cNvCxnSpPr/>
          <p:nvPr/>
        </p:nvCxnSpPr>
        <p:spPr>
          <a:xfrm>
            <a:off x="3524250" y="4743450"/>
            <a:ext cx="2333625" cy="0"/>
          </a:xfrm>
          <a:prstGeom prst="straightConnector1">
            <a:avLst/>
          </a:prstGeom>
          <a:ln w="9525">
            <a:solidFill>
              <a:srgbClr val="C8C6C0"/>
            </a:solidFill>
            <a:prstDash val="solid"/>
          </a:ln>
        </p:spPr>
      </p:cxnSp>
      <p:sp>
        <p:nvSpPr>
          <p:cNvPr id="18" name="text">
            <a:extLst>
              <a:ext uri="{FF2B5EF4-FFF2-40B4-BE49-F238E27FC236}">
                <a16:creationId xmlns:a16="http://schemas.microsoft.com/office/drawing/2014/main" id="{FAAC6C90-07AA-4762-B628-DA1872014701}"/>
              </a:ext>
            </a:extLst>
          </p:cNvPr>
          <p:cNvSpPr>
            <a:spLocks noGrp="1"/>
          </p:cNvSpPr>
          <p:nvPr/>
        </p:nvSpPr>
        <p:spPr>
          <a:xfrm>
            <a:off x="3524250" y="4914900"/>
            <a:ext cx="2333625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EXIT GATE</a:t>
            </a:r>
          </a:p>
          <a:p>
            <a:pPr algn="l">
              <a:defRPr sz="1125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Payment compensations pass</a:t>
            </a:r>
          </a:p>
        </p:txBody>
      </p:sp>
      <p:sp>
        <p:nvSpPr>
          <p:cNvPr id="19" name="dot-2">
            <a:extLst>
              <a:ext uri="{FF2B5EF4-FFF2-40B4-BE49-F238E27FC236}">
                <a16:creationId xmlns:a16="http://schemas.microsoft.com/office/drawing/2014/main" id="{63B8E8EA-6CDA-495D-8D14-FE60259C0FD1}"/>
              </a:ext>
            </a:extLst>
          </p:cNvPr>
          <p:cNvSpPr>
            <a:spLocks noGrp="1"/>
          </p:cNvSpPr>
          <p:nvPr/>
        </p:nvSpPr>
        <p:spPr>
          <a:xfrm>
            <a:off x="6381750" y="2733675"/>
            <a:ext cx="552450" cy="552450"/>
          </a:xfrm>
          <a:prstGeom prst="ellipse">
            <a:avLst/>
          </a:prstGeom>
          <a:solidFill>
            <a:srgbClr val="171713"/>
          </a:solidFill>
          <a:ln w="0">
            <a:noFill/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20" name="text">
            <a:extLst>
              <a:ext uri="{FF2B5EF4-FFF2-40B4-BE49-F238E27FC236}">
                <a16:creationId xmlns:a16="http://schemas.microsoft.com/office/drawing/2014/main" id="{1FDFDB9A-97CA-45ED-9871-F3FBEEF28BC7}"/>
              </a:ext>
            </a:extLst>
          </p:cNvPr>
          <p:cNvSpPr>
            <a:spLocks noGrp="1"/>
          </p:cNvSpPr>
          <p:nvPr/>
        </p:nvSpPr>
        <p:spPr>
          <a:xfrm>
            <a:off x="6381750" y="2833116"/>
            <a:ext cx="552450" cy="34251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1" name="label-PHASE 2">
            <a:extLst>
              <a:ext uri="{FF2B5EF4-FFF2-40B4-BE49-F238E27FC236}">
                <a16:creationId xmlns:a16="http://schemas.microsoft.com/office/drawing/2014/main" id="{531A7336-EF7A-4904-AA6F-B96C978088F2}"/>
              </a:ext>
            </a:extLst>
          </p:cNvPr>
          <p:cNvSpPr>
            <a:spLocks noGrp="1"/>
          </p:cNvSpPr>
          <p:nvPr/>
        </p:nvSpPr>
        <p:spPr>
          <a:xfrm>
            <a:off x="6381750" y="2076450"/>
            <a:ext cx="1047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1">
                <a:solidFill>
                  <a:srgbClr val="F0442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442F"/>
                </a:solidFill>
                <a:latin typeface="Arial"/>
                <a:ea typeface="Arial"/>
                <a:cs typeface="Arial"/>
              </a:rPr>
              <a:t>PHASE 2</a:t>
            </a:r>
          </a:p>
        </p:txBody>
      </p:sp>
      <p:sp>
        <p:nvSpPr>
          <p:cNvPr id="22" name="text">
            <a:extLst>
              <a:ext uri="{FF2B5EF4-FFF2-40B4-BE49-F238E27FC236}">
                <a16:creationId xmlns:a16="http://schemas.microsoft.com/office/drawing/2014/main" id="{319A9D1B-2862-4B8D-A054-B6589FC6EB18}"/>
              </a:ext>
            </a:extLst>
          </p:cNvPr>
          <p:cNvSpPr>
            <a:spLocks noGrp="1"/>
          </p:cNvSpPr>
          <p:nvPr/>
        </p:nvSpPr>
        <p:spPr>
          <a:xfrm>
            <a:off x="6381750" y="3590925"/>
            <a:ext cx="2333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0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Delivery + live</a:t>
            </a:r>
          </a:p>
        </p:txBody>
      </p:sp>
      <p:sp>
        <p:nvSpPr>
          <p:cNvPr id="23" name="text">
            <a:extLst>
              <a:ext uri="{FF2B5EF4-FFF2-40B4-BE49-F238E27FC236}">
                <a16:creationId xmlns:a16="http://schemas.microsoft.com/office/drawing/2014/main" id="{C3474B7E-DFB9-4A7A-94EB-7A9BA294FAF7}"/>
              </a:ext>
            </a:extLst>
          </p:cNvPr>
          <p:cNvSpPr>
            <a:spLocks noGrp="1"/>
          </p:cNvSpPr>
          <p:nvPr/>
        </p:nvSpPr>
        <p:spPr>
          <a:xfrm>
            <a:off x="6381750" y="4048125"/>
            <a:ext cx="2333625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Dispatch, courier, GPS, WebSocket</a:t>
            </a:r>
          </a:p>
        </p:txBody>
      </p:sp>
      <p:cxnSp>
        <p:nvCxnSpPr>
          <p:cNvPr id="58" name="phase-rule-2"/>
          <p:cNvCxnSpPr/>
          <p:nvPr/>
        </p:nvCxnSpPr>
        <p:spPr>
          <a:xfrm>
            <a:off x="6381750" y="4743450"/>
            <a:ext cx="2333625" cy="0"/>
          </a:xfrm>
          <a:prstGeom prst="straightConnector1">
            <a:avLst/>
          </a:prstGeom>
          <a:ln w="9525">
            <a:solidFill>
              <a:srgbClr val="C8C6C0"/>
            </a:solidFill>
            <a:prstDash val="solid"/>
          </a:ln>
        </p:spPr>
      </p:cxnSp>
      <p:sp>
        <p:nvSpPr>
          <p:cNvPr id="25" name="text">
            <a:extLst>
              <a:ext uri="{FF2B5EF4-FFF2-40B4-BE49-F238E27FC236}">
                <a16:creationId xmlns:a16="http://schemas.microsoft.com/office/drawing/2014/main" id="{1E734B92-A11B-41C7-A8DA-8AC0C26C7BE6}"/>
              </a:ext>
            </a:extLst>
          </p:cNvPr>
          <p:cNvSpPr>
            <a:spLocks noGrp="1"/>
          </p:cNvSpPr>
          <p:nvPr/>
        </p:nvSpPr>
        <p:spPr>
          <a:xfrm>
            <a:off x="6381750" y="4914900"/>
            <a:ext cx="2333625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EXIT GATE</a:t>
            </a:r>
          </a:p>
          <a:p>
            <a:pPr algn="l">
              <a:defRPr sz="1125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End-to-end retry path passes</a:t>
            </a:r>
          </a:p>
        </p:txBody>
      </p:sp>
      <p:sp>
        <p:nvSpPr>
          <p:cNvPr id="26" name="dot-3">
            <a:extLst>
              <a:ext uri="{FF2B5EF4-FFF2-40B4-BE49-F238E27FC236}">
                <a16:creationId xmlns:a16="http://schemas.microsoft.com/office/drawing/2014/main" id="{851DD48A-CA09-4090-9DCD-E62566648662}"/>
              </a:ext>
            </a:extLst>
          </p:cNvPr>
          <p:cNvSpPr>
            <a:spLocks noGrp="1"/>
          </p:cNvSpPr>
          <p:nvPr/>
        </p:nvSpPr>
        <p:spPr>
          <a:xfrm>
            <a:off x="9239250" y="2733675"/>
            <a:ext cx="552450" cy="552450"/>
          </a:xfrm>
          <a:prstGeom prst="ellipse">
            <a:avLst/>
          </a:prstGeom>
          <a:solidFill>
            <a:srgbClr val="173F35"/>
          </a:solidFill>
          <a:ln w="0">
            <a:noFill/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27" name="text">
            <a:extLst>
              <a:ext uri="{FF2B5EF4-FFF2-40B4-BE49-F238E27FC236}">
                <a16:creationId xmlns:a16="http://schemas.microsoft.com/office/drawing/2014/main" id="{284CD2CA-2AB6-425C-AE8C-D633D2D17C29}"/>
              </a:ext>
            </a:extLst>
          </p:cNvPr>
          <p:cNvSpPr>
            <a:spLocks noGrp="1"/>
          </p:cNvSpPr>
          <p:nvPr/>
        </p:nvSpPr>
        <p:spPr>
          <a:xfrm>
            <a:off x="9239250" y="2833116"/>
            <a:ext cx="552450" cy="34251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8" name="label-PHASE 3">
            <a:extLst>
              <a:ext uri="{FF2B5EF4-FFF2-40B4-BE49-F238E27FC236}">
                <a16:creationId xmlns:a16="http://schemas.microsoft.com/office/drawing/2014/main" id="{CAB925F5-5832-490D-A5BC-1E13A70E2378}"/>
              </a:ext>
            </a:extLst>
          </p:cNvPr>
          <p:cNvSpPr>
            <a:spLocks noGrp="1"/>
          </p:cNvSpPr>
          <p:nvPr/>
        </p:nvSpPr>
        <p:spPr>
          <a:xfrm>
            <a:off x="9239250" y="2076450"/>
            <a:ext cx="1047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1">
                <a:solidFill>
                  <a:srgbClr val="173F3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73F35"/>
                </a:solidFill>
                <a:latin typeface="Arial"/>
                <a:ea typeface="Arial"/>
                <a:cs typeface="Arial"/>
              </a:rPr>
              <a:t>PHASE 3</a:t>
            </a:r>
          </a:p>
        </p:txBody>
      </p:sp>
      <p:sp>
        <p:nvSpPr>
          <p:cNvPr id="29" name="text">
            <a:extLst>
              <a:ext uri="{FF2B5EF4-FFF2-40B4-BE49-F238E27FC236}">
                <a16:creationId xmlns:a16="http://schemas.microsoft.com/office/drawing/2014/main" id="{01E5FF27-45F5-43B5-A982-B33540E1C5C1}"/>
              </a:ext>
            </a:extLst>
          </p:cNvPr>
          <p:cNvSpPr>
            <a:spLocks noGrp="1"/>
          </p:cNvSpPr>
          <p:nvPr/>
        </p:nvSpPr>
        <p:spPr>
          <a:xfrm>
            <a:off x="9239250" y="3590925"/>
            <a:ext cx="2333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0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Hardening</a:t>
            </a:r>
          </a:p>
        </p:txBody>
      </p:sp>
      <p:sp>
        <p:nvSpPr>
          <p:cNvPr id="30" name="text">
            <a:extLst>
              <a:ext uri="{FF2B5EF4-FFF2-40B4-BE49-F238E27FC236}">
                <a16:creationId xmlns:a16="http://schemas.microsoft.com/office/drawing/2014/main" id="{12BB57F5-E69D-490B-9604-9DAD4F3A9870}"/>
              </a:ext>
            </a:extLst>
          </p:cNvPr>
          <p:cNvSpPr>
            <a:spLocks noGrp="1"/>
          </p:cNvSpPr>
          <p:nvPr/>
        </p:nvSpPr>
        <p:spPr>
          <a:xfrm>
            <a:off x="9239250" y="4048125"/>
            <a:ext cx="2333625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Load, chaos, restore, security</a:t>
            </a:r>
          </a:p>
        </p:txBody>
      </p:sp>
      <p:cxnSp>
        <p:nvCxnSpPr>
          <p:cNvPr id="65" name="phase-rule-3"/>
          <p:cNvCxnSpPr/>
          <p:nvPr/>
        </p:nvCxnSpPr>
        <p:spPr>
          <a:xfrm>
            <a:off x="9239250" y="4743450"/>
            <a:ext cx="2333625" cy="0"/>
          </a:xfrm>
          <a:prstGeom prst="straightConnector1">
            <a:avLst/>
          </a:prstGeom>
          <a:ln w="9525">
            <a:solidFill>
              <a:srgbClr val="C8C6C0"/>
            </a:solidFill>
            <a:prstDash val="solid"/>
          </a:ln>
        </p:spPr>
      </p:cxnSp>
      <p:sp>
        <p:nvSpPr>
          <p:cNvPr id="32" name="text">
            <a:extLst>
              <a:ext uri="{FF2B5EF4-FFF2-40B4-BE49-F238E27FC236}">
                <a16:creationId xmlns:a16="http://schemas.microsoft.com/office/drawing/2014/main" id="{BA18242C-161E-4551-906C-6B54AB4E7B82}"/>
              </a:ext>
            </a:extLst>
          </p:cNvPr>
          <p:cNvSpPr>
            <a:spLocks noGrp="1"/>
          </p:cNvSpPr>
          <p:nvPr/>
        </p:nvSpPr>
        <p:spPr>
          <a:xfrm>
            <a:off x="9239250" y="4914900"/>
            <a:ext cx="2333625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EXIT GATE</a:t>
            </a:r>
          </a:p>
          <a:p>
            <a:pPr algn="l">
              <a:defRPr sz="1125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Owners approve launch + rollback</a:t>
            </a:r>
          </a:p>
        </p:txBody>
      </p:sp>
      <p:sp>
        <p:nvSpPr>
          <p:cNvPr id="33" name="footer-section">
            <a:extLst>
              <a:ext uri="{FF2B5EF4-FFF2-40B4-BE49-F238E27FC236}">
                <a16:creationId xmlns:a16="http://schemas.microsoft.com/office/drawing/2014/main" id="{7F97AE21-8A40-4B2A-A3E1-47E7FBCFDBDE}"/>
              </a:ext>
            </a:extLst>
          </p:cNvPr>
          <p:cNvSpPr>
            <a:spLocks noGrp="1"/>
          </p:cNvSpPr>
          <p:nvPr/>
        </p:nvSpPr>
        <p:spPr>
          <a:xfrm>
            <a:off x="609600" y="6515100"/>
            <a:ext cx="31432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750" b="1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06E68"/>
                </a:solidFill>
                <a:latin typeface="Arial"/>
                <a:ea typeface="Arial"/>
                <a:cs typeface="Arial"/>
              </a:rPr>
              <a:t>IMPLEMENTATION PLAN</a:t>
            </a:r>
          </a:p>
        </p:txBody>
      </p:sp>
      <p:sp>
        <p:nvSpPr>
          <p:cNvPr id="34" name="footer-page">
            <a:extLst>
              <a:ext uri="{FF2B5EF4-FFF2-40B4-BE49-F238E27FC236}">
                <a16:creationId xmlns:a16="http://schemas.microsoft.com/office/drawing/2014/main" id="{7FDACEC8-AC4B-4C5B-98D2-036734661DCB}"/>
              </a:ext>
            </a:extLst>
          </p:cNvPr>
          <p:cNvSpPr>
            <a:spLocks noGrp="1"/>
          </p:cNvSpPr>
          <p:nvPr/>
        </p:nvSpPr>
        <p:spPr>
          <a:xfrm>
            <a:off x="11096625" y="6496050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825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592074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lide-title">
            <a:extLst>
              <a:ext uri="{FF2B5EF4-FFF2-40B4-BE49-F238E27FC236}">
                <a16:creationId xmlns:a16="http://schemas.microsoft.com/office/drawing/2014/main" id="{0D3DEA7F-C2C0-4B19-81F7-FAE407C7EA4C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477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315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Recovery evidence is the production gate</a:t>
            </a:r>
          </a:p>
        </p:txBody>
      </p:sp>
      <p:sp>
        <p:nvSpPr>
          <p:cNvPr id="2" name="slide-subtitle">
            <a:extLst>
              <a:ext uri="{FF2B5EF4-FFF2-40B4-BE49-F238E27FC236}">
                <a16:creationId xmlns:a16="http://schemas.microsoft.com/office/drawing/2014/main" id="{77B85B15-8373-4E59-A93A-030CEDA6A915}"/>
              </a:ext>
            </a:extLst>
          </p:cNvPr>
          <p:cNvSpPr>
            <a:spLocks noGrp="1"/>
          </p:cNvSpPr>
          <p:nvPr/>
        </p:nvSpPr>
        <p:spPr>
          <a:xfrm>
            <a:off x="628650" y="1104900"/>
            <a:ext cx="971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Feature completeness is necessary; operational evidence is the launch criterion.</a:t>
            </a:r>
          </a:p>
        </p:txBody>
      </p:sp>
      <p:cxnSp>
        <p:nvCxnSpPr>
          <p:cNvPr id="35" name="title-rule"/>
          <p:cNvCxnSpPr/>
          <p:nvPr/>
        </p:nvCxnSpPr>
        <p:spPr>
          <a:xfrm>
            <a:off x="609600" y="1495425"/>
            <a:ext cx="10972800" cy="0"/>
          </a:xfrm>
          <a:prstGeom prst="straightConnector1">
            <a:avLst/>
          </a:prstGeom>
          <a:ln w="9525">
            <a:solidFill>
              <a:srgbClr val="C8C6C0"/>
            </a:solidFill>
            <a:prstDash val="solid"/>
          </a:ln>
        </p:spPr>
      </p:cxnSp>
      <p:sp>
        <p:nvSpPr>
          <p:cNvPr id="4" name="text">
            <a:extLst>
              <a:ext uri="{FF2B5EF4-FFF2-40B4-BE49-F238E27FC236}">
                <a16:creationId xmlns:a16="http://schemas.microsoft.com/office/drawing/2014/main" id="{AE973DDE-5BF2-4812-A34D-FB36C6DD7B94}"/>
              </a:ext>
            </a:extLst>
          </p:cNvPr>
          <p:cNvSpPr>
            <a:spLocks noGrp="1"/>
          </p:cNvSpPr>
          <p:nvPr/>
        </p:nvSpPr>
        <p:spPr>
          <a:xfrm>
            <a:off x="666750" y="18097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1">
                <a:solidFill>
                  <a:srgbClr val="F0442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0442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75AE99F8-11DD-4B4A-A0ED-F6C13AC2A13B}"/>
              </a:ext>
            </a:extLst>
          </p:cNvPr>
          <p:cNvSpPr>
            <a:spLocks noGrp="1"/>
          </p:cNvSpPr>
          <p:nvPr/>
        </p:nvSpPr>
        <p:spPr>
          <a:xfrm>
            <a:off x="1276350" y="1790700"/>
            <a:ext cx="2000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End-to-end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CF65A183-5E94-47A5-ACC7-AD9D2E1863FC}"/>
              </a:ext>
            </a:extLst>
          </p:cNvPr>
          <p:cNvSpPr>
            <a:spLocks noGrp="1"/>
          </p:cNvSpPr>
          <p:nvPr/>
        </p:nvSpPr>
        <p:spPr>
          <a:xfrm>
            <a:off x="1276350" y="2162175"/>
            <a:ext cx="4476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Happy path and duplicate requests pass across all three apps.</a:t>
            </a:r>
          </a:p>
        </p:txBody>
      </p:sp>
      <p:cxnSp>
        <p:nvCxnSpPr>
          <p:cNvPr id="39" name="gate-rule-0"/>
          <p:cNvCxnSpPr/>
          <p:nvPr/>
        </p:nvCxnSpPr>
        <p:spPr>
          <a:xfrm>
            <a:off x="666750" y="2771775"/>
            <a:ext cx="4953000" cy="0"/>
          </a:xfrm>
          <a:prstGeom prst="straightConnector1">
            <a:avLst/>
          </a:prstGeom>
          <a:ln w="9525">
            <a:solidFill>
              <a:srgbClr val="C8C6C0"/>
            </a:solidFill>
            <a:prstDash val="solid"/>
          </a:ln>
        </p:spPr>
      </p:cxnSp>
      <p:sp>
        <p:nvSpPr>
          <p:cNvPr id="8" name="text">
            <a:extLst>
              <a:ext uri="{FF2B5EF4-FFF2-40B4-BE49-F238E27FC236}">
                <a16:creationId xmlns:a16="http://schemas.microsoft.com/office/drawing/2014/main" id="{A38D7965-3D96-4165-B727-C5CB5AC67014}"/>
              </a:ext>
            </a:extLst>
          </p:cNvPr>
          <p:cNvSpPr>
            <a:spLocks noGrp="1"/>
          </p:cNvSpPr>
          <p:nvPr/>
        </p:nvSpPr>
        <p:spPr>
          <a:xfrm>
            <a:off x="6143625" y="18097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1">
                <a:solidFill>
                  <a:srgbClr val="F0442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0442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9AEAC28C-5EE4-477A-9798-720292277647}"/>
              </a:ext>
            </a:extLst>
          </p:cNvPr>
          <p:cNvSpPr>
            <a:spLocks noGrp="1"/>
          </p:cNvSpPr>
          <p:nvPr/>
        </p:nvSpPr>
        <p:spPr>
          <a:xfrm>
            <a:off x="6753225" y="1790700"/>
            <a:ext cx="2000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Financial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FFA9E523-9A15-4F3D-B9E2-CD3B1B44B4FD}"/>
              </a:ext>
            </a:extLst>
          </p:cNvPr>
          <p:cNvSpPr>
            <a:spLocks noGrp="1"/>
          </p:cNvSpPr>
          <p:nvPr/>
        </p:nvSpPr>
        <p:spPr>
          <a:xfrm>
            <a:off x="6753225" y="2162175"/>
            <a:ext cx="4476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Authorize, capture, void, refund, and reconciliation agree.</a:t>
            </a:r>
          </a:p>
        </p:txBody>
      </p:sp>
      <p:cxnSp>
        <p:nvCxnSpPr>
          <p:cNvPr id="43" name="gate-rule-1"/>
          <p:cNvCxnSpPr/>
          <p:nvPr/>
        </p:nvCxnSpPr>
        <p:spPr>
          <a:xfrm>
            <a:off x="6143625" y="2771775"/>
            <a:ext cx="4953000" cy="0"/>
          </a:xfrm>
          <a:prstGeom prst="straightConnector1">
            <a:avLst/>
          </a:prstGeom>
          <a:ln w="9525">
            <a:solidFill>
              <a:srgbClr val="C8C6C0"/>
            </a:solidFill>
            <a:prstDash val="solid"/>
          </a:ln>
        </p:spPr>
      </p:cxnSp>
      <p:sp>
        <p:nvSpPr>
          <p:cNvPr id="12" name="text">
            <a:extLst>
              <a:ext uri="{FF2B5EF4-FFF2-40B4-BE49-F238E27FC236}">
                <a16:creationId xmlns:a16="http://schemas.microsoft.com/office/drawing/2014/main" id="{DCE0507B-5D62-4672-91C4-E4129EA7BE87}"/>
              </a:ext>
            </a:extLst>
          </p:cNvPr>
          <p:cNvSpPr>
            <a:spLocks noGrp="1"/>
          </p:cNvSpPr>
          <p:nvPr/>
        </p:nvSpPr>
        <p:spPr>
          <a:xfrm>
            <a:off x="666750" y="3067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1">
                <a:solidFill>
                  <a:srgbClr val="F0442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0442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AA69FD79-3054-4AF8-AB2F-11B41AB710FF}"/>
              </a:ext>
            </a:extLst>
          </p:cNvPr>
          <p:cNvSpPr>
            <a:spLocks noGrp="1"/>
          </p:cNvSpPr>
          <p:nvPr/>
        </p:nvSpPr>
        <p:spPr>
          <a:xfrm>
            <a:off x="1276350" y="3048000"/>
            <a:ext cx="2000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Resilience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7D2233C4-A5AB-4F2D-A2FD-F0C9FFABD751}"/>
              </a:ext>
            </a:extLst>
          </p:cNvPr>
          <p:cNvSpPr>
            <a:spLocks noGrp="1"/>
          </p:cNvSpPr>
          <p:nvPr/>
        </p:nvSpPr>
        <p:spPr>
          <a:xfrm>
            <a:off x="1276350" y="3419475"/>
            <a:ext cx="4476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Failover, replay, DLQ repair, and provider outage are rehearsed.</a:t>
            </a:r>
          </a:p>
        </p:txBody>
      </p:sp>
      <p:cxnSp>
        <p:nvCxnSpPr>
          <p:cNvPr id="47" name="gate-rule-2"/>
          <p:cNvCxnSpPr/>
          <p:nvPr/>
        </p:nvCxnSpPr>
        <p:spPr>
          <a:xfrm>
            <a:off x="666750" y="4029075"/>
            <a:ext cx="4953000" cy="0"/>
          </a:xfrm>
          <a:prstGeom prst="straightConnector1">
            <a:avLst/>
          </a:prstGeom>
          <a:ln w="9525">
            <a:solidFill>
              <a:srgbClr val="C8C6C0"/>
            </a:solidFill>
            <a:prstDash val="solid"/>
          </a:ln>
        </p:spPr>
      </p:cxnSp>
      <p:sp>
        <p:nvSpPr>
          <p:cNvPr id="16" name="text">
            <a:extLst>
              <a:ext uri="{FF2B5EF4-FFF2-40B4-BE49-F238E27FC236}">
                <a16:creationId xmlns:a16="http://schemas.microsoft.com/office/drawing/2014/main" id="{25E6D858-D378-4EBE-B318-4A6567EF8A51}"/>
              </a:ext>
            </a:extLst>
          </p:cNvPr>
          <p:cNvSpPr>
            <a:spLocks noGrp="1"/>
          </p:cNvSpPr>
          <p:nvPr/>
        </p:nvSpPr>
        <p:spPr>
          <a:xfrm>
            <a:off x="6143625" y="3067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1">
                <a:solidFill>
                  <a:srgbClr val="F0442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0442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1B93C85F-784E-4885-8762-B9D3381EFBB6}"/>
              </a:ext>
            </a:extLst>
          </p:cNvPr>
          <p:cNvSpPr>
            <a:spLocks noGrp="1"/>
          </p:cNvSpPr>
          <p:nvPr/>
        </p:nvSpPr>
        <p:spPr>
          <a:xfrm>
            <a:off x="6753225" y="3048000"/>
            <a:ext cx="2000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Security</a:t>
            </a:r>
          </a:p>
        </p:txBody>
      </p:sp>
      <p:sp>
        <p:nvSpPr>
          <p:cNvPr id="18" name="text">
            <a:extLst>
              <a:ext uri="{FF2B5EF4-FFF2-40B4-BE49-F238E27FC236}">
                <a16:creationId xmlns:a16="http://schemas.microsoft.com/office/drawing/2014/main" id="{14A35EF0-4A11-4AD2-93DC-9833D2F01BAF}"/>
              </a:ext>
            </a:extLst>
          </p:cNvPr>
          <p:cNvSpPr>
            <a:spLocks noGrp="1"/>
          </p:cNvSpPr>
          <p:nvPr/>
        </p:nvSpPr>
        <p:spPr>
          <a:xfrm>
            <a:off x="6753225" y="3419475"/>
            <a:ext cx="4476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Role boundaries, webhook replay, rate limits, and PII controls pass.</a:t>
            </a:r>
          </a:p>
        </p:txBody>
      </p:sp>
      <p:cxnSp>
        <p:nvCxnSpPr>
          <p:cNvPr id="51" name="gate-rule-3"/>
          <p:cNvCxnSpPr/>
          <p:nvPr/>
        </p:nvCxnSpPr>
        <p:spPr>
          <a:xfrm>
            <a:off x="6143625" y="4029075"/>
            <a:ext cx="4953000" cy="0"/>
          </a:xfrm>
          <a:prstGeom prst="straightConnector1">
            <a:avLst/>
          </a:prstGeom>
          <a:ln w="9525">
            <a:solidFill>
              <a:srgbClr val="C8C6C0"/>
            </a:solidFill>
            <a:prstDash val="solid"/>
          </a:ln>
        </p:spPr>
      </p:cxnSp>
      <p:sp>
        <p:nvSpPr>
          <p:cNvPr id="20" name="text">
            <a:extLst>
              <a:ext uri="{FF2B5EF4-FFF2-40B4-BE49-F238E27FC236}">
                <a16:creationId xmlns:a16="http://schemas.microsoft.com/office/drawing/2014/main" id="{56538AF1-BB1F-44A8-9447-0A8184B54CE5}"/>
              </a:ext>
            </a:extLst>
          </p:cNvPr>
          <p:cNvSpPr>
            <a:spLocks noGrp="1"/>
          </p:cNvSpPr>
          <p:nvPr/>
        </p:nvSpPr>
        <p:spPr>
          <a:xfrm>
            <a:off x="666750" y="43243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1">
                <a:solidFill>
                  <a:srgbClr val="F0442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0442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1" name="text">
            <a:extLst>
              <a:ext uri="{FF2B5EF4-FFF2-40B4-BE49-F238E27FC236}">
                <a16:creationId xmlns:a16="http://schemas.microsoft.com/office/drawing/2014/main" id="{48A528EC-717A-4004-905C-CA61A3E109FB}"/>
              </a:ext>
            </a:extLst>
          </p:cNvPr>
          <p:cNvSpPr>
            <a:spLocks noGrp="1"/>
          </p:cNvSpPr>
          <p:nvPr/>
        </p:nvSpPr>
        <p:spPr>
          <a:xfrm>
            <a:off x="1276350" y="4305300"/>
            <a:ext cx="2000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Performance</a:t>
            </a:r>
          </a:p>
        </p:txBody>
      </p:sp>
      <p:sp>
        <p:nvSpPr>
          <p:cNvPr id="22" name="text">
            <a:extLst>
              <a:ext uri="{FF2B5EF4-FFF2-40B4-BE49-F238E27FC236}">
                <a16:creationId xmlns:a16="http://schemas.microsoft.com/office/drawing/2014/main" id="{F2A2BCD6-76F9-4A35-A27C-658D8B66F83B}"/>
              </a:ext>
            </a:extLst>
          </p:cNvPr>
          <p:cNvSpPr>
            <a:spLocks noGrp="1"/>
          </p:cNvSpPr>
          <p:nvPr/>
        </p:nvSpPr>
        <p:spPr>
          <a:xfrm>
            <a:off x="1276350" y="4676775"/>
            <a:ext cx="4476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Order, catalog, tracking, GPS, and consumer-lag targets hold.</a:t>
            </a:r>
          </a:p>
        </p:txBody>
      </p:sp>
      <p:cxnSp>
        <p:nvCxnSpPr>
          <p:cNvPr id="55" name="gate-rule-4"/>
          <p:cNvCxnSpPr/>
          <p:nvPr/>
        </p:nvCxnSpPr>
        <p:spPr>
          <a:xfrm>
            <a:off x="666750" y="5286375"/>
            <a:ext cx="4953000" cy="0"/>
          </a:xfrm>
          <a:prstGeom prst="straightConnector1">
            <a:avLst/>
          </a:prstGeom>
          <a:ln w="9525">
            <a:solidFill>
              <a:srgbClr val="C8C6C0"/>
            </a:solidFill>
            <a:prstDash val="solid"/>
          </a:ln>
        </p:spPr>
      </p:cxnSp>
      <p:sp>
        <p:nvSpPr>
          <p:cNvPr id="24" name="text">
            <a:extLst>
              <a:ext uri="{FF2B5EF4-FFF2-40B4-BE49-F238E27FC236}">
                <a16:creationId xmlns:a16="http://schemas.microsoft.com/office/drawing/2014/main" id="{29D2BAB1-315D-4D02-950E-A171ECE614F5}"/>
              </a:ext>
            </a:extLst>
          </p:cNvPr>
          <p:cNvSpPr>
            <a:spLocks noGrp="1"/>
          </p:cNvSpPr>
          <p:nvPr/>
        </p:nvSpPr>
        <p:spPr>
          <a:xfrm>
            <a:off x="6143625" y="43243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1">
                <a:solidFill>
                  <a:srgbClr val="F0442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0442F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5" name="text">
            <a:extLst>
              <a:ext uri="{FF2B5EF4-FFF2-40B4-BE49-F238E27FC236}">
                <a16:creationId xmlns:a16="http://schemas.microsoft.com/office/drawing/2014/main" id="{EBECDEF1-9BDA-41B3-A07D-BFD9EA6A1F73}"/>
              </a:ext>
            </a:extLst>
          </p:cNvPr>
          <p:cNvSpPr>
            <a:spLocks noGrp="1"/>
          </p:cNvSpPr>
          <p:nvPr/>
        </p:nvSpPr>
        <p:spPr>
          <a:xfrm>
            <a:off x="6753225" y="4305300"/>
            <a:ext cx="2000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17171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713"/>
                </a:solidFill>
                <a:latin typeface="Arial"/>
                <a:ea typeface="Arial"/>
                <a:cs typeface="Arial"/>
              </a:rPr>
              <a:t>Ownership</a:t>
            </a:r>
          </a:p>
        </p:txBody>
      </p:sp>
      <p:sp>
        <p:nvSpPr>
          <p:cNvPr id="26" name="text">
            <a:extLst>
              <a:ext uri="{FF2B5EF4-FFF2-40B4-BE49-F238E27FC236}">
                <a16:creationId xmlns:a16="http://schemas.microsoft.com/office/drawing/2014/main" id="{146FA49F-C9D8-4AF5-937A-6C881536E984}"/>
              </a:ext>
            </a:extLst>
          </p:cNvPr>
          <p:cNvSpPr>
            <a:spLocks noGrp="1"/>
          </p:cNvSpPr>
          <p:nvPr/>
        </p:nvSpPr>
        <p:spPr>
          <a:xfrm>
            <a:off x="6753225" y="4676775"/>
            <a:ext cx="4476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Dashboards, alerts, runbooks, rollback, and on-call owners exist.</a:t>
            </a:r>
          </a:p>
        </p:txBody>
      </p:sp>
      <p:cxnSp>
        <p:nvCxnSpPr>
          <p:cNvPr id="59" name="gate-rule-5"/>
          <p:cNvCxnSpPr/>
          <p:nvPr/>
        </p:nvCxnSpPr>
        <p:spPr>
          <a:xfrm>
            <a:off x="6143625" y="5286375"/>
            <a:ext cx="4953000" cy="0"/>
          </a:xfrm>
          <a:prstGeom prst="straightConnector1">
            <a:avLst/>
          </a:prstGeom>
          <a:ln w="9525">
            <a:solidFill>
              <a:srgbClr val="C8C6C0"/>
            </a:solidFill>
            <a:prstDash val="solid"/>
          </a:ln>
        </p:spPr>
      </p:cxnSp>
      <p:sp>
        <p:nvSpPr>
          <p:cNvPr id="28" name="launch-decision">
            <a:extLst>
              <a:ext uri="{FF2B5EF4-FFF2-40B4-BE49-F238E27FC236}">
                <a16:creationId xmlns:a16="http://schemas.microsoft.com/office/drawing/2014/main" id="{9500B2F7-FC17-4527-BB0F-54A5DB32E98D}"/>
              </a:ext>
            </a:extLst>
          </p:cNvPr>
          <p:cNvSpPr>
            <a:spLocks noGrp="1"/>
          </p:cNvSpPr>
          <p:nvPr/>
        </p:nvSpPr>
        <p:spPr>
          <a:xfrm>
            <a:off x="666750" y="5657850"/>
            <a:ext cx="10429875" cy="552450"/>
          </a:xfrm>
          <a:prstGeom prst="rect">
            <a:avLst/>
          </a:prstGeom>
          <a:solidFill>
            <a:srgbClr val="F0442F"/>
          </a:solidFill>
          <a:ln w="0">
            <a:noFill/>
            <a:prstDash val="solid"/>
          </a:ln>
        </p:spPr>
        <p:txBody>
          <a:bodyPr/>
          <a:lstStyle/>
          <a:p>
            <a:endParaRPr lang="en-LV"/>
          </a:p>
        </p:txBody>
      </p:sp>
      <p:sp>
        <p:nvSpPr>
          <p:cNvPr id="29" name="text">
            <a:extLst>
              <a:ext uri="{FF2B5EF4-FFF2-40B4-BE49-F238E27FC236}">
                <a16:creationId xmlns:a16="http://schemas.microsoft.com/office/drawing/2014/main" id="{EEA7B873-ACDB-417E-BF56-4A7824DA69BC}"/>
              </a:ext>
            </a:extLst>
          </p:cNvPr>
          <p:cNvSpPr>
            <a:spLocks noGrp="1"/>
          </p:cNvSpPr>
          <p:nvPr/>
        </p:nvSpPr>
        <p:spPr>
          <a:xfrm>
            <a:off x="895350" y="58293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DECISION</a:t>
            </a:r>
          </a:p>
        </p:txBody>
      </p:sp>
      <p:sp>
        <p:nvSpPr>
          <p:cNvPr id="30" name="text">
            <a:extLst>
              <a:ext uri="{FF2B5EF4-FFF2-40B4-BE49-F238E27FC236}">
                <a16:creationId xmlns:a16="http://schemas.microsoft.com/office/drawing/2014/main" id="{C4740C8B-3EB3-4D45-8F06-071BA27D81E1}"/>
              </a:ext>
            </a:extLst>
          </p:cNvPr>
          <p:cNvSpPr>
            <a:spLocks noGrp="1"/>
          </p:cNvSpPr>
          <p:nvPr/>
        </p:nvSpPr>
        <p:spPr>
          <a:xfrm>
            <a:off x="2428875" y="5791200"/>
            <a:ext cx="83343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Approve a staged city pilot only when all six evidence gates are green.</a:t>
            </a:r>
          </a:p>
        </p:txBody>
      </p:sp>
      <p:sp>
        <p:nvSpPr>
          <p:cNvPr id="31" name="footer-section">
            <a:extLst>
              <a:ext uri="{FF2B5EF4-FFF2-40B4-BE49-F238E27FC236}">
                <a16:creationId xmlns:a16="http://schemas.microsoft.com/office/drawing/2014/main" id="{C31E657B-16AC-4A64-B29B-F045AF1BA44F}"/>
              </a:ext>
            </a:extLst>
          </p:cNvPr>
          <p:cNvSpPr>
            <a:spLocks noGrp="1"/>
          </p:cNvSpPr>
          <p:nvPr/>
        </p:nvSpPr>
        <p:spPr>
          <a:xfrm>
            <a:off x="609600" y="6515100"/>
            <a:ext cx="31432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750" b="1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06E68"/>
                </a:solidFill>
                <a:latin typeface="Arial"/>
                <a:ea typeface="Arial"/>
                <a:cs typeface="Arial"/>
              </a:rPr>
              <a:t>LAUNCH READINESS</a:t>
            </a:r>
          </a:p>
        </p:txBody>
      </p:sp>
      <p:sp>
        <p:nvSpPr>
          <p:cNvPr id="32" name="footer-page">
            <a:extLst>
              <a:ext uri="{FF2B5EF4-FFF2-40B4-BE49-F238E27FC236}">
                <a16:creationId xmlns:a16="http://schemas.microsoft.com/office/drawing/2014/main" id="{2B338624-302C-48CE-9F6C-D6E5C048CF87}"/>
              </a:ext>
            </a:extLst>
          </p:cNvPr>
          <p:cNvSpPr>
            <a:spLocks noGrp="1"/>
          </p:cNvSpPr>
          <p:nvPr/>
        </p:nvSpPr>
        <p:spPr>
          <a:xfrm>
            <a:off x="11096625" y="6496050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825" b="0">
                <a:solidFill>
                  <a:srgbClr val="706E6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706E6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0111374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F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label-FOODFLOW / NEXT MOVE">
            <a:extLst>
              <a:ext uri="{FF2B5EF4-FFF2-40B4-BE49-F238E27FC236}">
                <a16:creationId xmlns:a16="http://schemas.microsoft.com/office/drawing/2014/main" id="{AD4B6E89-1C78-4478-9CE9-AA68BAC097C3}"/>
              </a:ext>
            </a:extLst>
          </p:cNvPr>
          <p:cNvSpPr>
            <a:spLocks noGrp="1"/>
          </p:cNvSpPr>
          <p:nvPr/>
        </p:nvSpPr>
        <p:spPr>
          <a:xfrm>
            <a:off x="609600" y="552450"/>
            <a:ext cx="2476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1">
                <a:solidFill>
                  <a:srgbClr val="F3C94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3C94B"/>
                </a:solidFill>
                <a:latin typeface="Arial"/>
                <a:ea typeface="Arial"/>
                <a:cs typeface="Arial"/>
              </a:rPr>
              <a:t>FOODFLOW / NEXT MOVE</a:t>
            </a:r>
          </a:p>
        </p:txBody>
      </p:sp>
      <p:sp>
        <p:nvSpPr>
          <p:cNvPr id="2" name="closing-title">
            <a:extLst>
              <a:ext uri="{FF2B5EF4-FFF2-40B4-BE49-F238E27FC236}">
                <a16:creationId xmlns:a16="http://schemas.microsoft.com/office/drawing/2014/main" id="{D03DD19D-4965-4178-8F84-4973364F3A6B}"/>
              </a:ext>
            </a:extLst>
          </p:cNvPr>
          <p:cNvSpPr>
            <a:spLocks noGrp="1"/>
          </p:cNvSpPr>
          <p:nvPr/>
        </p:nvSpPr>
        <p:spPr>
          <a:xfrm>
            <a:off x="609600" y="1333500"/>
            <a:ext cx="74295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4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Ready for staged</a:t>
            </a:r>
          </a:p>
          <a:p>
            <a:pPr algn="l">
              <a:defRPr sz="4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implementation.</a:t>
            </a:r>
          </a:p>
        </p:txBody>
      </p:sp>
      <p:sp>
        <p:nvSpPr>
          <p:cNvPr id="3" name="text">
            <a:extLst>
              <a:ext uri="{FF2B5EF4-FFF2-40B4-BE49-F238E27FC236}">
                <a16:creationId xmlns:a16="http://schemas.microsoft.com/office/drawing/2014/main" id="{B2426F7D-3AB7-4C14-81A7-2F59EFFB3224}"/>
              </a:ext>
            </a:extLst>
          </p:cNvPr>
          <p:cNvSpPr>
            <a:spLocks noGrp="1"/>
          </p:cNvSpPr>
          <p:nvPr/>
        </p:nvSpPr>
        <p:spPr>
          <a:xfrm>
            <a:off x="638175" y="3238500"/>
            <a:ext cx="60960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0">
                <a:solidFill>
                  <a:srgbClr val="C5D5D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5D5D0"/>
                </a:solidFill>
                <a:latin typeface="Arial"/>
                <a:ea typeface="Arial"/>
                <a:cs typeface="Arial"/>
              </a:rPr>
              <a:t>The core design now connects experience, state, contracts, data, failure handling, and launch gates.</a:t>
            </a:r>
          </a:p>
        </p:txBody>
      </p:sp>
      <p:cxnSp>
        <p:nvCxnSpPr>
          <p:cNvPr id="16" name="closing-rule"/>
          <p:cNvCxnSpPr/>
          <p:nvPr/>
        </p:nvCxnSpPr>
        <p:spPr>
          <a:xfrm>
            <a:off x="628650" y="4505325"/>
            <a:ext cx="10191750" cy="0"/>
          </a:xfrm>
          <a:prstGeom prst="straightConnector1">
            <a:avLst/>
          </a:prstGeom>
          <a:ln w="9525">
            <a:solidFill>
              <a:srgbClr val="66877E"/>
            </a:solidFill>
            <a:prstDash val="solid"/>
          </a:ln>
        </p:spPr>
      </p:cxnSp>
      <p:sp>
        <p:nvSpPr>
          <p:cNvPr id="5" name="text">
            <a:extLst>
              <a:ext uri="{FF2B5EF4-FFF2-40B4-BE49-F238E27FC236}">
                <a16:creationId xmlns:a16="http://schemas.microsoft.com/office/drawing/2014/main" id="{68EE4FB2-96C1-4DE1-B39A-7148738C029D}"/>
              </a:ext>
            </a:extLst>
          </p:cNvPr>
          <p:cNvSpPr>
            <a:spLocks noGrp="1"/>
          </p:cNvSpPr>
          <p:nvPr/>
        </p:nvSpPr>
        <p:spPr>
          <a:xfrm>
            <a:off x="628650" y="4905375"/>
            <a:ext cx="428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1">
                <a:solidFill>
                  <a:srgbClr val="F3C94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3C94B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BF4C7115-D74E-4DB9-B9F1-8F3812DA29E3}"/>
              </a:ext>
            </a:extLst>
          </p:cNvPr>
          <p:cNvSpPr>
            <a:spLocks noGrp="1"/>
          </p:cNvSpPr>
          <p:nvPr/>
        </p:nvSpPr>
        <p:spPr>
          <a:xfrm>
            <a:off x="1123950" y="4876800"/>
            <a:ext cx="2476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Confirm capacity inputs</a:t>
            </a: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37205100-9D08-4033-B4B6-B30272A2AC77}"/>
              </a:ext>
            </a:extLst>
          </p:cNvPr>
          <p:cNvSpPr>
            <a:spLocks noGrp="1"/>
          </p:cNvSpPr>
          <p:nvPr/>
        </p:nvSpPr>
        <p:spPr>
          <a:xfrm>
            <a:off x="4057650" y="4905375"/>
            <a:ext cx="428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1">
                <a:solidFill>
                  <a:srgbClr val="F3C94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3C94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A4266216-9068-42BC-86E1-CF0F3DB8B68C}"/>
              </a:ext>
            </a:extLst>
          </p:cNvPr>
          <p:cNvSpPr>
            <a:spLocks noGrp="1"/>
          </p:cNvSpPr>
          <p:nvPr/>
        </p:nvSpPr>
        <p:spPr>
          <a:xfrm>
            <a:off x="4552950" y="4876800"/>
            <a:ext cx="2476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Resolve policy decisions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4B222C10-45F4-430F-ADAB-0F9C06BCB802}"/>
              </a:ext>
            </a:extLst>
          </p:cNvPr>
          <p:cNvSpPr>
            <a:spLocks noGrp="1"/>
          </p:cNvSpPr>
          <p:nvPr/>
        </p:nvSpPr>
        <p:spPr>
          <a:xfrm>
            <a:off x="7486650" y="4905375"/>
            <a:ext cx="428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1">
                <a:solidFill>
                  <a:srgbClr val="F3C94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3C94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090AE2AB-7811-4540-A32A-46F2F6CF6E22}"/>
              </a:ext>
            </a:extLst>
          </p:cNvPr>
          <p:cNvSpPr>
            <a:spLocks noGrp="1"/>
          </p:cNvSpPr>
          <p:nvPr/>
        </p:nvSpPr>
        <p:spPr>
          <a:xfrm>
            <a:off x="7981950" y="4876800"/>
            <a:ext cx="2476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Build the traced vertical slice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4376F6F0-A3A4-43CA-B1E4-8871F9D9F7B2}"/>
              </a:ext>
            </a:extLst>
          </p:cNvPr>
          <p:cNvSpPr>
            <a:spLocks noGrp="1"/>
          </p:cNvSpPr>
          <p:nvPr/>
        </p:nvSpPr>
        <p:spPr>
          <a:xfrm>
            <a:off x="628650" y="6343650"/>
            <a:ext cx="3810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825" b="0">
                <a:solidFill>
                  <a:srgbClr val="89A39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9A39C"/>
                </a:solidFill>
                <a:latin typeface="Arial"/>
                <a:ea typeface="Arial"/>
                <a:cs typeface="Arial"/>
              </a:rPr>
              <a:t>FoodFlow system design  •  2026</a:t>
            </a: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2F7E4019-D4D2-423A-9EAE-4F85D4920442}"/>
              </a:ext>
            </a:extLst>
          </p:cNvPr>
          <p:cNvSpPr>
            <a:spLocks noGrp="1"/>
          </p:cNvSpPr>
          <p:nvPr/>
        </p:nvSpPr>
        <p:spPr>
          <a:xfrm>
            <a:off x="11096625" y="6324600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825" b="0">
                <a:solidFill>
                  <a:srgbClr val="89A39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9A39C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6561359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7A149-1EA3-1E70-8840-1D0DEDE03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EF6B5CB-A618-DFB7-D8FE-A6B19FCFBC55}"/>
              </a:ext>
            </a:extLst>
          </p:cNvPr>
          <p:cNvSpPr txBox="1"/>
          <p:nvPr/>
        </p:nvSpPr>
        <p:spPr>
          <a:xfrm>
            <a:off x="4288664" y="3059668"/>
            <a:ext cx="48682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LV" dirty="0"/>
              <a:t>Thank you for your attention</a:t>
            </a:r>
          </a:p>
        </p:txBody>
      </p:sp>
    </p:spTree>
    <p:extLst>
      <p:ext uri="{BB962C8B-B14F-4D97-AF65-F5344CB8AC3E}">
        <p14:creationId xmlns:p14="http://schemas.microsoft.com/office/powerpoint/2010/main" val="42124681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1452</Words>
  <Application>Microsoft Macintosh PowerPoint</Application>
  <DocSecurity>0</DocSecurity>
  <PresentationFormat>Widescreen</PresentationFormat>
  <Paragraphs>314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Максим Дурихин</cp:lastModifiedBy>
  <cp:revision>3</cp:revision>
  <dcterms:created xsi:type="dcterms:W3CDTF">2026-09-02T10:31:14Z</dcterms:created>
  <dcterms:modified xsi:type="dcterms:W3CDTF">2026-09-03T07:51:32Z</dcterms:modified>
</cp:coreProperties>
</file>