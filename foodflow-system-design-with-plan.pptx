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f5b471e5e4d2e" /><Relationship Type="http://schemas.openxmlformats.org/officeDocument/2006/relationships/extended-properties" Target="/docProps/app.xml" Id="R47318190b38647da" /><Relationship Type="http://schemas.openxmlformats.org/officeDocument/2006/relationships/officeDocument" Target="/ppt/presentation.xml" Id="R444b01d5483840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b903c62e454aad"/>
  </p:sldMasterIdLst>
  <p:notesMasterIdLst>
    <p:notesMasterId xmlns:r="http://schemas.openxmlformats.org/officeDocument/2006/relationships" r:id="Ra76bfa7a52dd4076"/>
  </p:notesMasterIdLst>
  <p:sldIdLst>
    <p:sldId xmlns:r="http://schemas.openxmlformats.org/officeDocument/2006/relationships" id="256" r:id="Rb82b8144f55740cd"/>
    <p:sldId xmlns:r="http://schemas.openxmlformats.org/officeDocument/2006/relationships" id="257" r:id="Rb5f50f74c0ad4fd1"/>
    <p:sldId xmlns:r="http://schemas.openxmlformats.org/officeDocument/2006/relationships" id="258" r:id="R23cbded4702b42d6"/>
    <p:sldId xmlns:r="http://schemas.openxmlformats.org/officeDocument/2006/relationships" id="259" r:id="R2da924cc68624eb0"/>
    <p:sldId xmlns:r="http://schemas.openxmlformats.org/officeDocument/2006/relationships" id="260" r:id="Rc47f5a25abe04bb3"/>
    <p:sldId xmlns:r="http://schemas.openxmlformats.org/officeDocument/2006/relationships" id="261" r:id="R56e86071bbaa4550"/>
    <p:sldId xmlns:r="http://schemas.openxmlformats.org/officeDocument/2006/relationships" id="262" r:id="R1209c13d6e7d495c"/>
    <p:sldId xmlns:r="http://schemas.openxmlformats.org/officeDocument/2006/relationships" id="263" r:id="R6b8493250cb74c70"/>
    <p:sldId xmlns:r="http://schemas.openxmlformats.org/officeDocument/2006/relationships" id="264" r:id="R63c2d28728db4490"/>
    <p:sldId xmlns:r="http://schemas.openxmlformats.org/officeDocument/2006/relationships" id="265" r:id="R77b3b8cd51dd4bba"/>
    <p:sldId xmlns:r="http://schemas.openxmlformats.org/officeDocument/2006/relationships" id="266" r:id="R89af9ae4cdd440c8"/>
    <p:sldId xmlns:r="http://schemas.openxmlformats.org/officeDocument/2006/relationships" id="267" r:id="R5741f90d89894375"/>
    <p:sldId xmlns:r="http://schemas.openxmlformats.org/officeDocument/2006/relationships" id="268" r:id="Rff8908e7103d42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6bd358506c4bf1" /><Relationship Type="http://schemas.openxmlformats.org/officeDocument/2006/relationships/slideMaster" Target="/ppt/slideMasters/slideMaster1.xml" Id="Rc7b903c62e454aad" /><Relationship Type="http://schemas.openxmlformats.org/officeDocument/2006/relationships/notesMaster" Target="/ppt/notesMasters/notesMaster1.xml" Id="Ra76bfa7a52dd4076" /><Relationship Type="http://schemas.openxmlformats.org/officeDocument/2006/relationships/presProps" Target="/ppt/presProps.xml" Id="R488a32e8cac1419c" /><Relationship Type="http://schemas.openxmlformats.org/officeDocument/2006/relationships/tableStyles" Target="/ppt/tableStyles.xml" Id="R26f924cc0fd543db" /><Relationship Type="http://schemas.openxmlformats.org/officeDocument/2006/relationships/slide" Target="/ppt/slides/slide1.xml" Id="Rb82b8144f55740cd" /><Relationship Type="http://schemas.openxmlformats.org/officeDocument/2006/relationships/slide" Target="/ppt/slides/slide2.xml" Id="Rb5f50f74c0ad4fd1" /><Relationship Type="http://schemas.openxmlformats.org/officeDocument/2006/relationships/slide" Target="/ppt/slides/slide3.xml" Id="R23cbded4702b42d6" /><Relationship Type="http://schemas.openxmlformats.org/officeDocument/2006/relationships/slide" Target="/ppt/slides/slide4.xml" Id="R2da924cc68624eb0" /><Relationship Type="http://schemas.openxmlformats.org/officeDocument/2006/relationships/slide" Target="/ppt/slides/slide5.xml" Id="Rc47f5a25abe04bb3" /><Relationship Type="http://schemas.openxmlformats.org/officeDocument/2006/relationships/slide" Target="/ppt/slides/slide6.xml" Id="R56e86071bbaa4550" /><Relationship Type="http://schemas.openxmlformats.org/officeDocument/2006/relationships/slide" Target="/ppt/slides/slide7.xml" Id="R1209c13d6e7d495c" /><Relationship Type="http://schemas.openxmlformats.org/officeDocument/2006/relationships/slide" Target="/ppt/slides/slide8.xml" Id="R6b8493250cb74c70" /><Relationship Type="http://schemas.openxmlformats.org/officeDocument/2006/relationships/slide" Target="/ppt/slides/slide9.xml" Id="R63c2d28728db4490" /><Relationship Type="http://schemas.openxmlformats.org/officeDocument/2006/relationships/slide" Target="/ppt/slides/slide10.xml" Id="R77b3b8cd51dd4bba" /><Relationship Type="http://schemas.openxmlformats.org/officeDocument/2006/relationships/slide" Target="/ppt/slides/slide11.xml" Id="R89af9ae4cdd440c8" /><Relationship Type="http://schemas.openxmlformats.org/officeDocument/2006/relationships/slide" Target="/ppt/slides/slide12.xml" Id="R5741f90d89894375" /><Relationship Type="http://schemas.openxmlformats.org/officeDocument/2006/relationships/slide" Target="/ppt/slides/slide13.xml" Id="Rff8908e7103d42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7a0003f144d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a0a65ee9a4fa3" /><Relationship Type="http://schemas.openxmlformats.org/officeDocument/2006/relationships/notesMaster" Target="/ppt/notesMasters/notesMaster1.xml" Id="Rfc50c502f3e942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df06bbbc7847bc" /><Relationship Type="http://schemas.openxmlformats.org/officeDocument/2006/relationships/notesMaster" Target="/ppt/notesMasters/notesMaster1.xml" Id="R87f95568fcbe41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c614813cad45ca" /><Relationship Type="http://schemas.openxmlformats.org/officeDocument/2006/relationships/notesMaster" Target="/ppt/notesMasters/notesMaster1.xml" Id="Rbe656e7b61034d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622c55ebce454b" /><Relationship Type="http://schemas.openxmlformats.org/officeDocument/2006/relationships/notesMaster" Target="/ppt/notesMasters/notesMaster1.xml" Id="Rbe0abbd241234f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f5ed84439b4e1f" /><Relationship Type="http://schemas.openxmlformats.org/officeDocument/2006/relationships/notesMaster" Target="/ppt/notesMasters/notesMaster1.xml" Id="Rd0eb8c7603c64a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f4321b07d8450e" /><Relationship Type="http://schemas.openxmlformats.org/officeDocument/2006/relationships/notesMaster" Target="/ppt/notesMasters/notesMaster1.xml" Id="R67cff486819c48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50248d1a39466b" /><Relationship Type="http://schemas.openxmlformats.org/officeDocument/2006/relationships/notesMaster" Target="/ppt/notesMasters/notesMaster1.xml" Id="R4af09a8907cf46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33596410a94c21" /><Relationship Type="http://schemas.openxmlformats.org/officeDocument/2006/relationships/notesMaster" Target="/ppt/notesMasters/notesMaster1.xml" Id="R96412224f08946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42effef0da4d4b" /><Relationship Type="http://schemas.openxmlformats.org/officeDocument/2006/relationships/notesMaster" Target="/ppt/notesMasters/notesMaster1.xml" Id="R519db512b50b44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2d3ef80c5549f1" /><Relationship Type="http://schemas.openxmlformats.org/officeDocument/2006/relationships/notesMaster" Target="/ppt/notesMasters/notesMaster1.xml" Id="R7e46c8bb4ba540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ba75f2cec34093" /><Relationship Type="http://schemas.openxmlformats.org/officeDocument/2006/relationships/notesMaster" Target="/ppt/notesMasters/notesMaster1.xml" Id="R92767295a79547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6ef21ea7fd4314" /><Relationship Type="http://schemas.openxmlformats.org/officeDocument/2006/relationships/notesMaster" Target="/ppt/notesMasters/notesMaster1.xml" Id="R46161a0df54941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ba19db2b7340a8" /><Relationship Type="http://schemas.openxmlformats.org/officeDocument/2006/relationships/notesMaster" Target="/ppt/notesMasters/notesMaster1.xml" Id="R134b8d1748ae4a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coordination problem: three experiences must behave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/Users/xkyota/Development/food-delivery/overview.md</a:t>
            </a:r>
          </a:p>
          <a:p xmlns:a="http://schemas.openxmlformats.org/drawingml/2006/main">
            <a:r>
              <a:t>- /Users/xkyota/Development/food-delivery/output/pdf/foodflow-ui-concept.pdf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/Users/xkyota/Development/food-delivery/content-plan.md</a:t>
            </a:r>
          </a:p>
          <a:p xmlns:a="http://schemas.openxmlformats.org/drawingml/2006/main">
            <a:r>
              <a:t>- /Users/xkyota/Development/food-delivery/overview.md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- /Users/xkyota/Development/food-delivery/service-contracts.md</a:t>
            </a:r>
          </a:p>
          <a:p xmlns:a="http://schemas.openxmlformats.org/drawingml/2006/main">
            <a:r>
              <a:t>- /Users/xkyota/Development/food-delivery/operations.md</a:t>
            </a:r>
          </a:p>
          <a:p xmlns:a="http://schemas.openxmlformats.org/drawingml/2006/main">
            <a:r>
              <a:t>- /Users/xkyota/Development/food-delivery/roadmap.md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/Users/xkyota/Development/food-delivery/overview.md</a:t>
            </a:r>
          </a:p>
          <a:p xmlns:a="http://schemas.openxmlformats.org/drawingml/2006/main">
            <a:r>
              <a:t>- /Users/xkyota/Development/food-delivery/applications/customer-app.excalidraw</a:t>
            </a:r>
          </a:p>
          <a:p xmlns:a="http://schemas.openxmlformats.org/drawingml/2006/main">
            <a:r>
              <a:t>- /Users/xkyota/Development/food-delivery/applications/restaurant-portal.excalidraw</a:t>
            </a:r>
          </a:p>
          <a:p xmlns:a="http://schemas.openxmlformats.org/drawingml/2006/main">
            <a:r>
              <a:t>- /Users/xkyota/Development/food-delivery/applications/courier-app.excalidraw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- /Users/xkyota/Development/food-delivery/service-contracts.md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/Users/xkyota/Development/food-delivery/foodflow-system-architecture.excalidraw</a:t>
            </a:r>
          </a:p>
          <a:p xmlns:a="http://schemas.openxmlformats.org/drawingml/2006/main">
            <a:r>
              <a:t>- /Users/xkyota/Development/food-delivery/tech-stack.md</a:t>
            </a:r>
          </a:p>
          <a:p xmlns:a="http://schemas.openxmlformats.org/drawingml/2006/main">
            <a:r>
              <a:t>- /Users/xkyota/Development/food-delivery/service-contracts.md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/Users/xkyota/Development/food-delivery/service-contracts.md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/Users/xkyota/Development/food-delivery/database-model.excalidraw</a:t>
            </a:r>
          </a:p>
          <a:p xmlns:a="http://schemas.openxmlformats.org/drawingml/2006/main">
            <a:r>
              <a:t>- /Users/xkyota/Development/food-delivery/service-contracts.md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/Users/xkyota/Development/food-delivery/operations.md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/Users/xkyota/Development/food-delivery/operations.md</a:t>
            </a:r>
          </a:p>
          <a:p xmlns:a="http://schemas.openxmlformats.org/drawingml/2006/main">
            <a:r>
              <a:t>- /Users/xkyota/Development/food-delivery/foodflow-system-architecture.excalidraw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/Users/xkyota/Development/food-delivery/output/pdf/foodflow-ui-concept.pdf</a:t>
            </a:r>
          </a:p>
          <a:p xmlns:a="http://schemas.openxmlformats.org/drawingml/2006/main">
            <a:r>
              <a:t>- /Users/xkyota/Development/food-delivery/applications/customer-app.excalidraw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/Users/xkyota/Development/food-delivery/roadmap.md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/Users/xkyota/Development/food-delivery/roadmap.md</a:t>
            </a:r>
          </a:p>
          <a:p xmlns:a="http://schemas.openxmlformats.org/drawingml/2006/main">
            <a:r>
              <a:t>- /Users/xkyota/Development/food-delivery/operations.md</a:t>
            </a:r>
          </a:p>
          <a:p xmlns:a="http://schemas.openxmlformats.org/drawingml/2006/main">
            <a:r>
              <a:t>- /Users/xkyota/Development/food-delivery/requirements.md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next executable step: a traced vertical slice, not a broad feature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/Users/xkyota/Development/food-delivery/README.md</a:t>
            </a:r>
          </a:p>
          <a:p xmlns:a="http://schemas.openxmlformats.org/drawingml/2006/main">
            <a:r>
              <a:t>- /Users/xkyota/Development/food-delivery/roadmap.md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16c14993b46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5f60ffe6b3432f" /><Relationship Type="http://schemas.openxmlformats.org/officeDocument/2006/relationships/slideLayout" Target="/ppt/slideLayouts/slideLayout1.xml" Id="Reb3eed54b26242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3eed54b26242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f27e9e0904911" /><Relationship Type="http://schemas.openxmlformats.org/officeDocument/2006/relationships/image" Target="/ppt/media/image.png" Id="R84bbac311ec94113" /><Relationship Type="http://schemas.openxmlformats.org/officeDocument/2006/relationships/notesSlide" Target="/ppt/notesSlides/notesSlide1.xml" Id="R3ae07005708c49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6a12c78c04228" /><Relationship Type="http://schemas.openxmlformats.org/officeDocument/2006/relationships/notesSlide" Target="/ppt/notesSlides/notesSlide2.xml" Id="R8d33ad37f8f249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b5bd277184737" /><Relationship Type="http://schemas.openxmlformats.org/officeDocument/2006/relationships/notesSlide" Target="/ppt/notesSlides/notesSlide3.xml" Id="Rc3b51552715a4a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61ce70ee345be" /><Relationship Type="http://schemas.openxmlformats.org/officeDocument/2006/relationships/notesSlide" Target="/ppt/notesSlides/notesSlide4.xml" Id="R0b01613fd8d343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2355b59404296" /><Relationship Type="http://schemas.openxmlformats.org/officeDocument/2006/relationships/notesSlide" Target="/ppt/notesSlides/notesSlide5.xml" Id="R047b07bf851c41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2474111494bec" /><Relationship Type="http://schemas.openxmlformats.org/officeDocument/2006/relationships/notesSlide" Target="/ppt/notesSlides/notesSlide6.xml" Id="R0ba814142e3f49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6327fb29423a" /><Relationship Type="http://schemas.openxmlformats.org/officeDocument/2006/relationships/notesSlide" Target="/ppt/notesSlides/notesSlide7.xml" Id="Ra75139d376be4c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6c9298dc34019" /><Relationship Type="http://schemas.openxmlformats.org/officeDocument/2006/relationships/notesSlide" Target="/ppt/notesSlides/notesSlide8.xml" Id="R4ff3ef1e275b4a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665fc98724279" /><Relationship Type="http://schemas.openxmlformats.org/officeDocument/2006/relationships/notesSlide" Target="/ppt/notesSlides/notesSlide9.xml" Id="Rf3cff405c78c42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f350876894447" /><Relationship Type="http://schemas.openxmlformats.org/officeDocument/2006/relationships/image" Target="/ppt/media/image2.png" Id="R2f0b08dfec304fb8" /><Relationship Type="http://schemas.openxmlformats.org/officeDocument/2006/relationships/notesSlide" Target="/ppt/notesSlides/notesSlide10.xml" Id="Re1f82b19999647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a5655c6c04f41" /><Relationship Type="http://schemas.openxmlformats.org/officeDocument/2006/relationships/notesSlide" Target="/ppt/notesSlides/notesSlide11.xml" Id="R1fe56b273eba4d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26ca527674da4" /><Relationship Type="http://schemas.openxmlformats.org/officeDocument/2006/relationships/notesSlide" Target="/ppt/notesSlides/notesSlide12.xml" Id="Ra4c6e05938e946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703a1bed143d2" /><Relationship Type="http://schemas.openxmlformats.org/officeDocument/2006/relationships/notesSlide" Target="/ppt/notesSlides/notesSlide13.xml" Id="Ra5d6df76724e48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bel-SYSTEM DESIGN / 2026">
            <a:extLst xmlns:a="http://schemas.openxmlformats.org/drawingml/2006/main">
              <a:ext uri="{FF2B5EF4-FFF2-40B4-BE49-F238E27FC236}">
                <a16:creationId xmlns:a16="http://schemas.microsoft.com/office/drawing/2014/main" id="{A463A57D-A0A4-433F-A416-6956F9C5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SYSTEM DESIGN / 2026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08808C47-42EC-4D07-98FB-62B0B5B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FoodFlow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D929FE7-0542-473A-80B3-F62CEF80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713"/>
                </a:solidFill>
                <a:latin typeface="Arial"/>
                <a:ea typeface="Arial"/>
                <a:cs typeface="Arial"/>
              </a:rPr>
              <a:t>One order truth.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713"/>
                </a:solidFill>
                <a:latin typeface="Arial"/>
                <a:ea typeface="Arial"/>
                <a:cs typeface="Arial"/>
              </a:rPr>
              <a:t>Three coordinated experiences.</a:t>
            </a:r>
          </a:p>
        </p:txBody>
      </p:sp>
      <p:sp>
        <p:nvSpPr>
          <p:cNvPr id="4" name="deck-description">
            <a:extLst xmlns:a="http://schemas.openxmlformats.org/drawingml/2006/main">
              <a:ext uri="{FF2B5EF4-FFF2-40B4-BE49-F238E27FC236}">
                <a16:creationId xmlns:a16="http://schemas.microsoft.com/office/drawing/2014/main" id="{10A036E9-B6A6-44A1-9EBF-6C3728D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 production-oriented design for customers, restaurants, couriers, and the services that keep them in sync.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E26F7F7A-906F-4546-A04D-08B72FCD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A6AB70-B99F-466D-BC64-F8C624AB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CITY-WIDE FOOD DELIVERY PLATFORM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5ADF80-3A28-4F22-81F6-ACE9687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Architecture  •  Contracts  •  Reliability  •  Delivery plan</a:t>
            </a:r>
          </a:p>
        </p:txBody>
      </p:sp>
      <p:sp>
        <p:nvSpPr>
          <p:cNvPr id="8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64E55106-8B4E-47FC-921E-F4AE207A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1950"/>
            <a:ext cx="5734050" cy="5924550"/>
          </a:xfrm>
          <a:prstGeom xmlns:a="http://schemas.openxmlformats.org/drawingml/2006/main" prst="roundRect">
            <a:avLst>
              <a:gd name="adj" fmla="val 3322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bac311ec94113"/>
          <a:srcRect xmlns:a="http://schemas.openxmlformats.org/drawingml/2006/main" l="19802" t="0" r="19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495300"/>
            <a:ext cx="5467350" cy="5657850"/>
          </a:xfrm>
          <a:prstGeom xmlns:a="http://schemas.openxmlformats.org/drawingml/2006/main" prst="roundRect">
            <a:avLst>
              <a:gd name="adj" fmla="val 3484"/>
            </a:avLst>
          </a:prstGeom>
        </p:spPr>
      </p:pic>
      <p:sp>
        <p:nvSpPr>
          <p:cNvPr id="1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1F0D793F-721E-43D4-AAEF-E93807E5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FOODFLOW SYSTEM DESIGN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C53E8BA-4C78-4B7E-9B5B-B773CDC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7573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BC7FBC-83CC-4D3B-AB3C-032AC696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Four questions structure the design review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3EA699-8F08-4ED3-959A-8D625A56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Product, platform, resilience, and delivery form one decision path.</a:t>
            </a:r>
          </a:p>
        </p:txBody>
      </p:sp>
      <p:cxnSp>
        <p:nvCxnSpPr>
          <p:cNvPr id="99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100" name="roadmap-line"/>
          <p:cNvCxnSpPr/>
          <p:nvPr/>
        </p:nvCxnSpPr>
        <p:spPr>
          <a:xfrm xmlns:a="http://schemas.openxmlformats.org/drawingml/2006/main">
            <a:off x="1000125" y="30099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3"/>
            </a:solidFill>
            <a:prstDash val="solid"/>
          </a:ln>
        </p:spPr>
      </p:cxn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9CB91581-4521-4500-BB12-1DD0764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197060-CDDB-42A5-9381-55036CB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label-PHASE 0">
            <a:extLst xmlns:a="http://schemas.openxmlformats.org/drawingml/2006/main">
              <a:ext uri="{FF2B5EF4-FFF2-40B4-BE49-F238E27FC236}">
                <a16:creationId xmlns:a16="http://schemas.microsoft.com/office/drawing/2014/main" id="{BA0FFE0B-830F-490A-8AFD-682A3276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F26E98-B4C2-4291-9EAC-1D41F2F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Promise + workflow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2B626A-C8F7-47F4-ADDE-DE94110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Actors and order lifecycle</a:t>
            </a:r>
          </a:p>
        </p:txBody>
      </p:sp>
      <p:cxnSp>
        <p:nvCxnSpPr>
          <p:cNvPr id="106" name="phase-rule-0"/>
          <p:cNvCxnSpPr/>
          <p:nvPr/>
        </p:nvCxnSpPr>
        <p:spPr>
          <a:xfrm xmlns:a="http://schemas.openxmlformats.org/drawingml/2006/main">
            <a:off x="6667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F7FF07-8C93-48CB-A2AA-F26E1021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COVERAGE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Slides 3-4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231BFAAF-3B4E-4092-8A21-BAF7D381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CE349C-48C7-4956-B8E1-740682D6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label-PHASE 1">
            <a:extLst xmlns:a="http://schemas.openxmlformats.org/drawingml/2006/main">
              <a:ext uri="{FF2B5EF4-FFF2-40B4-BE49-F238E27FC236}">
                <a16:creationId xmlns:a16="http://schemas.microsoft.com/office/drawing/2014/main" id="{F0238978-72DD-43DF-8AD9-2C624684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ADBB1F8-00EF-43AB-857F-FA526CB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Architecture + data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965226-2222-4DC0-B152-996796E4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Services, contracts, ownership</a:t>
            </a:r>
          </a:p>
        </p:txBody>
      </p:sp>
      <p:cxnSp>
        <p:nvCxnSpPr>
          <p:cNvPr id="113" name="phase-rule-1"/>
          <p:cNvCxnSpPr/>
          <p:nvPr/>
        </p:nvCxnSpPr>
        <p:spPr>
          <a:xfrm xmlns:a="http://schemas.openxmlformats.org/drawingml/2006/main">
            <a:off x="35242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AC6C90-07AA-4762-B628-DA187201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COVERAGE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Slides 5-7</a:t>
            </a:r>
          </a:p>
        </p:txBody>
      </p:sp>
      <p:sp>
        <p:nvSpPr>
          <p:cNvPr id="19" name="dot-2">
            <a:extLst xmlns:a="http://schemas.openxmlformats.org/drawingml/2006/main">
              <a:ext uri="{FF2B5EF4-FFF2-40B4-BE49-F238E27FC236}">
                <a16:creationId xmlns:a16="http://schemas.microsoft.com/office/drawing/2014/main" id="{63B8E8EA-6CDA-495D-8D14-FE60259C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FDFDB9A-97CA-45ED-9871-F3FBEEF2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label-PHASE 2">
            <a:extLst xmlns:a="http://schemas.openxmlformats.org/drawingml/2006/main">
              <a:ext uri="{FF2B5EF4-FFF2-40B4-BE49-F238E27FC236}">
                <a16:creationId xmlns:a16="http://schemas.microsoft.com/office/drawing/2014/main" id="{531A7336-EF7A-4904-AA6F-B96C9780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19A9D1B-2862-4B8D-A054-B6589FC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Failure + experience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3474B7E-DFB9-4A7A-94EB-7A9BA29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Recovery, security, customer clarity</a:t>
            </a:r>
          </a:p>
        </p:txBody>
      </p:sp>
      <p:cxnSp>
        <p:nvCxnSpPr>
          <p:cNvPr id="120" name="phase-rule-2"/>
          <p:cNvCxnSpPr/>
          <p:nvPr/>
        </p:nvCxnSpPr>
        <p:spPr>
          <a:xfrm xmlns:a="http://schemas.openxmlformats.org/drawingml/2006/main">
            <a:off x="63817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E734B92-A11B-41C7-A8DA-8AC0C26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COVERAGE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Slides 8-10</a:t>
            </a:r>
          </a:p>
        </p:txBody>
      </p:sp>
      <p:sp>
        <p:nvSpPr>
          <p:cNvPr id="26" name="dot-3">
            <a:extLst xmlns:a="http://schemas.openxmlformats.org/drawingml/2006/main">
              <a:ext uri="{FF2B5EF4-FFF2-40B4-BE49-F238E27FC236}">
                <a16:creationId xmlns:a16="http://schemas.microsoft.com/office/drawing/2014/main" id="{851DD48A-CA09-4090-9DCD-E6256664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84CD2CA-2AB6-425C-AE8C-D633D2D1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label-PHASE 3">
            <a:extLst xmlns:a="http://schemas.openxmlformats.org/drawingml/2006/main">
              <a:ext uri="{FF2B5EF4-FFF2-40B4-BE49-F238E27FC236}">
                <a16:creationId xmlns:a16="http://schemas.microsoft.com/office/drawing/2014/main" id="{CAB925F5-5832-490D-A5BC-1E13A70E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1E5FF27-45F5-43B5-A982-B33540E1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Roadmap + launch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2BB57F5-E69D-490B-9604-9DAD4F3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Vertical slices, evidence, next move</a:t>
            </a:r>
          </a:p>
        </p:txBody>
      </p:sp>
      <p:cxnSp>
        <p:nvCxnSpPr>
          <p:cNvPr id="127" name="phase-rule-3"/>
          <p:cNvCxnSpPr/>
          <p:nvPr/>
        </p:nvCxnSpPr>
        <p:spPr>
          <a:xfrm xmlns:a="http://schemas.openxmlformats.org/drawingml/2006/main">
            <a:off x="92392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A18242C-161E-4551-906C-6B54AB4E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COVERAGE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Slides 11-13</a:t>
            </a:r>
          </a:p>
        </p:txBody>
      </p:sp>
      <p:sp>
        <p:nvSpPr>
          <p:cNvPr id="3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F97AE21-8A40-4B2A-A3E1-47E7FBCF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PRESENTATION MAP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FDACEC8-AC4B-4C5B-98D2-03673466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207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61EEE-AD6F-46CC-9715-FE16636A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Delivery is a synchronized marketplace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C651E5-A864-4950-931A-CE3989F7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Each actor moves independently; the order workflow keeps the promise coherent.</a:t>
            </a:r>
          </a:p>
        </p:txBody>
      </p:sp>
      <p:cxnSp>
        <p:nvCxnSpPr>
          <p:cNvPr id="32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33" name="actor-line"/>
          <p:cNvCxnSpPr/>
          <p:nvPr/>
        </p:nvCxnSpPr>
        <p:spPr>
          <a:xfrm xmlns:a="http://schemas.openxmlformats.org/drawingml/2006/main">
            <a:off x="2019300" y="3286125"/>
            <a:ext cx="815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sp>
        <p:nvSpPr>
          <p:cNvPr id="5" name="dot-01">
            <a:extLst xmlns:a="http://schemas.openxmlformats.org/drawingml/2006/main">
              <a:ext uri="{FF2B5EF4-FFF2-40B4-BE49-F238E27FC236}">
                <a16:creationId xmlns:a16="http://schemas.microsoft.com/office/drawing/2014/main" id="{2295240A-4D1B-43FE-8013-11659E54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57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AE01CD-C25A-424A-924A-0D7ED31D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59761"/>
            <a:ext cx="1123950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0DE34B-511C-4A35-8439-B495633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71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1B1A9F-6E97-4267-B8E3-D384037A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1942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Discover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Pay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9" name="dot-02">
            <a:extLst xmlns:a="http://schemas.openxmlformats.org/drawingml/2006/main">
              <a:ext uri="{FF2B5EF4-FFF2-40B4-BE49-F238E27FC236}">
                <a16:creationId xmlns:a16="http://schemas.microsoft.com/office/drawing/2014/main" id="{5772A7FE-2EA0-4859-8084-0291521B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B6524F-DD13-4A79-A8B8-9FA6280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59761"/>
            <a:ext cx="1123950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29A185B-80CA-4CFE-A5E8-13BA9D29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Restaurant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28B60D-CC2C-4EE2-9518-8B6DC40A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1942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Accept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Prepare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Hand off</a:t>
            </a:r>
          </a:p>
        </p:txBody>
      </p:sp>
      <p:sp>
        <p:nvSpPr>
          <p:cNvPr id="13" name="dot-03">
            <a:extLst xmlns:a="http://schemas.openxmlformats.org/drawingml/2006/main">
              <a:ext uri="{FF2B5EF4-FFF2-40B4-BE49-F238E27FC236}">
                <a16:creationId xmlns:a16="http://schemas.microsoft.com/office/drawing/2014/main" id="{ACE8E410-F460-4508-9D20-2B39262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57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0885078-7154-401D-9373-BD67C48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59761"/>
            <a:ext cx="1123950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11FD4B-4277-4D94-811C-9B751ABE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71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Courier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35A54AB-C4F8-4A95-8685-0B78256F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1942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Claim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Navigate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17" name="order-truth-band">
            <a:extLst xmlns:a="http://schemas.openxmlformats.org/drawingml/2006/main">
              <a:ext uri="{FF2B5EF4-FFF2-40B4-BE49-F238E27FC236}">
                <a16:creationId xmlns:a16="http://schemas.microsoft.com/office/drawing/2014/main" id="{66F7F03F-2949-4790-A9DC-B69C3CCA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590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bel-ONE ORDER TRUTH">
            <a:extLst xmlns:a="http://schemas.openxmlformats.org/drawingml/2006/main">
              <a:ext uri="{FF2B5EF4-FFF2-40B4-BE49-F238E27FC236}">
                <a16:creationId xmlns:a16="http://schemas.microsoft.com/office/drawing/2014/main" id="{0C30527F-8DA3-42FF-BE72-BF598C48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38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ONE ORDER TRUTH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DED52D9-C118-4D9D-AC69-F4EE0F9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State, money, ownership, and ETA advance together.</a:t>
            </a:r>
          </a:p>
        </p:txBody>
      </p:sp>
      <p:sp>
        <p:nvSpPr>
          <p:cNvPr id="2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F49CDA14-EC25-4EB3-8451-BE3C1046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PRODUCT MODEL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E728941-B003-415F-97F3-5B1BFF70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1577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35E244-D9DA-435B-B43D-C85BCF81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One state machine aligns money, food, and movement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7B38F4F-24C8-490D-A47C-F8CEDE5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Every transition is authorized, idempotent, versioned, and written to the audit trail.</a:t>
            </a:r>
          </a:p>
        </p:txBody>
      </p:sp>
      <p:cxnSp>
        <p:nvCxnSpPr>
          <p:cNvPr id="50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51" name="lifecycle-spine"/>
          <p:cNvCxnSpPr/>
          <p:nvPr/>
        </p:nvCxnSpPr>
        <p:spPr>
          <a:xfrm xmlns:a="http://schemas.openxmlformats.org/drawingml/2006/main">
            <a:off x="1000125" y="29337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3"/>
            </a:solidFill>
            <a:prstDash val="solid"/>
          </a:ln>
        </p:spPr>
      </p:cxnSp>
      <p:sp>
        <p:nvSpPr>
          <p:cNvPr id="5" name="dot-01">
            <a:extLst xmlns:a="http://schemas.openxmlformats.org/drawingml/2006/main">
              <a:ext uri="{FF2B5EF4-FFF2-40B4-BE49-F238E27FC236}">
                <a16:creationId xmlns:a16="http://schemas.microsoft.com/office/drawing/2014/main" id="{9C3CC7B6-17A3-481E-B3CB-E25DC42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18E017-B221-479B-9808-6F7BE032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BEAC35-51DB-4A11-BF33-19C4E283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8" name="dot-02">
            <a:extLst xmlns:a="http://schemas.openxmlformats.org/drawingml/2006/main">
              <a:ext uri="{FF2B5EF4-FFF2-40B4-BE49-F238E27FC236}">
                <a16:creationId xmlns:a16="http://schemas.microsoft.com/office/drawing/2014/main" id="{E15C821A-9DEE-4575-AD5B-FB014E49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8A959A-0A63-4898-BBE9-E2976C5C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468CF0-C175-42A7-B707-2A2D8915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authorized</a:t>
            </a:r>
          </a:p>
        </p:txBody>
      </p:sp>
      <p:sp>
        <p:nvSpPr>
          <p:cNvPr id="11" name="dot-03">
            <a:extLst xmlns:a="http://schemas.openxmlformats.org/drawingml/2006/main">
              <a:ext uri="{FF2B5EF4-FFF2-40B4-BE49-F238E27FC236}">
                <a16:creationId xmlns:a16="http://schemas.microsoft.com/office/drawing/2014/main" id="{F319DAD6-D2B4-4557-93F2-29FB03E7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B39B7C8-E30F-4EB7-A6E0-7D28A9EC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F15C27-91A0-4D26-8964-C5A28C26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Restaurant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14" name="dot-04">
            <a:extLst xmlns:a="http://schemas.openxmlformats.org/drawingml/2006/main">
              <a:ext uri="{FF2B5EF4-FFF2-40B4-BE49-F238E27FC236}">
                <a16:creationId xmlns:a16="http://schemas.microsoft.com/office/drawing/2014/main" id="{B1948F03-B91F-409E-A4AC-4B31D127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F30D32-79C0-4DDD-9B67-6FC6BBC2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B9C2CDE-0F73-46B3-AC10-92723939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Preparing</a:t>
            </a:r>
          </a:p>
        </p:txBody>
      </p:sp>
      <p:sp>
        <p:nvSpPr>
          <p:cNvPr id="17" name="dot-05">
            <a:extLst xmlns:a="http://schemas.openxmlformats.org/drawingml/2006/main">
              <a:ext uri="{FF2B5EF4-FFF2-40B4-BE49-F238E27FC236}">
                <a16:creationId xmlns:a16="http://schemas.microsoft.com/office/drawing/2014/main" id="{2DD866A9-2E69-4327-B7A8-4E440014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E8D946A-042F-4742-8DC1-3A106C2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C4E817-4B20-4AC1-AE50-798F71D1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Ready for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pickup</a:t>
            </a:r>
          </a:p>
        </p:txBody>
      </p:sp>
      <p:sp>
        <p:nvSpPr>
          <p:cNvPr id="20" name="dot-06">
            <a:extLst xmlns:a="http://schemas.openxmlformats.org/drawingml/2006/main">
              <a:ext uri="{FF2B5EF4-FFF2-40B4-BE49-F238E27FC236}">
                <a16:creationId xmlns:a16="http://schemas.microsoft.com/office/drawing/2014/main" id="{22FF977E-E035-4196-A297-FC953319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9DE8589-3380-492E-BEBD-52DFC7AF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0508CDB-E113-4F75-AC29-7137AA81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Picked up</a:t>
            </a:r>
          </a:p>
        </p:txBody>
      </p:sp>
      <p:sp>
        <p:nvSpPr>
          <p:cNvPr id="23" name="dot-07">
            <a:extLst xmlns:a="http://schemas.openxmlformats.org/drawingml/2006/main">
              <a:ext uri="{FF2B5EF4-FFF2-40B4-BE49-F238E27FC236}">
                <a16:creationId xmlns:a16="http://schemas.microsoft.com/office/drawing/2014/main" id="{84D27A71-D0DE-42D3-A50D-26F25575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41DEAA2-42C2-4F35-8C8E-720B5733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925A2E4-010F-4A12-A429-8C28BEE1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In transit</a:t>
            </a:r>
          </a:p>
        </p:txBody>
      </p:sp>
      <p:sp>
        <p:nvSpPr>
          <p:cNvPr id="26" name="dot-08">
            <a:extLst xmlns:a="http://schemas.openxmlformats.org/drawingml/2006/main">
              <a:ext uri="{FF2B5EF4-FFF2-40B4-BE49-F238E27FC236}">
                <a16:creationId xmlns:a16="http://schemas.microsoft.com/office/drawing/2014/main" id="{E0F592DE-C532-46E9-8090-428B30AC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955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15060B1-E657-480F-A629-6F407991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83015"/>
            <a:ext cx="485775" cy="301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A5A0C83-9D93-4497-A717-F2809877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623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29" name="label-COMMIT">
            <a:extLst xmlns:a="http://schemas.openxmlformats.org/drawingml/2006/main">
              <a:ext uri="{FF2B5EF4-FFF2-40B4-BE49-F238E27FC236}">
                <a16:creationId xmlns:a16="http://schemas.microsoft.com/office/drawing/2014/main" id="{413CEB31-B008-4E08-ACD1-0F92C849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30" name="label-FULFILL">
            <a:extLst xmlns:a="http://schemas.openxmlformats.org/drawingml/2006/main">
              <a:ext uri="{FF2B5EF4-FFF2-40B4-BE49-F238E27FC236}">
                <a16:creationId xmlns:a16="http://schemas.microsoft.com/office/drawing/2014/main" id="{4BE41A8A-52DB-46FD-AA74-722CE3A4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76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07E1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07E14"/>
                </a:solidFill>
                <a:latin typeface="Arial"/>
                <a:ea typeface="Arial"/>
                <a:cs typeface="Arial"/>
              </a:rPr>
              <a:t>FULFILL</a:t>
            </a:r>
          </a:p>
        </p:txBody>
      </p:sp>
      <p:sp>
        <p:nvSpPr>
          <p:cNvPr id="31" name="label-DELIVER">
            <a:extLst xmlns:a="http://schemas.openxmlformats.org/drawingml/2006/main">
              <a:ext uri="{FF2B5EF4-FFF2-40B4-BE49-F238E27FC236}">
                <a16:creationId xmlns:a16="http://schemas.microsoft.com/office/drawing/2014/main" id="{7E96C973-D16D-476E-95D9-44A1995A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32" name="exception-lane">
            <a:extLst xmlns:a="http://schemas.openxmlformats.org/drawingml/2006/main">
              <a:ext uri="{FF2B5EF4-FFF2-40B4-BE49-F238E27FC236}">
                <a16:creationId xmlns:a16="http://schemas.microsoft.com/office/drawing/2014/main" id="{182C6B16-538B-4978-89E4-7D7A4FBF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01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B5C7C56-44AF-4E91-BC39-CDC9865F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20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Exception lane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2DC743F-C251-46DD-910F-68618E3F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815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PAYMENT_FAILED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EDFF1E8-70D3-4C1B-8692-AE90D221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815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2F1DC13-55EA-4EF4-967F-0627307D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CANCELLED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C34B30C5-AE7B-4705-B5A0-7DBFC8CB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6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Refund remains a linked payment workflow, not a replacement for order history.</a:t>
            </a:r>
          </a:p>
        </p:txBody>
      </p:sp>
      <p:sp>
        <p:nvSpPr>
          <p:cNvPr id="38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BD04288-3039-4E5B-A564-0ADBA0DB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CANONICAL WORKFLOW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75F6A27-5B19-4E3B-A72B-66D08EA7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6548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8968A1-DDD4-415A-98F0-AC76DC64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Boundaries isolate change and preserve traceability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D9D914-F8BD-404A-A7CA-6FC514A1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Synchronous commands establish intent; durable events distribute the result.</a:t>
            </a:r>
          </a:p>
        </p:txBody>
      </p:sp>
      <p:cxnSp>
        <p:nvCxnSpPr>
          <p:cNvPr id="94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4" name="client-0">
            <a:extLst xmlns:a="http://schemas.openxmlformats.org/drawingml/2006/main">
              <a:ext uri="{FF2B5EF4-FFF2-40B4-BE49-F238E27FC236}">
                <a16:creationId xmlns:a16="http://schemas.microsoft.com/office/drawing/2014/main" id="{60B699EC-2F81-4913-BD96-D070EE66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85950"/>
            <a:ext cx="1571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5" name="client-1">
            <a:extLst xmlns:a="http://schemas.openxmlformats.org/drawingml/2006/main">
              <a:ext uri="{FF2B5EF4-FFF2-40B4-BE49-F238E27FC236}">
                <a16:creationId xmlns:a16="http://schemas.microsoft.com/office/drawing/2014/main" id="{6AA46DD6-2084-4914-A08D-10564810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571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6" name="client-2">
            <a:extLst xmlns:a="http://schemas.openxmlformats.org/drawingml/2006/main">
              <a:ext uri="{FF2B5EF4-FFF2-40B4-BE49-F238E27FC236}">
                <a16:creationId xmlns:a16="http://schemas.microsoft.com/office/drawing/2014/main" id="{E332F0AE-A3B4-4341-8910-A94982FC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85950"/>
            <a:ext cx="1571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62B870-DFAA-4911-826E-9AA4F24E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97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Customer app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88F810-F474-4B27-A225-2D23527C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Restaurant portal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554F0E-CF00-4668-AA90-022B0DA3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97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Courier app</a:t>
            </a:r>
          </a:p>
        </p:txBody>
      </p:sp>
      <p:cxnSp>
        <p:nvCxnSpPr>
          <p:cNvPr id="101" name="trust-boundary"/>
          <p:cNvCxnSpPr/>
          <p:nvPr/>
        </p:nvCxnSpPr>
        <p:spPr>
          <a:xfrm xmlns:a="http://schemas.openxmlformats.org/drawingml/2006/main">
            <a:off x="6572250" y="1647825"/>
            <a:ext cx="0" cy="4048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1" name="label-PUBLIC">
            <a:extLst xmlns:a="http://schemas.openxmlformats.org/drawingml/2006/main">
              <a:ext uri="{FF2B5EF4-FFF2-40B4-BE49-F238E27FC236}">
                <a16:creationId xmlns:a16="http://schemas.microsoft.com/office/drawing/2014/main" id="{846EAA39-3B8B-4870-854F-1E830BE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12" name="label-PRIVATE PLATFORM">
            <a:extLst xmlns:a="http://schemas.openxmlformats.org/drawingml/2006/main">
              <a:ext uri="{FF2B5EF4-FFF2-40B4-BE49-F238E27FC236}">
                <a16:creationId xmlns:a16="http://schemas.microsoft.com/office/drawing/2014/main" id="{5326C84D-1221-40DE-8B5D-E7FC06D9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PRIVATE PLATFORM</a:t>
            </a:r>
          </a:p>
        </p:txBody>
      </p:sp>
      <p:cxnSp>
        <p:nvCxnSpPr>
          <p:cNvPr id="104" name="gateway-in"/>
          <p:cNvCxnSpPr/>
          <p:nvPr/>
        </p:nvCxnSpPr>
        <p:spPr>
          <a:xfrm xmlns:a="http://schemas.openxmlformats.org/drawingml/2006/main">
            <a:off x="6477000" y="2105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42F"/>
            </a:solidFill>
            <a:prstDash val="solid"/>
          </a:ln>
        </p:spPr>
      </p:cxnSp>
      <p:sp>
        <p:nvSpPr>
          <p:cNvPr id="14" name="api-gateway">
            <a:extLst xmlns:a="http://schemas.openxmlformats.org/drawingml/2006/main">
              <a:ext uri="{FF2B5EF4-FFF2-40B4-BE49-F238E27FC236}">
                <a16:creationId xmlns:a16="http://schemas.microsoft.com/office/drawing/2014/main" id="{842EAA16-FFDA-4090-9E5D-5B007C28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171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3E2FA0E-02E3-4ECD-A556-CF0EA966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Gateway / BFF</a:t>
            </a:r>
          </a:p>
        </p:txBody>
      </p:sp>
      <p:sp>
        <p:nvSpPr>
          <p:cNvPr id="16" name="realtime-gateway">
            <a:extLst xmlns:a="http://schemas.openxmlformats.org/drawingml/2006/main">
              <a:ext uri="{FF2B5EF4-FFF2-40B4-BE49-F238E27FC236}">
                <a16:creationId xmlns:a16="http://schemas.microsoft.com/office/drawing/2014/main" id="{4FEB1989-08CE-46DA-986F-9664099F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171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63CF870-DF3C-4639-AE28-2580A37C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Realtime Gateway</a:t>
            </a:r>
          </a:p>
        </p:txBody>
      </p:sp>
      <p:cxnSp>
        <p:nvCxnSpPr>
          <p:cNvPr id="109" name="edge-down-a"/>
          <p:cNvCxnSpPr/>
          <p:nvPr/>
        </p:nvCxnSpPr>
        <p:spPr>
          <a:xfrm xmlns:a="http://schemas.openxmlformats.org/drawingml/2006/main">
            <a:off x="7715250" y="233362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110" name="edge-down-b"/>
          <p:cNvCxnSpPr/>
          <p:nvPr/>
        </p:nvCxnSpPr>
        <p:spPr>
          <a:xfrm xmlns:a="http://schemas.openxmlformats.org/drawingml/2006/main">
            <a:off x="9715500" y="233362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111" name="service-bus"/>
          <p:cNvCxnSpPr/>
          <p:nvPr/>
        </p:nvCxnSpPr>
        <p:spPr>
          <a:xfrm xmlns:a="http://schemas.openxmlformats.org/drawingml/2006/main">
            <a:off x="7239000" y="321945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112" name="event-backbone"/>
          <p:cNvCxnSpPr/>
          <p:nvPr/>
        </p:nvCxnSpPr>
        <p:spPr>
          <a:xfrm xmlns:a="http://schemas.openxmlformats.org/drawingml/2006/main">
            <a:off x="8734425" y="2333625"/>
            <a:ext cx="0" cy="3028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2" name="service-Catalog">
            <a:extLst xmlns:a="http://schemas.openxmlformats.org/drawingml/2006/main">
              <a:ext uri="{FF2B5EF4-FFF2-40B4-BE49-F238E27FC236}">
                <a16:creationId xmlns:a16="http://schemas.microsoft.com/office/drawing/2014/main" id="{28D58390-581A-4271-A1F9-23D4B1A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A5D1815-3BB5-406C-B30C-48AFA429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337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24" name="service-Order">
            <a:extLst xmlns:a="http://schemas.openxmlformats.org/drawingml/2006/main">
              <a:ext uri="{FF2B5EF4-FFF2-40B4-BE49-F238E27FC236}">
                <a16:creationId xmlns:a16="http://schemas.microsoft.com/office/drawing/2014/main" id="{A971ED34-5161-4083-835E-2C243F7F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1"/>
          </a:solidFill>
          <a:ln xmlns:a="http://schemas.openxmlformats.org/drawingml/2006/main" w="9525">
            <a:solidFill>
              <a:srgbClr val="F0442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33EB851-99E7-4258-9D05-A0EC4F40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337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26" name="service-Payment">
            <a:extLst xmlns:a="http://schemas.openxmlformats.org/drawingml/2006/main">
              <a:ext uri="{FF2B5EF4-FFF2-40B4-BE49-F238E27FC236}">
                <a16:creationId xmlns:a16="http://schemas.microsoft.com/office/drawing/2014/main" id="{29DD0BB7-EA1C-4B07-BB93-0EA0D10B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110A153-1855-45A5-AC57-0DFEDDEE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337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28" name="service-Dispatch">
            <a:extLst xmlns:a="http://schemas.openxmlformats.org/drawingml/2006/main">
              <a:ext uri="{FF2B5EF4-FFF2-40B4-BE49-F238E27FC236}">
                <a16:creationId xmlns:a16="http://schemas.microsoft.com/office/drawing/2014/main" id="{F564FC65-3103-4080-BAC4-B63D8037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9525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AAAB015-D65C-44D0-92E3-226E113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Dispatch</a:t>
            </a:r>
          </a:p>
        </p:txBody>
      </p:sp>
      <p:sp>
        <p:nvSpPr>
          <p:cNvPr id="30" name="service-Tracking">
            <a:extLst xmlns:a="http://schemas.openxmlformats.org/drawingml/2006/main">
              <a:ext uri="{FF2B5EF4-FFF2-40B4-BE49-F238E27FC236}">
                <a16:creationId xmlns:a16="http://schemas.microsoft.com/office/drawing/2014/main" id="{379E12E3-FB1D-471F-99DE-EE247047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9525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32776DD-2667-487A-83DC-7DC72FA6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Tracking</a:t>
            </a:r>
          </a:p>
        </p:txBody>
      </p:sp>
      <p:sp>
        <p:nvSpPr>
          <p:cNvPr id="32" name="service-Notification">
            <a:extLst xmlns:a="http://schemas.openxmlformats.org/drawingml/2006/main">
              <a:ext uri="{FF2B5EF4-FFF2-40B4-BE49-F238E27FC236}">
                <a16:creationId xmlns:a16="http://schemas.microsoft.com/office/drawing/2014/main" id="{BC49D6B6-1C38-4CBA-B92C-8E7DC79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19525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C0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B75F291-33AB-4D2F-9B2C-EB353C2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43350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Notification</a:t>
            </a:r>
          </a:p>
        </p:txBody>
      </p:sp>
      <p:sp>
        <p:nvSpPr>
          <p:cNvPr id="34" name="architecture-explainer">
            <a:extLst xmlns:a="http://schemas.openxmlformats.org/drawingml/2006/main">
              <a:ext uri="{FF2B5EF4-FFF2-40B4-BE49-F238E27FC236}">
                <a16:creationId xmlns:a16="http://schemas.microsoft.com/office/drawing/2014/main" id="{7DE472B6-6245-4E86-AC23-A174023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286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abel-COMMAND PATH">
            <a:extLst xmlns:a="http://schemas.openxmlformats.org/drawingml/2006/main">
              <a:ext uri="{FF2B5EF4-FFF2-40B4-BE49-F238E27FC236}">
                <a16:creationId xmlns:a16="http://schemas.microsoft.com/office/drawing/2014/main" id="{3729CA7E-625B-41A1-A439-79322E7B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52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COMMAND PATH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B00CC0E-EA08-42A2-942F-D181821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HTTPS / REST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063D6E9-9A64-4978-9A18-2B001A0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Validation, authorization, rate limits, and ownership checks at the edge.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B255FEC-1143-4330-AF15-FE728558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52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EVENT PATH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8F4F6A6-2E06-421A-808E-A25FB029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F857292-1E3A-4FFE-9EC7-AF89CB08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62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Outbox, replay, consumer inbox, and dead-letter handling.</a:t>
            </a:r>
          </a:p>
        </p:txBody>
      </p:sp>
      <p:sp>
        <p:nvSpPr>
          <p:cNvPr id="41" name="postgres">
            <a:extLst xmlns:a="http://schemas.openxmlformats.org/drawingml/2006/main">
              <a:ext uri="{FF2B5EF4-FFF2-40B4-BE49-F238E27FC236}">
                <a16:creationId xmlns:a16="http://schemas.microsoft.com/office/drawing/2014/main" id="{EACB199A-92AC-4DBA-ABCD-5C4A99C1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43475"/>
            <a:ext cx="1285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dis">
            <a:extLst xmlns:a="http://schemas.openxmlformats.org/drawingml/2006/main">
              <a:ext uri="{FF2B5EF4-FFF2-40B4-BE49-F238E27FC236}">
                <a16:creationId xmlns:a16="http://schemas.microsoft.com/office/drawing/2014/main" id="{1DD0400A-CF6B-41BB-BC40-CD79C4B3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43475"/>
            <a:ext cx="1285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kafka">
            <a:extLst xmlns:a="http://schemas.openxmlformats.org/drawingml/2006/main">
              <a:ext uri="{FF2B5EF4-FFF2-40B4-BE49-F238E27FC236}">
                <a16:creationId xmlns:a16="http://schemas.microsoft.com/office/drawing/2014/main" id="{B3298F8E-EFA1-4858-9F74-DE3482C1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43475"/>
            <a:ext cx="1285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F23B78C5-4095-46AE-8A08-4A50CD5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673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B930F59C-CEBD-4099-B0B9-A79CD34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673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F5931945-A34A-40BD-A2D1-AABC0043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673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47C50265-75E0-420C-83F4-A2F2F979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4219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Providers: payment  •  maps  •  push / SMS / email</a:t>
            </a:r>
          </a:p>
        </p:txBody>
      </p:sp>
      <p:sp>
        <p:nvSpPr>
          <p:cNvPr id="48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EF7A5FAD-3A48-407A-8274-27A4073B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LOGICAL ARCHITECTURE</a:t>
            </a:r>
          </a:p>
        </p:txBody>
      </p:sp>
      <p:sp>
        <p:nvSpPr>
          <p:cNvPr id="4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4B59E9-4E8F-4C46-A805-269E248D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9134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2F6B7E-E667-4E4C-AD51-8B8805AC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Replay-safe contracts turn retries into normal behavior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C55ABC-0095-45A6-B3F9-9513129F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The same command or provider callback can arrive more than once without repeating the effect.</a:t>
            </a:r>
          </a:p>
        </p:txBody>
      </p:sp>
      <p:cxnSp>
        <p:nvCxnSpPr>
          <p:cNvPr id="109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4" name="label-COMMAND">
            <a:extLst xmlns:a="http://schemas.openxmlformats.org/drawingml/2006/main">
              <a:ext uri="{FF2B5EF4-FFF2-40B4-BE49-F238E27FC236}">
                <a16:creationId xmlns:a16="http://schemas.microsoft.com/office/drawing/2014/main" id="{53ADC483-CC11-47B6-BE1C-E75597AB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cxnSp>
        <p:nvCxnSpPr>
          <p:cNvPr id="111" name="command-line"/>
          <p:cNvCxnSpPr/>
          <p:nvPr/>
        </p:nvCxnSpPr>
        <p:spPr>
          <a:xfrm xmlns:a="http://schemas.openxmlformats.org/drawingml/2006/main">
            <a:off x="1104900" y="2647950"/>
            <a:ext cx="417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089D7B8B-6036-4049-8B57-29F20516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F641B1-5569-49FB-AA47-AB32C85B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EBAFB5-5312-4FE9-A26A-970E5D8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146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Client request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FE43B7FC-76FE-4080-86EF-CAA9E643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09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F77AFB-6F80-42FE-AE9C-D20B6F96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955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BDBF36-D233-4733-B88D-9B8DCBE3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146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BFF validates</a:t>
            </a:r>
          </a:p>
        </p:txBody>
      </p:sp>
      <p:sp>
        <p:nvSpPr>
          <p:cNvPr id="12" name="dot-3">
            <a:extLst xmlns:a="http://schemas.openxmlformats.org/drawingml/2006/main">
              <a:ext uri="{FF2B5EF4-FFF2-40B4-BE49-F238E27FC236}">
                <a16:creationId xmlns:a16="http://schemas.microsoft.com/office/drawing/2014/main" id="{FCE0DCCA-0025-4420-945C-CD518012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9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15FB41B-5C70-4DA7-A17A-7CCA8303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955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1DF992-83D3-4DC1-9F31-4EDEC816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146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Owner commits</a:t>
            </a:r>
          </a:p>
        </p:txBody>
      </p:sp>
      <p:sp>
        <p:nvSpPr>
          <p:cNvPr id="15" name="dot-4">
            <a:extLst xmlns:a="http://schemas.openxmlformats.org/drawingml/2006/main">
              <a:ext uri="{FF2B5EF4-FFF2-40B4-BE49-F238E27FC236}">
                <a16:creationId xmlns:a16="http://schemas.microsoft.com/office/drawing/2014/main" id="{6636ED64-1746-4BB3-934B-D342E70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09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0A0AE9B-B187-424E-9F8A-90B1FCB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955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C8B084B-5F12-4682-92C6-4A3A9D9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146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Outbox publishes</a:t>
            </a:r>
          </a:p>
        </p:txBody>
      </p:sp>
      <p:sp>
        <p:nvSpPr>
          <p:cNvPr id="18" name="idempotency-block">
            <a:extLst xmlns:a="http://schemas.openxmlformats.org/drawingml/2006/main">
              <a:ext uri="{FF2B5EF4-FFF2-40B4-BE49-F238E27FC236}">
                <a16:creationId xmlns:a16="http://schemas.microsoft.com/office/drawing/2014/main" id="{905F7A30-9563-444B-B08C-AAB70D96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2FBD6AE-86E6-4193-AC90-2F8ED5D9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76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Idempotency-Key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837BDA9-88C6-4CC2-94E3-0C16085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Stable business key -&gt; one order, one authorization, one capture.</a:t>
            </a:r>
          </a:p>
        </p:txBody>
      </p:sp>
      <p:cxnSp>
        <p:nvCxnSpPr>
          <p:cNvPr id="127" name="contract-divider"/>
          <p:cNvCxnSpPr/>
          <p:nvPr/>
        </p:nvCxnSpPr>
        <p:spPr>
          <a:xfrm xmlns:a="http://schemas.openxmlformats.org/drawingml/2006/main">
            <a:off x="6019800" y="1809750"/>
            <a:ext cx="0" cy="3733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2" name="label-EVENT ENVELOPE">
            <a:extLst xmlns:a="http://schemas.openxmlformats.org/drawingml/2006/main">
              <a:ext uri="{FF2B5EF4-FFF2-40B4-BE49-F238E27FC236}">
                <a16:creationId xmlns:a16="http://schemas.microsoft.com/office/drawing/2014/main" id="{FA54FCD6-C761-459D-8506-0E262AB1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EVENT ENVELOPE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5EFB519-B0B0-49F7-9356-FEEB89E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99D3958-CCB4-47F0-BA03-8D65F9DF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event_id  •  aggregate_id  •  version</a:t>
            </a:r>
          </a:p>
        </p:txBody>
      </p:sp>
      <p:cxnSp>
        <p:nvCxnSpPr>
          <p:cNvPr id="131" name="field-rule-0"/>
          <p:cNvCxnSpPr/>
          <p:nvPr/>
        </p:nvCxnSpPr>
        <p:spPr>
          <a:xfrm xmlns:a="http://schemas.openxmlformats.org/drawingml/2006/main">
            <a:off x="6477000" y="2790825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4DA57D9-5013-4044-A772-E085A43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Causality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BF09EC3-8C5B-4D3C-A70C-0CF06632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correlation_id  •  causation_id</a:t>
            </a:r>
          </a:p>
        </p:txBody>
      </p:sp>
      <p:cxnSp>
        <p:nvCxnSpPr>
          <p:cNvPr id="134" name="field-rule-1"/>
          <p:cNvCxnSpPr/>
          <p:nvPr/>
        </p:nvCxnSpPr>
        <p:spPr>
          <a:xfrm xmlns:a="http://schemas.openxmlformats.org/drawingml/2006/main">
            <a:off x="6477000" y="3476625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D2CBC84-5D3E-409B-BC5D-8BACBE0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ABEAF2BA-E30B-4C31-8050-5973B145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052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occurred_at  •  schema_version</a:t>
            </a:r>
          </a:p>
        </p:txBody>
      </p:sp>
      <p:cxnSp>
        <p:nvCxnSpPr>
          <p:cNvPr id="137" name="field-rule-2"/>
          <p:cNvCxnSpPr/>
          <p:nvPr/>
        </p:nvCxnSpPr>
        <p:spPr>
          <a:xfrm xmlns:a="http://schemas.openxmlformats.org/drawingml/2006/main">
            <a:off x="6477000" y="4162425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11DA233-82F8-4FD5-B173-F6090E1B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Payload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077FA92-5D99-4124-8D8A-C6B0A192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910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typed domain facts, never commands</a:t>
            </a:r>
          </a:p>
        </p:txBody>
      </p:sp>
      <p:cxnSp>
        <p:nvCxnSpPr>
          <p:cNvPr id="140" name="field-rule-3"/>
          <p:cNvCxnSpPr/>
          <p:nvPr/>
        </p:nvCxnSpPr>
        <p:spPr>
          <a:xfrm xmlns:a="http://schemas.openxmlformats.org/drawingml/2006/main">
            <a:off x="6477000" y="4848225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35" name="contract-result">
            <a:extLst xmlns:a="http://schemas.openxmlformats.org/drawingml/2006/main">
              <a:ext uri="{FF2B5EF4-FFF2-40B4-BE49-F238E27FC236}">
                <a16:creationId xmlns:a16="http://schemas.microsoft.com/office/drawing/2014/main" id="{FD608D36-CC1E-40A9-A9FD-6818AC1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67325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0569680-3EF6-400F-B508-75F383BF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4768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6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At-least-once delivery + inbox deduplication = one business effect</a:t>
            </a:r>
          </a:p>
        </p:txBody>
      </p:sp>
      <p:sp>
        <p:nvSpPr>
          <p:cNvPr id="3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8931CD1-155D-4C90-A209-2E36FB43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INTEGRATION CONTRACTS</a:t>
            </a:r>
          </a:p>
        </p:txBody>
      </p:sp>
      <p:sp>
        <p:nvSpPr>
          <p:cNvPr id="3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2251B6-E3E4-408A-A059-FFBF1270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5361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5566CA-016A-46CE-8290-766D8F24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Data ownership protects the invariants that matter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E97622-3464-4C7F-862C-FA9A8F1E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 shared cluster can start the MVP; direct cross-service writes cannot.</a:t>
            </a:r>
          </a:p>
        </p:txBody>
      </p:sp>
      <p:cxnSp>
        <p:nvCxnSpPr>
          <p:cNvPr id="105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106" name="user-order"/>
          <p:cNvCxnSpPr/>
          <p:nvPr/>
        </p:nvCxnSpPr>
        <p:spPr>
          <a:xfrm xmlns:a="http://schemas.openxmlformats.org/drawingml/2006/main">
            <a:off x="3000375" y="33718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cxnSp>
        <p:nvCxnSpPr>
          <p:cNvPr id="107" name="restaurant-order"/>
          <p:cNvCxnSpPr/>
          <p:nvPr/>
        </p:nvCxnSpPr>
        <p:spPr>
          <a:xfrm xmlns:a="http://schemas.openxmlformats.org/drawingml/2006/main">
            <a:off x="3000375" y="3705225"/>
            <a:ext cx="16192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cxnSp>
        <p:nvCxnSpPr>
          <p:cNvPr id="108" name="payment-order"/>
          <p:cNvCxnSpPr/>
          <p:nvPr/>
        </p:nvCxnSpPr>
        <p:spPr>
          <a:xfrm xmlns:a="http://schemas.openxmlformats.org/drawingml/2006/main">
            <a:off x="6210300" y="2181225"/>
            <a:ext cx="16002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cxnSp>
        <p:nvCxnSpPr>
          <p:cNvPr id="109" name="delivery-order"/>
          <p:cNvCxnSpPr/>
          <p:nvPr/>
        </p:nvCxnSpPr>
        <p:spPr>
          <a:xfrm xmlns:a="http://schemas.openxmlformats.org/drawingml/2006/main">
            <a:off x="6210300" y="33718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cxnSp>
        <p:nvCxnSpPr>
          <p:cNvPr id="110" name="courier-order"/>
          <p:cNvCxnSpPr/>
          <p:nvPr/>
        </p:nvCxnSpPr>
        <p:spPr>
          <a:xfrm xmlns:a="http://schemas.openxmlformats.org/drawingml/2006/main">
            <a:off x="6210300" y="3705225"/>
            <a:ext cx="16002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6C0"/>
            </a:solidFill>
            <a:prstDash val="solid"/>
          </a:ln>
        </p:spPr>
      </p:cxnSp>
      <p:sp>
        <p:nvSpPr>
          <p:cNvPr id="9" name="order-aggregate">
            <a:extLst xmlns:a="http://schemas.openxmlformats.org/drawingml/2006/main">
              <a:ext uri="{FF2B5EF4-FFF2-40B4-BE49-F238E27FC236}">
                <a16:creationId xmlns:a16="http://schemas.microsoft.com/office/drawing/2014/main" id="{FDD89139-6C61-4670-9630-D738A25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76525"/>
            <a:ext cx="1590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AGGREGATE">
            <a:extLst xmlns:a="http://schemas.openxmlformats.org/drawingml/2006/main">
              <a:ext uri="{FF2B5EF4-FFF2-40B4-BE49-F238E27FC236}">
                <a16:creationId xmlns:a16="http://schemas.microsoft.com/office/drawing/2014/main" id="{600813B8-E49A-4D89-93FF-00439CE8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87090E-8537-429B-9F8B-0CF6305B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A94FBFC-A26A-41DF-BAA7-018E38B7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290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+ version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address + totals</a:t>
            </a:r>
          </a:p>
        </p:txBody>
      </p:sp>
      <p:sp>
        <p:nvSpPr>
          <p:cNvPr id="13" name="entity-USER">
            <a:extLst xmlns:a="http://schemas.openxmlformats.org/drawingml/2006/main">
              <a:ext uri="{FF2B5EF4-FFF2-40B4-BE49-F238E27FC236}">
                <a16:creationId xmlns:a16="http://schemas.microsoft.com/office/drawing/2014/main" id="{5FCF0D15-DF5D-4DBA-8FD3-038605BC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3895133-10D0-4307-A768-26E33BA7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623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4391E80-D00D-415B-A0B3-11C591A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38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Identity</a:t>
            </a:r>
          </a:p>
        </p:txBody>
      </p:sp>
      <p:sp>
        <p:nvSpPr>
          <p:cNvPr id="16" name="entity-RESTAURANT">
            <a:extLst xmlns:a="http://schemas.openxmlformats.org/drawingml/2006/main">
              <a:ext uri="{FF2B5EF4-FFF2-40B4-BE49-F238E27FC236}">
                <a16:creationId xmlns:a16="http://schemas.microsoft.com/office/drawing/2014/main" id="{848364FE-BF6D-42A5-97CB-074A55EA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EF32BCB-5F78-4962-BB30-C301A0D2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053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RESTAURANT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AD8DA59-75BB-46C3-BE14-82620DD6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815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Catalog</a:t>
            </a:r>
          </a:p>
        </p:txBody>
      </p:sp>
      <p:sp>
        <p:nvSpPr>
          <p:cNvPr id="19" name="entity-PAYMENT / REFUND">
            <a:extLst xmlns:a="http://schemas.openxmlformats.org/drawingml/2006/main">
              <a:ext uri="{FF2B5EF4-FFF2-40B4-BE49-F238E27FC236}">
                <a16:creationId xmlns:a16="http://schemas.microsoft.com/office/drawing/2014/main" id="{DDC69E55-9629-449F-B5AE-638FAA03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70B08BA-D543-4456-B67E-DD80160E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 / REFUND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303AEC-414A-4DB6-9946-47DA958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95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Payment</a:t>
            </a:r>
          </a:p>
        </p:txBody>
      </p:sp>
      <p:sp>
        <p:nvSpPr>
          <p:cNvPr id="22" name="entity-DELIVERY">
            <a:extLst xmlns:a="http://schemas.openxmlformats.org/drawingml/2006/main">
              <a:ext uri="{FF2B5EF4-FFF2-40B4-BE49-F238E27FC236}">
                <a16:creationId xmlns:a16="http://schemas.microsoft.com/office/drawing/2014/main" id="{B90C973B-628D-4EB4-9A69-73AD4FDC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51CF552-3317-4415-AE4F-ED327937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8C46381-00B0-44BB-8517-DB757978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38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Dispatch</a:t>
            </a:r>
          </a:p>
        </p:txBody>
      </p:sp>
      <p:sp>
        <p:nvSpPr>
          <p:cNvPr id="25" name="entity-COURIER / PAYOUT">
            <a:extLst xmlns:a="http://schemas.openxmlformats.org/drawingml/2006/main">
              <a:ext uri="{FF2B5EF4-FFF2-40B4-BE49-F238E27FC236}">
                <a16:creationId xmlns:a16="http://schemas.microsoft.com/office/drawing/2014/main" id="{872EF060-3308-48D0-B238-3E0D7271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BB84FC1-8CDD-4A2A-BBB5-41B7A7B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053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COURIER / PAYOUT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FBC7950-1666-4F0E-8DAC-E9EA1D76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815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Owner: Dispatch</a:t>
            </a:r>
          </a:p>
        </p:txBody>
      </p:sp>
      <p:sp>
        <p:nvSpPr>
          <p:cNvPr id="28" name="data-rules">
            <a:extLst xmlns:a="http://schemas.openxmlformats.org/drawingml/2006/main">
              <a:ext uri="{FF2B5EF4-FFF2-40B4-BE49-F238E27FC236}">
                <a16:creationId xmlns:a16="http://schemas.microsoft.com/office/drawing/2014/main" id="{43AA585A-4FFD-4DCD-A6DD-5615DD95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85950"/>
            <a:ext cx="1571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label-RULES">
            <a:extLst xmlns:a="http://schemas.openxmlformats.org/drawingml/2006/main">
              <a:ext uri="{FF2B5EF4-FFF2-40B4-BE49-F238E27FC236}">
                <a16:creationId xmlns:a16="http://schemas.microsoft.com/office/drawing/2014/main" id="{F1DE3728-F8D7-4AAB-8EDF-E8772A30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14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3E62F6D-6E97-4C05-88E6-546069B1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5270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Snapshot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prices + address</a:t>
            </a:r>
          </a:p>
        </p:txBody>
      </p:sp>
      <p:cxnSp>
        <p:nvCxnSpPr>
          <p:cNvPr id="133" name="data-rule-1"/>
          <p:cNvCxnSpPr/>
          <p:nvPr/>
        </p:nvCxnSpPr>
        <p:spPr>
          <a:xfrm xmlns:a="http://schemas.openxmlformats.org/drawingml/2006/main">
            <a:off x="10210800" y="33432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B8C83"/>
            </a:solidFill>
            <a:prstDash val="solid"/>
          </a:ln>
        </p:spPr>
      </p:cxn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D2E62FE-B14C-40B4-B6C2-DD08462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4330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transition</a:t>
            </a:r>
          </a:p>
        </p:txBody>
      </p:sp>
      <p:cxnSp>
        <p:nvCxnSpPr>
          <p:cNvPr id="135" name="data-rule-2"/>
          <p:cNvCxnSpPr/>
          <p:nvPr/>
        </p:nvCxnSpPr>
        <p:spPr>
          <a:xfrm xmlns:a="http://schemas.openxmlformats.org/drawingml/2006/main">
            <a:off x="10210800" y="43338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B8C83"/>
            </a:solidFill>
            <a:prstDash val="solid"/>
          </a:ln>
        </p:spPr>
      </p:cxn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5A9D715-7168-4EE1-97CB-987B5915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53390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actor + reason</a:t>
            </a:r>
          </a:p>
        </p:txBody>
      </p:sp>
      <p:sp>
        <p:nvSpPr>
          <p:cNvPr id="3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4DDD312-B69A-4E65-BC3C-F2048270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DATA MODEL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EDBF14-33A1-491F-BD31-93D992E3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1688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572912-5848-48C7-8404-B07F8957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Failures degrade capability, not integrity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9EA25F-6AC7-493F-9430-0520D77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The order remains explainable even when a provider or projection is temporarily unavailable.</a:t>
            </a:r>
          </a:p>
        </p:txBody>
      </p:sp>
      <p:cxnSp>
        <p:nvCxnSpPr>
          <p:cNvPr id="19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graphicFrame>
        <p:nvGraphicFramePr>
          <p:cNvPr id="20" name=""/>
          <p:cNvGraphicFramePr/>
          <p:nvPr/>
        </p:nvGraphicFramePr>
        <p:xfrm>
          <a:off xmlns:a="http://schemas.openxmlformats.org/drawingml/2006/main" x="666750" y="188595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333750"/>
                <a:gridCol w="5238750"/>
              </a:tblGrid>
              <a:tr h="55789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Failure</a:t>
                      </a:r>
                    </a:p>
                  </a:txBody>
                  <a:tcPr marL="91440" marR="91440" marT="45720" marB="45720">
                    <a:solidFill>
                      <a:srgbClr val="17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experience</a:t>
                      </a:r>
                    </a:p>
                  </a:txBody>
                  <a:tcPr marL="91440" marR="91440" marT="45720" marB="45720">
                    <a:solidFill>
                      <a:srgbClr val="17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71713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Payment timeout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Checkout stays pending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Query by idempotency key; retry deterministically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Restaurant timeout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Order expires clearly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Void authorization; audit reason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No courier accepts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ETA is revised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Expand search in bounded waves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Maps unavailable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Last known ETA is shown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Cached results + circuit breaker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Notification outage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In-app status stays authoritative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Queue retry; channel fallback; DLQ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Consumer restart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Projection may briefly lag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3"/>
                          </a:solidFill>
                          <a:latin typeface="Arial"/>
                          <a:ea typeface="Arial"/>
                          <a:cs typeface="Arial"/>
                        </a:rPr>
                        <a:t>Resume offset; inbox deduplication</a:t>
                      </a:r>
                    </a:p>
                  </a:txBody>
                  <a:tcPr marL="91440" marR="91440" marT="45720" marB="45720">
                    <a:solidFill>
                      <a:srgbClr val="EFEDE8"/>
                    </a:solidFill>
                  </a:tcPr>
                </a:tc>
              </a:tr>
            </a:tbl>
          </a:graphicData>
        </a:graphic>
      </p:graphicFrame>
      <p:sp>
        <p:nvSpPr>
          <p:cNvPr id="5" name="failure-accent">
            <a:extLst xmlns:a="http://schemas.openxmlformats.org/drawingml/2006/main">
              <a:ext uri="{FF2B5EF4-FFF2-40B4-BE49-F238E27FC236}">
                <a16:creationId xmlns:a16="http://schemas.microsoft.com/office/drawing/2014/main" id="{08C93989-681A-4F2A-9FE4-7F383093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8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0AD53D-E9AC-458B-A85A-F6658B59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8170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Money and canonical order state always reconcile after recovery.</a:t>
            </a:r>
          </a:p>
        </p:txBody>
      </p:sp>
      <p:sp>
        <p:nvSpPr>
          <p:cNvPr id="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47533D1-85A2-4DA5-A01E-9A74A53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E71CCFB-2E3C-4CB3-A995-426B1E8B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1837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0079A1-45AC-46C2-A6DE-47EAC68C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Security and operability are part of the order path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AF4A3F-63E2-4519-900F-251F7594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Controls follow the same four layers as the request, data, and evidence.</a:t>
            </a:r>
          </a:p>
        </p:txBody>
      </p:sp>
      <p:cxnSp>
        <p:nvCxnSpPr>
          <p:cNvPr id="88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4" name="dot-01">
            <a:extLst xmlns:a="http://schemas.openxmlformats.org/drawingml/2006/main">
              <a:ext uri="{FF2B5EF4-FFF2-40B4-BE49-F238E27FC236}">
                <a16:creationId xmlns:a16="http://schemas.microsoft.com/office/drawing/2014/main" id="{838F24A6-3441-435C-A4C8-555921F0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47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3DC670-249A-43E0-B59E-FA8F45C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37004"/>
            <a:ext cx="4953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E6A219-B686-4DBC-9BBD-3D894F3E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573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5D557B-6ED9-415D-BE26-AA9EB3B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954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OIDC + PKCE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C4E3015-0985-40D0-9265-A9D6795A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764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Short-lived tokens, refresh rotation, RBAC + ownership</a:t>
            </a:r>
          </a:p>
        </p:txBody>
      </p:sp>
      <p:cxnSp>
        <p:nvCxnSpPr>
          <p:cNvPr id="94" name="security-rule-0"/>
          <p:cNvCxnSpPr/>
          <p:nvPr/>
        </p:nvCxnSpPr>
        <p:spPr>
          <a:xfrm xmlns:a="http://schemas.openxmlformats.org/drawingml/2006/main">
            <a:off x="1409700" y="2514600"/>
            <a:ext cx="987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0" name="dot-02">
            <a:extLst xmlns:a="http://schemas.openxmlformats.org/drawingml/2006/main">
              <a:ext uri="{FF2B5EF4-FFF2-40B4-BE49-F238E27FC236}">
                <a16:creationId xmlns:a16="http://schemas.microsoft.com/office/drawing/2014/main" id="{647A545E-90E8-49AD-AF21-1CA57EB5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38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DF6CE2C-A5B2-4ECB-9C95-75BB7747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27604"/>
            <a:ext cx="4953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B1D67A-8982-4F00-92E4-85564431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254DA38-FAB7-4CE9-AEE7-1448655E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860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TLS + validation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81C578-3068-49A1-A44F-2B770383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670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Rate limits, payload limits, signed webhooks, replay protection</a:t>
            </a:r>
          </a:p>
        </p:txBody>
      </p:sp>
      <p:cxnSp>
        <p:nvCxnSpPr>
          <p:cNvPr id="100" name="security-rule-1"/>
          <p:cNvCxnSpPr/>
          <p:nvPr/>
        </p:nvCxnSpPr>
        <p:spPr>
          <a:xfrm xmlns:a="http://schemas.openxmlformats.org/drawingml/2006/main">
            <a:off x="1409700" y="3505200"/>
            <a:ext cx="987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6" name="dot-03">
            <a:extLst xmlns:a="http://schemas.openxmlformats.org/drawingml/2006/main">
              <a:ext uri="{FF2B5EF4-FFF2-40B4-BE49-F238E27FC236}">
                <a16:creationId xmlns:a16="http://schemas.microsoft.com/office/drawing/2014/main" id="{468063EC-7B3B-4421-9DAD-DA160CC8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29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7A1A4F-733B-49A1-AF1F-DAC2F28C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18204"/>
            <a:ext cx="4953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A96AC3-496E-46AA-9B60-B0E6F7F4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385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1A41DF3-F64F-4C1C-A109-E5EF578F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76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Minimize + encrypt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E1795E8-79B7-4B39-BFE8-E6E8741A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576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Provider-held card data, protected PII, scoped courier visibility</a:t>
            </a:r>
          </a:p>
        </p:txBody>
      </p:sp>
      <p:cxnSp>
        <p:nvCxnSpPr>
          <p:cNvPr id="106" name="security-rule-2"/>
          <p:cNvCxnSpPr/>
          <p:nvPr/>
        </p:nvCxnSpPr>
        <p:spPr>
          <a:xfrm xmlns:a="http://schemas.openxmlformats.org/drawingml/2006/main">
            <a:off x="1409700" y="4495800"/>
            <a:ext cx="987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2" name="dot-04">
            <a:extLst xmlns:a="http://schemas.openxmlformats.org/drawingml/2006/main">
              <a:ext uri="{FF2B5EF4-FFF2-40B4-BE49-F238E27FC236}">
                <a16:creationId xmlns:a16="http://schemas.microsoft.com/office/drawing/2014/main" id="{3D1BDACF-CFCE-40E5-AE8C-8CC33009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ADF9FC0-5A8D-4AFD-BA57-215673E8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08804"/>
            <a:ext cx="4953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DB17E75-CCBB-4A15-ADD6-845B0255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291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5AD8829-FB01-4B97-AD41-4CB0D133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67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Trace + audit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4EDDB15-D530-4313-B62E-68248C24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482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Correlation IDs, immutable transitions, privileged-action logs</a:t>
            </a:r>
          </a:p>
        </p:txBody>
      </p:sp>
      <p:cxnSp>
        <p:nvCxnSpPr>
          <p:cNvPr id="112" name="security-rule-3"/>
          <p:cNvCxnSpPr/>
          <p:nvPr/>
        </p:nvCxnSpPr>
        <p:spPr>
          <a:xfrm xmlns:a="http://schemas.openxmlformats.org/drawingml/2006/main">
            <a:off x="1409700" y="5486400"/>
            <a:ext cx="9877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8" name="security-bottom">
            <a:extLst xmlns:a="http://schemas.openxmlformats.org/drawingml/2006/main">
              <a:ext uri="{FF2B5EF4-FFF2-40B4-BE49-F238E27FC236}">
                <a16:creationId xmlns:a16="http://schemas.microsoft.com/office/drawing/2014/main" id="{830C6A47-F828-4BC2-877D-249D7B41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0250"/>
            <a:ext cx="10591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4CCD8C2-C198-4783-9A79-83A031E8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Business invariants become alerts: stuck orders, unmatched captures, excess refunds, conflicting courier assignments.</a:t>
            </a:r>
          </a:p>
        </p:txBody>
      </p:sp>
      <p:sp>
        <p:nvSpPr>
          <p:cNvPr id="3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E6B1F0BB-1EAC-4B0D-B101-596649D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SECURITY + OPERATIONS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960B60-AB45-4882-99C7-52203E58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048098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abel-CUSTOMER EXPERIENCE">
            <a:extLst xmlns:a="http://schemas.openxmlformats.org/drawingml/2006/main">
              <a:ext uri="{FF2B5EF4-FFF2-40B4-BE49-F238E27FC236}">
                <a16:creationId xmlns:a16="http://schemas.microsoft.com/office/drawing/2014/main" id="{D4CBE6AF-FEB6-40B8-8AEB-D9B604A9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CUSTOMER EXPERIENCE</a:t>
            </a:r>
          </a:p>
        </p:txBody>
      </p:sp>
      <p:sp>
        <p:nvSpPr>
          <p:cNvPr id="2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312CD3CE-EE65-4E26-B352-CA5904DD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4714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Operational complexity</a:t>
            </a:r>
          </a:p>
          <a:p xmlns:a="http://schemas.openxmlformats.org/drawingml/2006/main">
            <a:pPr algn="l">
              <a:buNone/>
              <a:defRPr sz="33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stays behind the glass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6FB6795-A65B-4EED-9EF3-EB27C0E0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The customer sees clear choices, current delivery context, and one obvious next action - while retries and reconciliation happen underneath.</a:t>
            </a:r>
          </a:p>
        </p:txBody>
      </p:sp>
      <p:sp>
        <p:nvSpPr>
          <p:cNvPr id="4" name="dot-1">
            <a:extLst xmlns:a="http://schemas.openxmlformats.org/drawingml/2006/main">
              <a:ext uri="{FF2B5EF4-FFF2-40B4-BE49-F238E27FC236}">
                <a16:creationId xmlns:a16="http://schemas.microsoft.com/office/drawing/2014/main" id="{CA34FCE6-1E3A-4C4E-8530-15664E3B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E6BF95-772F-4FF0-90CE-03259FB1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9773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2CDEDE-2D57-4ADA-8B0A-3E6A8149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Editorial discovery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6538C956-B45C-42F8-A397-52A43C91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F30B49-6966-4C01-9B61-6F197513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6023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70920B-35A9-4F80-B881-7E08B9A4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24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Live order context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51606A5C-349B-43BE-8ECB-6FCE9C4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C0EC66-231C-4813-BDE0-879F38AF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2273"/>
            <a:ext cx="228600" cy="14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33AB167-9172-46B9-8071-240695D0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00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Focused checkout</a:t>
            </a:r>
          </a:p>
        </p:txBody>
      </p:sp>
      <p:sp>
        <p:nvSpPr>
          <p:cNvPr id="13" name="experience-image-backing">
            <a:extLst xmlns:a="http://schemas.openxmlformats.org/drawingml/2006/main">
              <a:ext uri="{FF2B5EF4-FFF2-40B4-BE49-F238E27FC236}">
                <a16:creationId xmlns:a16="http://schemas.microsoft.com/office/drawing/2014/main" id="{806A8F68-E9B1-47D1-A5E9-70540D94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1000"/>
            <a:ext cx="5924550" cy="5905500"/>
          </a:xfrm>
          <a:prstGeom xmlns:a="http://schemas.openxmlformats.org/drawingml/2006/main" prst="roundRect">
            <a:avLst>
              <a:gd name="adj" fmla="val 2903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b08dfec304fb8"/>
          <a:srcRect xmlns:a="http://schemas.openxmlformats.org/drawingml/2006/main" l="18644" t="0" r="186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514350"/>
            <a:ext cx="5657850" cy="5638800"/>
          </a:xfrm>
          <a:prstGeom xmlns:a="http://schemas.openxmlformats.org/drawingml/2006/main" prst="roundRect">
            <a:avLst>
              <a:gd name="adj" fmla="val 2365"/>
            </a:avLst>
          </a:prstGeom>
        </p:spPr>
      </p:pic>
      <p:sp>
        <p:nvSpPr>
          <p:cNvPr id="1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87B797DC-6527-41E8-A8CE-24446C5D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EXPERIENCE DESIGN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8248AA-BCDD-4747-BD51-D22B3AE1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955486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BC7FBC-83CC-4D3B-AB3C-032AC696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Release value in safe vertical slices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3EA699-8F08-4ED3-959A-8D625A56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Each phase ends with evidence, not just feature completion.</a:t>
            </a:r>
          </a:p>
        </p:txBody>
      </p:sp>
      <p:cxnSp>
        <p:nvCxnSpPr>
          <p:cNvPr id="99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cxnSp>
        <p:nvCxnSpPr>
          <p:cNvPr id="100" name="roadmap-line"/>
          <p:cNvCxnSpPr/>
          <p:nvPr/>
        </p:nvCxnSpPr>
        <p:spPr>
          <a:xfrm xmlns:a="http://schemas.openxmlformats.org/drawingml/2006/main">
            <a:off x="1000125" y="30099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3"/>
            </a:solidFill>
            <a:prstDash val="solid"/>
          </a:ln>
        </p:spPr>
      </p:cxn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9CB91581-4521-4500-BB12-1DD0764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197060-CDDB-42A5-9381-55036CB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label-PHASE 0">
            <a:extLst xmlns:a="http://schemas.openxmlformats.org/drawingml/2006/main">
              <a:ext uri="{FF2B5EF4-FFF2-40B4-BE49-F238E27FC236}">
                <a16:creationId xmlns:a16="http://schemas.microsoft.com/office/drawing/2014/main" id="{BA0FFE0B-830F-490A-8AFD-682A3276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PHASE 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F26E98-B4C2-4291-9EAC-1D41F2F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2B626A-C8F7-47F4-ADDE-DE94110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Auth, CI, environments, tracing</a:t>
            </a:r>
          </a:p>
        </p:txBody>
      </p:sp>
      <p:cxnSp>
        <p:nvCxnSpPr>
          <p:cNvPr id="106" name="phase-rule-0"/>
          <p:cNvCxnSpPr/>
          <p:nvPr/>
        </p:nvCxnSpPr>
        <p:spPr>
          <a:xfrm xmlns:a="http://schemas.openxmlformats.org/drawingml/2006/main">
            <a:off x="6667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F7FF07-8C93-48CB-A2AA-F26E1021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EXIT GATE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Traced command reaches DB + Kafka</a:t>
            </a:r>
          </a:p>
        </p:txBody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231BFAAF-3B4E-4092-8A21-BAF7D381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CE349C-48C7-4956-B8E1-740682D6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label-PHASE 1">
            <a:extLst xmlns:a="http://schemas.openxmlformats.org/drawingml/2006/main">
              <a:ext uri="{FF2B5EF4-FFF2-40B4-BE49-F238E27FC236}">
                <a16:creationId xmlns:a16="http://schemas.microsoft.com/office/drawing/2014/main" id="{F0238978-72DD-43DF-8AD9-2C624684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ADBB1F8-00EF-43AB-857F-FA526CB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Order core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965226-2222-4DC0-B152-996796E4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Catalog, checkout, restaurant, payment</a:t>
            </a:r>
          </a:p>
        </p:txBody>
      </p:sp>
      <p:cxnSp>
        <p:nvCxnSpPr>
          <p:cNvPr id="113" name="phase-rule-1"/>
          <p:cNvCxnSpPr/>
          <p:nvPr/>
        </p:nvCxnSpPr>
        <p:spPr>
          <a:xfrm xmlns:a="http://schemas.openxmlformats.org/drawingml/2006/main">
            <a:off x="35242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AC6C90-07AA-4762-B628-DA187201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EXIT GATE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Payment compensations pass</a:t>
            </a:r>
          </a:p>
        </p:txBody>
      </p:sp>
      <p:sp>
        <p:nvSpPr>
          <p:cNvPr id="19" name="dot-2">
            <a:extLst xmlns:a="http://schemas.openxmlformats.org/drawingml/2006/main">
              <a:ext uri="{FF2B5EF4-FFF2-40B4-BE49-F238E27FC236}">
                <a16:creationId xmlns:a16="http://schemas.microsoft.com/office/drawing/2014/main" id="{63B8E8EA-6CDA-495D-8D14-FE60259C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FDFDB9A-97CA-45ED-9871-F3FBEEF2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label-PHASE 2">
            <a:extLst xmlns:a="http://schemas.openxmlformats.org/drawingml/2006/main">
              <a:ext uri="{FF2B5EF4-FFF2-40B4-BE49-F238E27FC236}">
                <a16:creationId xmlns:a16="http://schemas.microsoft.com/office/drawing/2014/main" id="{531A7336-EF7A-4904-AA6F-B96C9780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19A9D1B-2862-4B8D-A054-B6589FC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Delivery + live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3474B7E-DFB9-4A7A-94EB-7A9BA29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Dispatch, courier, GPS, WebSocket</a:t>
            </a:r>
          </a:p>
        </p:txBody>
      </p:sp>
      <p:cxnSp>
        <p:nvCxnSpPr>
          <p:cNvPr id="120" name="phase-rule-2"/>
          <p:cNvCxnSpPr/>
          <p:nvPr/>
        </p:nvCxnSpPr>
        <p:spPr>
          <a:xfrm xmlns:a="http://schemas.openxmlformats.org/drawingml/2006/main">
            <a:off x="63817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E734B92-A11B-41C7-A8DA-8AC0C26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EXIT GATE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End-to-end retry path passes</a:t>
            </a:r>
          </a:p>
        </p:txBody>
      </p:sp>
      <p:sp>
        <p:nvSpPr>
          <p:cNvPr id="26" name="dot-3">
            <a:extLst xmlns:a="http://schemas.openxmlformats.org/drawingml/2006/main">
              <a:ext uri="{FF2B5EF4-FFF2-40B4-BE49-F238E27FC236}">
                <a16:creationId xmlns:a16="http://schemas.microsoft.com/office/drawing/2014/main" id="{851DD48A-CA09-4090-9DCD-E6256664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33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84CD2CA-2AB6-425C-AE8C-D633D2D1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3116"/>
            <a:ext cx="55245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label-PHASE 3">
            <a:extLst xmlns:a="http://schemas.openxmlformats.org/drawingml/2006/main">
              <a:ext uri="{FF2B5EF4-FFF2-40B4-BE49-F238E27FC236}">
                <a16:creationId xmlns:a16="http://schemas.microsoft.com/office/drawing/2014/main" id="{CAB925F5-5832-490D-A5BC-1E13A70E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1E5FF27-45F5-43B5-A982-B33540E1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909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Hardening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2BB57F5-E69D-490B-9604-9DAD4F3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Load, chaos, restore, security</a:t>
            </a:r>
          </a:p>
        </p:txBody>
      </p:sp>
      <p:cxnSp>
        <p:nvCxnSpPr>
          <p:cNvPr id="127" name="phase-rule-3"/>
          <p:cNvCxnSpPr/>
          <p:nvPr/>
        </p:nvCxnSpPr>
        <p:spPr>
          <a:xfrm xmlns:a="http://schemas.openxmlformats.org/drawingml/2006/main">
            <a:off x="9239250" y="47434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A18242C-161E-4551-906C-6B54AB4E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EXIT GATE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Owners approve launch + rollback</a:t>
            </a:r>
          </a:p>
        </p:txBody>
      </p:sp>
      <p:sp>
        <p:nvSpPr>
          <p:cNvPr id="3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F97AE21-8A40-4B2A-A3E1-47E7FBCF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IMPLEMENTATION PLAN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FDACEC8-AC4B-4C5B-98D2-03673466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207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3DEA7F-C2C0-4B19-81F7-FAE407C7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Recovery evidence is the production gate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B85B15-8373-4E59-A93A-030CEDA6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Feature completeness is necessary; operational evidence is the launch criterion.</a:t>
            </a:r>
          </a:p>
        </p:txBody>
      </p:sp>
      <p:cxnSp>
        <p:nvCxnSpPr>
          <p:cNvPr id="89" name="title-rule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973DDE-5BF2-4812-A34D-FB36C6DD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AE99F8-11DD-4B4A-A0ED-F6C13AC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90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End-to-end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65A183-5E94-47A5-ACC7-AD9D2E18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621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Happy path and duplicate requests pass across all three apps.</a:t>
            </a:r>
          </a:p>
        </p:txBody>
      </p:sp>
      <p:cxnSp>
        <p:nvCxnSpPr>
          <p:cNvPr id="93" name="gate-rule-0"/>
          <p:cNvCxnSpPr/>
          <p:nvPr/>
        </p:nvCxnSpPr>
        <p:spPr>
          <a:xfrm xmlns:a="http://schemas.openxmlformats.org/drawingml/2006/main">
            <a:off x="666750" y="27717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38D7965-3D96-4165-B727-C5CB5AC6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EAC28C-5EE4-477A-9798-72029227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90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Financial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A9E523-9A15-4F3D-B9E2-CD3B1B44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1621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Authorize, capture, void, refund, and reconciliation agree.</a:t>
            </a:r>
          </a:p>
        </p:txBody>
      </p:sp>
      <p:cxnSp>
        <p:nvCxnSpPr>
          <p:cNvPr id="97" name="gate-rule-1"/>
          <p:cNvCxnSpPr/>
          <p:nvPr/>
        </p:nvCxnSpPr>
        <p:spPr>
          <a:xfrm xmlns:a="http://schemas.openxmlformats.org/drawingml/2006/main">
            <a:off x="6143625" y="27717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E0507B-5D62-4672-91C4-E4129EA7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A69FD79-3054-4AF8-AB2F-11B41AB7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D2233C4-A5AB-4F2D-A2FD-F0C9FFAB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Failover, replay, DLQ repair, and provider outage are rehearsed.</a:t>
            </a:r>
          </a:p>
        </p:txBody>
      </p:sp>
      <p:cxnSp>
        <p:nvCxnSpPr>
          <p:cNvPr id="101" name="gate-rule-2"/>
          <p:cNvCxnSpPr/>
          <p:nvPr/>
        </p:nvCxnSpPr>
        <p:spPr>
          <a:xfrm xmlns:a="http://schemas.openxmlformats.org/drawingml/2006/main">
            <a:off x="666750" y="40290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5E6D858-D378-4EBE-B318-4A6567EF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B93C85F-784E-4885-8762-B9D3381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48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4A35EF0-4A11-4AD2-93DC-9833D2F0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4194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Role boundaries, webhook replay, rate limits, and PII controls pass.</a:t>
            </a:r>
          </a:p>
        </p:txBody>
      </p:sp>
      <p:cxnSp>
        <p:nvCxnSpPr>
          <p:cNvPr id="105" name="gate-rule-3"/>
          <p:cNvCxnSpPr/>
          <p:nvPr/>
        </p:nvCxnSpPr>
        <p:spPr>
          <a:xfrm xmlns:a="http://schemas.openxmlformats.org/drawingml/2006/main">
            <a:off x="6143625" y="40290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6538AF1-BB1F-44A8-9447-0A8184B5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8A528EC-717A-4004-905C-CA61A3E1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2A2BCD6-76F9-4A35-A27C-658D8B66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767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Order, catalog, tracking, GPS, and consumer-lag targets hold.</a:t>
            </a:r>
          </a:p>
        </p:txBody>
      </p:sp>
      <p:cxnSp>
        <p:nvCxnSpPr>
          <p:cNvPr id="109" name="gate-rule-4"/>
          <p:cNvCxnSpPr/>
          <p:nvPr/>
        </p:nvCxnSpPr>
        <p:spPr>
          <a:xfrm xmlns:a="http://schemas.openxmlformats.org/drawingml/2006/main">
            <a:off x="666750" y="52863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9D2BAB1-315D-4D02-950E-A171ECE6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4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442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BECDEF1-9BDA-41B3-A07D-BFD9EA6A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05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3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46FA49F-C9D8-4AF5-937A-6C881536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6767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Dashboards, alerts, runbooks, rollback, and on-call owners exist.</a:t>
            </a:r>
          </a:p>
        </p:txBody>
      </p:sp>
      <p:cxnSp>
        <p:nvCxnSpPr>
          <p:cNvPr id="113" name="gate-rule-5"/>
          <p:cNvCxnSpPr/>
          <p:nvPr/>
        </p:nvCxnSpPr>
        <p:spPr>
          <a:xfrm xmlns:a="http://schemas.openxmlformats.org/drawingml/2006/main">
            <a:off x="6143625" y="52863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6C0"/>
            </a:solidFill>
            <a:prstDash val="solid"/>
          </a:ln>
        </p:spPr>
      </p:cxnSp>
      <p:sp>
        <p:nvSpPr>
          <p:cNvPr id="28" name="launch-decision">
            <a:extLst xmlns:a="http://schemas.openxmlformats.org/drawingml/2006/main">
              <a:ext uri="{FF2B5EF4-FFF2-40B4-BE49-F238E27FC236}">
                <a16:creationId xmlns:a16="http://schemas.microsoft.com/office/drawing/2014/main" id="{9500B2F7-FC17-4527-BB0F-54A5DB3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429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EA7B873-ACDB-417E-BF56-4A7824DA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4740C8B-3EB3-4D45-8F06-071BA27D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91200"/>
            <a:ext cx="833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a staged city pilot only when all six evidence gates are green.</a:t>
            </a:r>
          </a:p>
        </p:txBody>
      </p:sp>
      <p:sp>
        <p:nvSpPr>
          <p:cNvPr id="31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C31E657B-16AC-4A64-B29B-F045AF1B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06E68"/>
                </a:solidFill>
                <a:latin typeface="Arial"/>
                <a:ea typeface="Arial"/>
                <a:cs typeface="Arial"/>
              </a:rPr>
              <a:t>LAUNCH READINESS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B338624-302C-48CE-9F6C-D6E5C048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06E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6E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111374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abel-FOODFLOW / NEXT MOVE">
            <a:extLst xmlns:a="http://schemas.openxmlformats.org/drawingml/2006/main">
              <a:ext uri="{FF2B5EF4-FFF2-40B4-BE49-F238E27FC236}">
                <a16:creationId xmlns:a16="http://schemas.microsoft.com/office/drawing/2014/main" id="{AD4B6E89-1C78-4478-9CE9-AA68BAC0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FOODFLOW / NEXT MOVE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D03DD19D-4965-4178-8F84-4973364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 for staged</a:t>
            </a:r>
          </a:p>
          <a:p xmlns:a="http://schemas.openxmlformats.org/drawingml/2006/main">
            <a:pPr algn="l">
              <a:buNone/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2426F7D-3AB7-4C14-81A7-2F59EFFB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3850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5D5D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5D5D0"/>
                </a:solidFill>
                <a:latin typeface="Arial"/>
                <a:ea typeface="Arial"/>
                <a:cs typeface="Arial"/>
              </a:rPr>
              <a:t>The core design now connects experience, state, contracts, data, failure handling, and launch gates.</a:t>
            </a:r>
          </a:p>
        </p:txBody>
      </p:sp>
      <p:cxnSp>
        <p:nvCxnSpPr>
          <p:cNvPr id="24" name="closing-rule"/>
          <p:cNvCxnSpPr/>
          <p:nvPr/>
        </p:nvCxnSpPr>
        <p:spPr>
          <a:xfrm xmlns:a="http://schemas.openxmlformats.org/drawingml/2006/main">
            <a:off x="628650" y="4505325"/>
            <a:ext cx="10191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877E"/>
            </a:solidFill>
            <a:prstDash val="solid"/>
          </a:ln>
        </p:spPr>
      </p:cxn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EE4FB2-96C1-4DE1-B39A-7148738C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4C7115-D74E-4DB9-B9F1-8F3812DA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 capacity inputs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205100-9D08-4033-B4B6-B30272A2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05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266216-9068-42BC-86E1-CF0F3DB8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Resolve policy decisions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222C10-45F4-430F-ADAB-0F9C06BC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05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C9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C9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0AE2AB-7811-4540-A32A-46F2F6CF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6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traced vertical slice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76F6F0-A3A4-43CA-B1E4-8871F9D9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9A3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9A39C"/>
                </a:solidFill>
                <a:latin typeface="Arial"/>
                <a:ea typeface="Arial"/>
                <a:cs typeface="Arial"/>
              </a:rPr>
              <a:t>FoodFlow system design  •  2026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F7E4019-D4D2-423A-9EAE-4F85D49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A3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9A39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56135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2026-09-03T07:15:18.2080000Z</dcterms:created>
  <dcterms:modified xsi:type="dcterms:W3CDTF">2026-09-03T07:15:18.2080000Z</dcterms:modified>
</coreProperties>
</file>